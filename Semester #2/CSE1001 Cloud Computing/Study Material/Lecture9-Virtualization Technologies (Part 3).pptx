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65" r:id="rId2"/>
    <p:sldId id="405" r:id="rId3"/>
    <p:sldId id="407" r:id="rId4"/>
    <p:sldId id="436" r:id="rId5"/>
    <p:sldId id="414" r:id="rId6"/>
    <p:sldId id="415" r:id="rId7"/>
    <p:sldId id="420" r:id="rId8"/>
    <p:sldId id="421" r:id="rId9"/>
    <p:sldId id="423" r:id="rId10"/>
    <p:sldId id="424" r:id="rId11"/>
    <p:sldId id="425" r:id="rId12"/>
    <p:sldId id="427" r:id="rId13"/>
    <p:sldId id="426" r:id="rId14"/>
    <p:sldId id="428" r:id="rId15"/>
    <p:sldId id="429" r:id="rId16"/>
    <p:sldId id="437" r:id="rId17"/>
    <p:sldId id="417" r:id="rId18"/>
    <p:sldId id="418" r:id="rId19"/>
    <p:sldId id="419" r:id="rId20"/>
    <p:sldId id="3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9559" autoAdjust="0"/>
  </p:normalViewPr>
  <p:slideViewPr>
    <p:cSldViewPr>
      <p:cViewPr varScale="1">
        <p:scale>
          <a:sx n="55" d="100"/>
          <a:sy n="55" d="100"/>
        </p:scale>
        <p:origin x="1096" y="236"/>
      </p:cViewPr>
      <p:guideLst>
        <p:guide pos="3840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pPr/>
              <a:t>12/4/2025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pPr/>
              <a:t>12/4/2025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LXC uses various </a:t>
            </a:r>
            <a:r>
              <a:rPr lang="en-US" b="1" dirty="0" smtClean="0"/>
              <a:t>Linux namespaces</a:t>
            </a:r>
            <a:r>
              <a:rPr lang="en-US" dirty="0" smtClean="0"/>
              <a:t> to ensure that processes inside a container:</a:t>
            </a:r>
          </a:p>
          <a:p>
            <a:r>
              <a:rPr lang="en-US" dirty="0" smtClean="0"/>
              <a:t>Only see </a:t>
            </a:r>
            <a:r>
              <a:rPr lang="en-US" b="1" dirty="0" smtClean="0"/>
              <a:t>their own process tree</a:t>
            </a:r>
            <a:endParaRPr lang="en-US" dirty="0" smtClean="0"/>
          </a:p>
          <a:p>
            <a:r>
              <a:rPr lang="en-US" dirty="0" smtClean="0"/>
              <a:t>Have </a:t>
            </a:r>
            <a:r>
              <a:rPr lang="en-US" b="1" dirty="0" smtClean="0"/>
              <a:t>their own network interfaces</a:t>
            </a:r>
            <a:endParaRPr lang="en-US" dirty="0" smtClean="0"/>
          </a:p>
          <a:p>
            <a:r>
              <a:rPr lang="en-US" dirty="0" smtClean="0"/>
              <a:t>Access a </a:t>
            </a:r>
            <a:r>
              <a:rPr lang="en-US" b="1" dirty="0" smtClean="0"/>
              <a:t>separate </a:t>
            </a:r>
            <a:r>
              <a:rPr lang="en-US" b="1" dirty="0" err="1" smtClean="0"/>
              <a:t>filesystem</a:t>
            </a:r>
            <a:endParaRPr lang="en-US" dirty="0" smtClean="0"/>
          </a:p>
          <a:p>
            <a:r>
              <a:rPr lang="en-US" dirty="0" smtClean="0"/>
              <a:t>Use </a:t>
            </a:r>
            <a:r>
              <a:rPr lang="en-US" b="1" dirty="0" smtClean="0"/>
              <a:t>separate IPC mechanisms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err="1" smtClean="0"/>
              <a:t>Cgroups</a:t>
            </a:r>
            <a:r>
              <a:rPr lang="en-US" b="1" dirty="0" smtClean="0"/>
              <a:t> (control groups)</a:t>
            </a:r>
            <a:r>
              <a:rPr lang="en-US" dirty="0" smtClean="0"/>
              <a:t> limit and monitor </a:t>
            </a:r>
            <a:r>
              <a:rPr lang="en-US" b="1" dirty="0" smtClean="0"/>
              <a:t>how much resources</a:t>
            </a:r>
            <a:r>
              <a:rPr lang="en-US" dirty="0" smtClean="0"/>
              <a:t> a container can use:</a:t>
            </a:r>
          </a:p>
          <a:p>
            <a:r>
              <a:rPr lang="en-US" dirty="0" smtClean="0"/>
              <a:t>CPU time</a:t>
            </a:r>
          </a:p>
          <a:p>
            <a:r>
              <a:rPr lang="en-US" dirty="0" smtClean="0"/>
              <a:t>Memory usage</a:t>
            </a:r>
          </a:p>
          <a:p>
            <a:r>
              <a:rPr lang="en-US" dirty="0" smtClean="0"/>
              <a:t>Disk I/O</a:t>
            </a:r>
          </a:p>
          <a:p>
            <a:r>
              <a:rPr lang="en-US" dirty="0" smtClean="0"/>
              <a:t>Network bandwidth</a:t>
            </a:r>
          </a:p>
          <a:p>
            <a:r>
              <a:rPr lang="en-US" dirty="0" smtClean="0"/>
              <a:t>Number of processes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err="1" smtClean="0"/>
              <a:t>SELinux</a:t>
            </a:r>
            <a:r>
              <a:rPr lang="en-US" dirty="0" smtClean="0"/>
              <a:t> (or </a:t>
            </a:r>
            <a:r>
              <a:rPr lang="en-US" b="1" dirty="0" err="1" smtClean="0"/>
              <a:t>AppArmor</a:t>
            </a:r>
            <a:r>
              <a:rPr lang="en-US" dirty="0" smtClean="0"/>
              <a:t>) controls </a:t>
            </a:r>
            <a:r>
              <a:rPr lang="en-US" b="1" dirty="0" smtClean="0"/>
              <a:t>what the container is allowed to access</a:t>
            </a:r>
            <a:r>
              <a:rPr lang="en-US" dirty="0" smtClean="0"/>
              <a:t> at a finer level — even </a:t>
            </a:r>
            <a:r>
              <a:rPr lang="en-US" b="1" dirty="0" smtClean="0"/>
              <a:t>within</a:t>
            </a:r>
            <a:r>
              <a:rPr lang="en-US" dirty="0" smtClean="0"/>
              <a:t> its own namespace.</a:t>
            </a:r>
          </a:p>
          <a:p>
            <a:r>
              <a:rPr lang="en-US" dirty="0" smtClean="0"/>
              <a:t>Restricts file access based on labels</a:t>
            </a:r>
          </a:p>
          <a:p>
            <a:r>
              <a:rPr lang="en-US" dirty="0" smtClean="0"/>
              <a:t>Prevents escalation of privileges</a:t>
            </a:r>
          </a:p>
          <a:p>
            <a:r>
              <a:rPr lang="en-US" dirty="0" smtClean="0"/>
              <a:t>Blocks unauthorized access to host resources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742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918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726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011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677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454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267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66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32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12/4/2025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12/4/2025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12/4/2025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D43D-6574-4C7B-808D-C6C12215A4D4}" type="datetimeFigureOut">
              <a:rPr lang="en-US"/>
              <a:pPr/>
              <a:t>12/4/2025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12/4/2025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12/4/2025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12/4/2025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12/4/2025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12/4/2025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12/4/2025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12/4/2025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12/4/2025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04800" y="457200"/>
            <a:ext cx="11125200" cy="2181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Container and </a:t>
            </a:r>
            <a:r>
              <a:rPr lang="en-US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Unikernel</a:t>
            </a:r>
            <a:endParaRPr lang="en-US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23999" y="4872030"/>
            <a:ext cx="9144002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Dr.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Sunirmal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Khatua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Subtitle 3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/>
          <a:p>
            <a:r>
              <a:rPr lang="en-US" sz="1600" i="1" dirty="0" err="1" smtClean="0">
                <a:latin typeface="Times New Roman" pitchFamily="18" charset="0"/>
                <a:cs typeface="Times New Roman" pitchFamily="18" charset="0"/>
              </a:rPr>
              <a:t>Visvesvaraya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 Young Faculty Fellow, Govt. of India</a:t>
            </a:r>
          </a:p>
          <a:p>
            <a:endParaRPr lang="en-US" sz="5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Assistant Professor-III, Dept. of CSE, University of Calcutta, India</a:t>
            </a:r>
            <a:endParaRPr lang="en-US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ubtitle 3"/>
          <p:cNvSpPr txBox="1">
            <a:spLocks/>
          </p:cNvSpPr>
          <p:nvPr/>
        </p:nvSpPr>
        <p:spPr>
          <a:xfrm>
            <a:off x="1523968" y="5105400"/>
            <a:ext cx="9144002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Presented</a:t>
            </a:r>
            <a:r>
              <a:rPr kumimoji="0" lang="en-US" b="0" i="1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By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881180"/>
            <a:ext cx="1171575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err="1" smtClean="0">
                <a:solidFill>
                  <a:srgbClr val="1D243C"/>
                </a:solidFill>
              </a:rPr>
              <a:t>Xen</a:t>
            </a:r>
            <a:r>
              <a:rPr lang="en-US" altLang="en-US" sz="3400" dirty="0" smtClean="0">
                <a:solidFill>
                  <a:srgbClr val="1D243C"/>
                </a:solidFill>
              </a:rPr>
              <a:t> Hypervisor : A Case study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828800"/>
            <a:ext cx="6626225" cy="3715322"/>
          </a:xfrm>
          <a:prstGeom prst="rect">
            <a:avLst/>
          </a:prstGeom>
        </p:spPr>
      </p:pic>
      <p:sp>
        <p:nvSpPr>
          <p:cNvPr id="95" name="Rectangle 94"/>
          <p:cNvSpPr/>
          <p:nvPr/>
        </p:nvSpPr>
        <p:spPr>
          <a:xfrm>
            <a:off x="6781800" y="1989168"/>
            <a:ext cx="518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VM in </a:t>
            </a:r>
            <a:r>
              <a:rPr lang="en-US" dirty="0" err="1" smtClean="0">
                <a:solidFill>
                  <a:srgbClr val="252525"/>
                </a:solidFill>
                <a:latin typeface="Arial" panose="020B0604020202020204" pitchFamily="34" charset="0"/>
              </a:rPr>
              <a:t>Xen</a:t>
            </a:r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 are called Domains (Dom).</a:t>
            </a:r>
            <a:endParaRPr lang="en-IN" dirty="0"/>
          </a:p>
        </p:txBody>
      </p:sp>
      <p:sp>
        <p:nvSpPr>
          <p:cNvPr id="96" name="Rectangle 95"/>
          <p:cNvSpPr/>
          <p:nvPr/>
        </p:nvSpPr>
        <p:spPr>
          <a:xfrm>
            <a:off x="6781800" y="2665273"/>
            <a:ext cx="5410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Dom</a:t>
            </a:r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0 is a special VM that acts as Control Domain.</a:t>
            </a:r>
            <a:endParaRPr lang="en-IN" dirty="0"/>
          </a:p>
        </p:txBody>
      </p:sp>
      <p:sp>
        <p:nvSpPr>
          <p:cNvPr id="97" name="Rectangle 96"/>
          <p:cNvSpPr/>
          <p:nvPr/>
        </p:nvSpPr>
        <p:spPr>
          <a:xfrm>
            <a:off x="6781800" y="3427273"/>
            <a:ext cx="5410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Dom</a:t>
            </a:r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0 contains all the device drivers and acts as an Interface to the Hypervisor.</a:t>
            </a:r>
            <a:endParaRPr lang="en-IN" dirty="0"/>
          </a:p>
        </p:txBody>
      </p:sp>
      <p:sp>
        <p:nvSpPr>
          <p:cNvPr id="99" name="Rectangle 98"/>
          <p:cNvSpPr/>
          <p:nvPr/>
        </p:nvSpPr>
        <p:spPr>
          <a:xfrm>
            <a:off x="123825" y="1146175"/>
            <a:ext cx="121062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252525"/>
                </a:solidFill>
                <a:latin typeface="Arial" panose="020B0604020202020204" pitchFamily="34" charset="0"/>
              </a:rPr>
              <a:t>Xen</a:t>
            </a:r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 is a Type 1 Hypervisor that implements Hardware-based Full Virtualization, </a:t>
            </a:r>
            <a:r>
              <a:rPr lang="en-US" dirty="0" err="1" smtClean="0">
                <a:solidFill>
                  <a:srgbClr val="252525"/>
                </a:solidFill>
                <a:latin typeface="Arial" panose="020B0604020202020204" pitchFamily="34" charset="0"/>
              </a:rPr>
              <a:t>Paravirtualization</a:t>
            </a:r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 and </a:t>
            </a:r>
            <a:r>
              <a:rPr lang="en-US" dirty="0" err="1" smtClean="0">
                <a:solidFill>
                  <a:srgbClr val="252525"/>
                </a:solidFill>
                <a:latin typeface="Arial" panose="020B0604020202020204" pitchFamily="34" charset="0"/>
              </a:rPr>
              <a:t>Hybride</a:t>
            </a:r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 mode.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222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6" grpId="0"/>
      <p:bldP spid="97" grpId="0"/>
      <p:bldP spid="9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err="1" smtClean="0">
                <a:solidFill>
                  <a:srgbClr val="1D243C"/>
                </a:solidFill>
              </a:rPr>
              <a:t>Xen</a:t>
            </a:r>
            <a:r>
              <a:rPr lang="en-US" altLang="en-US" sz="3400" dirty="0" smtClean="0">
                <a:solidFill>
                  <a:srgbClr val="1D243C"/>
                </a:solidFill>
              </a:rPr>
              <a:t> Hypervisor : A Case study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88" y="2647437"/>
            <a:ext cx="8764223" cy="36771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53200" y="2876037"/>
            <a:ext cx="221086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net-back/net-front</a:t>
            </a:r>
            <a:r>
              <a:rPr lang="en-IN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endParaRPr lang="en-I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IN" b="1" dirty="0" err="1" smtClean="0">
                <a:solidFill>
                  <a:srgbClr val="FF0000"/>
                </a:solidFill>
                <a:latin typeface="Arial" panose="020B0604020202020204" pitchFamily="34" charset="0"/>
              </a:rPr>
              <a:t>blk</a:t>
            </a:r>
            <a:r>
              <a:rPr lang="en-IN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-back/</a:t>
            </a:r>
            <a:r>
              <a:rPr lang="en-IN" b="1" dirty="0" err="1" smtClean="0">
                <a:solidFill>
                  <a:srgbClr val="FF0000"/>
                </a:solidFill>
                <a:latin typeface="Arial" panose="020B0604020202020204" pitchFamily="34" charset="0"/>
              </a:rPr>
              <a:t>blk</a:t>
            </a:r>
            <a:r>
              <a:rPr lang="en-IN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-front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5310" y="896938"/>
            <a:ext cx="11444289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Each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paravirtualized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datapath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consists of two parts: </a:t>
            </a:r>
            <a:endParaRPr 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4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      1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a “backend” that lives in dom0, which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provides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the virtual device and </a:t>
            </a:r>
            <a:endParaRPr 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4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       2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a “frontend” driver within the guest domain,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which allows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the guest OS to access the virtual device.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6007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Topics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7975" y="2895600"/>
            <a:ext cx="1108825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ctr"/>
            <a:r>
              <a:rPr lang="en-IN" sz="3200" dirty="0" smtClean="0">
                <a:solidFill>
                  <a:srgbClr val="222222"/>
                </a:solidFill>
                <a:latin typeface="arial, sans-serif"/>
              </a:rPr>
              <a:t>Container concepts: </a:t>
            </a:r>
          </a:p>
          <a:p>
            <a:pPr marL="457200" algn="ctr"/>
            <a:r>
              <a:rPr lang="en-IN" sz="3200" dirty="0" err="1" smtClean="0">
                <a:solidFill>
                  <a:srgbClr val="222222"/>
                </a:solidFill>
                <a:latin typeface="arial, sans-serif"/>
              </a:rPr>
              <a:t>Docker</a:t>
            </a:r>
            <a:r>
              <a:rPr lang="en-IN" sz="3200" dirty="0" smtClean="0">
                <a:solidFill>
                  <a:srgbClr val="222222"/>
                </a:solidFill>
                <a:latin typeface="arial, sans-serif"/>
              </a:rPr>
              <a:t> and </a:t>
            </a:r>
            <a:r>
              <a:rPr lang="en-IN" sz="3200" dirty="0" err="1" smtClean="0">
                <a:solidFill>
                  <a:srgbClr val="222222"/>
                </a:solidFill>
                <a:latin typeface="arial, sans-serif"/>
              </a:rPr>
              <a:t>Kubernetes</a:t>
            </a:r>
            <a:endParaRPr lang="en-IN" sz="28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80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8675" name="Title 1"/>
          <p:cNvSpPr txBox="1">
            <a:spLocks/>
          </p:cNvSpPr>
          <p:nvPr/>
        </p:nvSpPr>
        <p:spPr bwMode="auto">
          <a:xfrm>
            <a:off x="152400" y="-596900"/>
            <a:ext cx="120396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000" dirty="0" smtClean="0">
                <a:solidFill>
                  <a:srgbClr val="1D243C"/>
                </a:solidFill>
              </a:rPr>
              <a:t>Transition from Monolithic </a:t>
            </a:r>
            <a:r>
              <a:rPr lang="en-US" altLang="en-US" sz="3000" dirty="0">
                <a:solidFill>
                  <a:srgbClr val="1D243C"/>
                </a:solidFill>
              </a:rPr>
              <a:t>Applications </a:t>
            </a:r>
            <a:r>
              <a:rPr lang="en-US" altLang="en-US" sz="3000" dirty="0" smtClean="0">
                <a:solidFill>
                  <a:srgbClr val="1D243C"/>
                </a:solidFill>
              </a:rPr>
              <a:t>towards </a:t>
            </a:r>
            <a:r>
              <a:rPr lang="en-US" altLang="en-US" sz="3000" dirty="0" err="1">
                <a:solidFill>
                  <a:srgbClr val="1D243C"/>
                </a:solidFill>
              </a:rPr>
              <a:t>Microservices</a:t>
            </a:r>
            <a:endParaRPr lang="en-US" altLang="en-US" sz="3000" dirty="0">
              <a:solidFill>
                <a:srgbClr val="1D243C"/>
              </a:solidFill>
            </a:endParaRPr>
          </a:p>
        </p:txBody>
      </p:sp>
      <p:sp>
        <p:nvSpPr>
          <p:cNvPr id="28676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8677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28678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825500"/>
            <a:ext cx="4176713" cy="159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2924175"/>
            <a:ext cx="4181475" cy="152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0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5013325"/>
            <a:ext cx="418147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own Arrow 8"/>
          <p:cNvSpPr/>
          <p:nvPr/>
        </p:nvSpPr>
        <p:spPr>
          <a:xfrm>
            <a:off x="6096000" y="2492375"/>
            <a:ext cx="215900" cy="32385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85" name="Down Arrow 84"/>
          <p:cNvSpPr/>
          <p:nvPr/>
        </p:nvSpPr>
        <p:spPr>
          <a:xfrm>
            <a:off x="6096000" y="4508500"/>
            <a:ext cx="215900" cy="36036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grpSp>
        <p:nvGrpSpPr>
          <p:cNvPr id="28683" name="Group 2"/>
          <p:cNvGrpSpPr>
            <a:grpSpLocks/>
          </p:cNvGrpSpPr>
          <p:nvPr/>
        </p:nvGrpSpPr>
        <p:grpSpPr bwMode="auto">
          <a:xfrm>
            <a:off x="307975" y="2060575"/>
            <a:ext cx="2619375" cy="3163888"/>
            <a:chOff x="307975" y="2060848"/>
            <a:chExt cx="2619673" cy="3163907"/>
          </a:xfrm>
        </p:grpSpPr>
        <p:pic>
          <p:nvPicPr>
            <p:cNvPr id="28687" name="Picture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888" y="2060848"/>
              <a:ext cx="2162175" cy="2209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307975" y="4270661"/>
              <a:ext cx="2619673" cy="95409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I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Monolithic </a:t>
              </a:r>
            </a:p>
            <a:p>
              <a:pPr algn="ctr">
                <a:defRPr/>
              </a:pPr>
              <a:r>
                <a:rPr lang="en-I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Application</a:t>
              </a:r>
            </a:p>
          </p:txBody>
        </p:sp>
      </p:grpSp>
      <p:grpSp>
        <p:nvGrpSpPr>
          <p:cNvPr id="28684" name="Group 1"/>
          <p:cNvGrpSpPr>
            <a:grpSpLocks/>
          </p:cNvGrpSpPr>
          <p:nvPr/>
        </p:nvGrpSpPr>
        <p:grpSpPr bwMode="auto">
          <a:xfrm>
            <a:off x="8947150" y="2205038"/>
            <a:ext cx="2619375" cy="2667000"/>
            <a:chOff x="8946852" y="2204864"/>
            <a:chExt cx="2619673" cy="2667373"/>
          </a:xfrm>
        </p:grpSpPr>
        <p:pic>
          <p:nvPicPr>
            <p:cNvPr id="28685" name="Picture 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0188" y="2204864"/>
              <a:ext cx="2209800" cy="2143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extBox 13"/>
            <p:cNvSpPr txBox="1"/>
            <p:nvPr/>
          </p:nvSpPr>
          <p:spPr>
            <a:xfrm>
              <a:off x="8946852" y="4348289"/>
              <a:ext cx="2619673" cy="52394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IN" sz="28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Microservices</a:t>
              </a:r>
              <a:endParaRPr lang="en-I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197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699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Virtual Machine </a:t>
            </a:r>
            <a:r>
              <a:rPr lang="en-US" altLang="en-US" sz="3400" dirty="0" err="1" smtClean="0">
                <a:solidFill>
                  <a:srgbClr val="1D243C"/>
                </a:solidFill>
              </a:rPr>
              <a:t>vs</a:t>
            </a:r>
            <a:r>
              <a:rPr lang="en-US" altLang="en-US" sz="3400" dirty="0" smtClean="0">
                <a:solidFill>
                  <a:srgbClr val="1D243C"/>
                </a:solidFill>
              </a:rPr>
              <a:t> Container </a:t>
            </a:r>
            <a:r>
              <a:rPr lang="en-US" altLang="en-US" sz="3400" dirty="0">
                <a:solidFill>
                  <a:srgbClr val="1D243C"/>
                </a:solidFill>
              </a:rPr>
              <a:t>for </a:t>
            </a:r>
            <a:r>
              <a:rPr lang="en-US" altLang="en-US" sz="3400" dirty="0" err="1">
                <a:solidFill>
                  <a:srgbClr val="1D243C"/>
                </a:solidFill>
              </a:rPr>
              <a:t>Microservices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9700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9701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2868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3573463"/>
            <a:ext cx="4248150" cy="278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4176713"/>
            <a:ext cx="4162425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4857750" y="1916113"/>
            <a:ext cx="2030413" cy="2159000"/>
            <a:chOff x="8946852" y="2204864"/>
            <a:chExt cx="2619673" cy="2632052"/>
          </a:xfrm>
        </p:grpSpPr>
        <p:pic>
          <p:nvPicPr>
            <p:cNvPr id="29708" name="Pictur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0187" y="2204864"/>
              <a:ext cx="2209800" cy="2143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8946852" y="4349212"/>
              <a:ext cx="2619673" cy="48770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IN" sz="20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Microservices</a:t>
              </a:r>
              <a:endParaRPr lang="en-I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057" y="4000170"/>
            <a:ext cx="4191585" cy="2372056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550863" y="969963"/>
            <a:ext cx="4133850" cy="2742197"/>
            <a:chOff x="550863" y="969963"/>
            <a:chExt cx="4133850" cy="2742197"/>
          </a:xfrm>
        </p:grpSpPr>
        <p:pic>
          <p:nvPicPr>
            <p:cNvPr id="28678" name="Picture 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863" y="969963"/>
              <a:ext cx="4133850" cy="2387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1752600" y="3342828"/>
              <a:ext cx="17706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252525"/>
                  </a:solidFill>
                  <a:latin typeface="Arial" panose="020B0604020202020204" pitchFamily="34" charset="0"/>
                </a:rPr>
                <a:t>Virtual Machine</a:t>
              </a:r>
              <a:endParaRPr lang="en-IN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888163" y="917575"/>
            <a:ext cx="4143375" cy="2880757"/>
            <a:chOff x="6888163" y="917575"/>
            <a:chExt cx="4143375" cy="2880757"/>
          </a:xfrm>
        </p:grpSpPr>
        <p:pic>
          <p:nvPicPr>
            <p:cNvPr id="28679" name="Picture 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8163" y="917575"/>
              <a:ext cx="4143375" cy="254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16"/>
            <p:cNvSpPr/>
            <p:nvPr/>
          </p:nvSpPr>
          <p:spPr>
            <a:xfrm>
              <a:off x="8135322" y="3429000"/>
              <a:ext cx="1184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252525"/>
                  </a:solidFill>
                  <a:latin typeface="Arial" panose="020B0604020202020204" pitchFamily="34" charset="0"/>
                </a:rPr>
                <a:t>Container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51916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699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Virtual Machine </a:t>
            </a:r>
            <a:r>
              <a:rPr lang="en-US" altLang="en-US" sz="3400" dirty="0" err="1" smtClean="0">
                <a:solidFill>
                  <a:srgbClr val="1D243C"/>
                </a:solidFill>
              </a:rPr>
              <a:t>vs</a:t>
            </a:r>
            <a:r>
              <a:rPr lang="en-US" altLang="en-US" sz="3400" dirty="0" smtClean="0">
                <a:solidFill>
                  <a:srgbClr val="1D243C"/>
                </a:solidFill>
              </a:rPr>
              <a:t> Container </a:t>
            </a:r>
            <a:r>
              <a:rPr lang="en-US" altLang="en-US" sz="3400" dirty="0">
                <a:solidFill>
                  <a:srgbClr val="1D243C"/>
                </a:solidFill>
              </a:rPr>
              <a:t>for </a:t>
            </a:r>
            <a:r>
              <a:rPr lang="en-US" altLang="en-US" sz="3400" dirty="0" err="1">
                <a:solidFill>
                  <a:srgbClr val="1D243C"/>
                </a:solidFill>
              </a:rPr>
              <a:t>Microservices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9700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9701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057" y="4000170"/>
            <a:ext cx="4191585" cy="2372056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6888163" y="917575"/>
            <a:ext cx="4143375" cy="2880757"/>
            <a:chOff x="6888163" y="917575"/>
            <a:chExt cx="4143375" cy="2880757"/>
          </a:xfrm>
        </p:grpSpPr>
        <p:pic>
          <p:nvPicPr>
            <p:cNvPr id="28679" name="Pictur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8163" y="917575"/>
              <a:ext cx="4143375" cy="254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16"/>
            <p:cNvSpPr/>
            <p:nvPr/>
          </p:nvSpPr>
          <p:spPr>
            <a:xfrm>
              <a:off x="8135322" y="3429000"/>
              <a:ext cx="1184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252525"/>
                  </a:solidFill>
                  <a:latin typeface="Arial" panose="020B0604020202020204" pitchFamily="34" charset="0"/>
                </a:rPr>
                <a:t>Container</a:t>
              </a:r>
              <a:endParaRPr lang="en-IN" dirty="0"/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838200"/>
            <a:ext cx="6705600" cy="316197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4176713"/>
            <a:ext cx="4162425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40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699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What is </a:t>
            </a:r>
            <a:r>
              <a:rPr lang="en-US" altLang="en-US" sz="3400" dirty="0" err="1" smtClean="0">
                <a:solidFill>
                  <a:srgbClr val="1D243C"/>
                </a:solidFill>
              </a:rPr>
              <a:t>Docker</a:t>
            </a:r>
            <a:r>
              <a:rPr lang="en-US" altLang="en-US" sz="3400" dirty="0" smtClean="0">
                <a:solidFill>
                  <a:srgbClr val="1D243C"/>
                </a:solidFill>
              </a:rPr>
              <a:t>?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9700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9701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17410" name="Picture 2" descr="What is Docker and why it is used?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12" y="1136650"/>
            <a:ext cx="2942329" cy="2433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75" y="3944852"/>
            <a:ext cx="4191585" cy="237205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876800" y="91440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 smtClean="0">
                <a:solidFill>
                  <a:srgbClr val="252525"/>
                </a:solidFill>
                <a:latin typeface="Arial" panose="020B0604020202020204" pitchFamily="34" charset="0"/>
              </a:rPr>
              <a:t>Docker</a:t>
            </a:r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 is the most popular Container Technology.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4876800" y="1535668"/>
            <a:ext cx="7124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</a:rPr>
              <a:t>"Dock" — a place where ships are loaded, unloaded, and prepared</a:t>
            </a:r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.  </a:t>
            </a:r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</a:rPr>
              <a:t>A "</a:t>
            </a:r>
            <a:r>
              <a:rPr lang="en-US" dirty="0" err="1">
                <a:solidFill>
                  <a:srgbClr val="252525"/>
                </a:solidFill>
                <a:latin typeface="Arial" panose="020B0604020202020204" pitchFamily="34" charset="0"/>
              </a:rPr>
              <a:t>Docker</a:t>
            </a:r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</a:rPr>
              <a:t>" is someone who manages containers at a dock</a:t>
            </a:r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.</a:t>
            </a:r>
            <a:endParaRPr lang="en-US" dirty="0">
              <a:solidFill>
                <a:srgbClr val="252525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876800" y="2526268"/>
            <a:ext cx="7124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252525"/>
                </a:solidFill>
                <a:latin typeface="Arial" panose="020B0604020202020204" pitchFamily="34" charset="0"/>
              </a:rPr>
              <a:t>Docker</a:t>
            </a:r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 Engine is responsible for the Creation, Termination and Management of  Container.</a:t>
            </a:r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4876800" y="344066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 smtClean="0">
                <a:solidFill>
                  <a:srgbClr val="252525"/>
                </a:solidFill>
                <a:latin typeface="Arial" panose="020B0604020202020204" pitchFamily="34" charset="0"/>
              </a:rPr>
              <a:t>Docker</a:t>
            </a:r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 is built on top of Linux Container, LXC (2008).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543" y="3886200"/>
            <a:ext cx="4467657" cy="248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80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699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What is </a:t>
            </a:r>
            <a:r>
              <a:rPr lang="en-US" altLang="en-US" sz="3400" dirty="0" err="1" smtClean="0">
                <a:solidFill>
                  <a:srgbClr val="1D243C"/>
                </a:solidFill>
              </a:rPr>
              <a:t>Docker</a:t>
            </a:r>
            <a:r>
              <a:rPr lang="en-US" altLang="en-US" sz="3400" dirty="0" smtClean="0">
                <a:solidFill>
                  <a:srgbClr val="1D243C"/>
                </a:solidFill>
              </a:rPr>
              <a:t>?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9700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9701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828676"/>
            <a:ext cx="8720497" cy="45448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3581400"/>
            <a:ext cx="3995480" cy="27721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545393"/>
            <a:ext cx="7325747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878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699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What is </a:t>
            </a:r>
            <a:r>
              <a:rPr lang="en-US" altLang="en-US" sz="3400" dirty="0" err="1" smtClean="0">
                <a:solidFill>
                  <a:srgbClr val="1D243C"/>
                </a:solidFill>
              </a:rPr>
              <a:t>Kubernetes</a:t>
            </a:r>
            <a:r>
              <a:rPr lang="en-US" altLang="en-US" sz="3400" dirty="0" smtClean="0">
                <a:solidFill>
                  <a:srgbClr val="1D243C"/>
                </a:solidFill>
              </a:rPr>
              <a:t> or K8s?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9700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9701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3" name="Picture 2" descr="Introduction to Kubernetes - Blog by Vincenzo Racc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694765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3657600" y="109644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 smtClean="0">
                <a:solidFill>
                  <a:srgbClr val="252525"/>
                </a:solidFill>
                <a:latin typeface="Arial" panose="020B0604020202020204" pitchFamily="34" charset="0"/>
              </a:rPr>
              <a:t>Kubernetes</a:t>
            </a:r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 is a </a:t>
            </a:r>
            <a:r>
              <a:rPr lang="en-US" dirty="0" err="1" smtClean="0">
                <a:solidFill>
                  <a:srgbClr val="252525"/>
                </a:solidFill>
                <a:latin typeface="Arial" panose="020B0604020202020204" pitchFamily="34" charset="0"/>
              </a:rPr>
              <a:t>greek</a:t>
            </a:r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 word for helmsman or captain.</a:t>
            </a:r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3657600" y="168806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 smtClean="0">
                <a:solidFill>
                  <a:srgbClr val="252525"/>
                </a:solidFill>
                <a:latin typeface="Arial" panose="020B0604020202020204" pitchFamily="34" charset="0"/>
              </a:rPr>
              <a:t>Kubernetes</a:t>
            </a:r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  = K + 8 letters + s = K8s</a:t>
            </a:r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3657600" y="2362200"/>
            <a:ext cx="8534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252525"/>
                </a:solidFill>
                <a:latin typeface="Arial" panose="020B0604020202020204" pitchFamily="34" charset="0"/>
              </a:rPr>
              <a:t>Kubernetes</a:t>
            </a:r>
            <a:r>
              <a:rPr lang="en-US" dirty="0" smtClean="0">
                <a:solidFill>
                  <a:srgbClr val="252525"/>
                </a:solidFill>
                <a:latin typeface="Arial" panose="020B0604020202020204" pitchFamily="34" charset="0"/>
              </a:rPr>
              <a:t> is built by Google and is the most popular Container Orchestration Technology 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657600" y="3334434"/>
            <a:ext cx="8305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container orchestrator is essentially an administrator in charge of operating a fleet of containerized applications.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81400" y="4306668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larity City"/>
              </a:rPr>
              <a:t>If a container needs to be restarted or acquire more resources, the orchestrator takes care of it for you.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14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9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699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What is </a:t>
            </a:r>
            <a:r>
              <a:rPr lang="en-US" altLang="en-US" sz="3400" dirty="0" err="1" smtClean="0">
                <a:solidFill>
                  <a:srgbClr val="1D243C"/>
                </a:solidFill>
              </a:rPr>
              <a:t>Kubernetes</a:t>
            </a:r>
            <a:r>
              <a:rPr lang="en-US" altLang="en-US" sz="3400" dirty="0" smtClean="0">
                <a:solidFill>
                  <a:srgbClr val="1D243C"/>
                </a:solidFill>
              </a:rPr>
              <a:t> or K8s?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9700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9701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828676"/>
            <a:ext cx="10715625" cy="555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47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699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What is </a:t>
            </a:r>
            <a:r>
              <a:rPr lang="en-US" altLang="en-US" sz="3400" dirty="0" err="1" smtClean="0">
                <a:solidFill>
                  <a:srgbClr val="1D243C"/>
                </a:solidFill>
              </a:rPr>
              <a:t>Kubernetes</a:t>
            </a:r>
            <a:r>
              <a:rPr lang="en-US" altLang="en-US" sz="3400" dirty="0" smtClean="0">
                <a:solidFill>
                  <a:srgbClr val="1D243C"/>
                </a:solidFill>
              </a:rPr>
              <a:t> or K8s?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9700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9701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" y="1818590"/>
            <a:ext cx="6144626" cy="31882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24600" y="4371201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000000"/>
                </a:solidFill>
                <a:latin typeface="Clarity City"/>
              </a:rPr>
              <a:t>Etcd</a:t>
            </a:r>
            <a:r>
              <a:rPr lang="en-US" dirty="0" smtClean="0">
                <a:solidFill>
                  <a:srgbClr val="000000"/>
                </a:solidFill>
                <a:latin typeface="Clarity City"/>
              </a:rPr>
              <a:t> is a daemon for fast, distributed key-value store.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307449" y="3730590"/>
            <a:ext cx="10839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 smtClean="0">
                <a:solidFill>
                  <a:srgbClr val="000000"/>
                </a:solidFill>
                <a:latin typeface="Clarity City"/>
              </a:rPr>
              <a:t>Etcd</a:t>
            </a:r>
            <a:r>
              <a:rPr lang="en-US" sz="2800" b="1" dirty="0" smtClean="0">
                <a:solidFill>
                  <a:srgbClr val="000000"/>
                </a:solidFill>
                <a:latin typeface="Clarity City"/>
              </a:rPr>
              <a:t>:</a:t>
            </a:r>
            <a:endParaRPr lang="en-IN" sz="2800" b="1" dirty="0"/>
          </a:p>
        </p:txBody>
      </p:sp>
      <p:sp>
        <p:nvSpPr>
          <p:cNvPr id="12" name="Rectangle 11"/>
          <p:cNvSpPr/>
          <p:nvPr/>
        </p:nvSpPr>
        <p:spPr>
          <a:xfrm>
            <a:off x="6324600" y="5068669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000000"/>
                </a:solidFill>
                <a:latin typeface="Clarity City"/>
              </a:rPr>
              <a:t>Etcd</a:t>
            </a:r>
            <a:r>
              <a:rPr lang="en-US" dirty="0" smtClean="0">
                <a:solidFill>
                  <a:srgbClr val="000000"/>
                </a:solidFill>
                <a:latin typeface="Clarity City"/>
              </a:rPr>
              <a:t> stores cluster state and metadata.</a:t>
            </a:r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6324600" y="5678269"/>
            <a:ext cx="571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000000"/>
                </a:solidFill>
                <a:latin typeface="Clarity City"/>
              </a:rPr>
              <a:t>Etcd</a:t>
            </a:r>
            <a:r>
              <a:rPr lang="en-US" dirty="0" smtClean="0">
                <a:solidFill>
                  <a:srgbClr val="000000"/>
                </a:solidFill>
                <a:latin typeface="Clarity City"/>
              </a:rPr>
              <a:t> monitors the key-value changes and notify the events to API Server.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6341751" y="1707411"/>
            <a:ext cx="571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larity City"/>
              </a:rPr>
              <a:t>All the components in </a:t>
            </a:r>
            <a:r>
              <a:rPr lang="en-US" dirty="0" err="1" smtClean="0">
                <a:solidFill>
                  <a:srgbClr val="000000"/>
                </a:solidFill>
                <a:latin typeface="Clarity City"/>
              </a:rPr>
              <a:t>Kubernetes</a:t>
            </a:r>
            <a:r>
              <a:rPr lang="en-US" dirty="0" smtClean="0">
                <a:solidFill>
                  <a:srgbClr val="000000"/>
                </a:solidFill>
                <a:latin typeface="Clarity City"/>
              </a:rPr>
              <a:t> communicate through API Server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6324600" y="1066800"/>
            <a:ext cx="21210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000000"/>
                </a:solidFill>
                <a:latin typeface="Clarity City"/>
              </a:rPr>
              <a:t>API Server:</a:t>
            </a:r>
            <a:endParaRPr lang="en-IN" sz="2800" b="1" dirty="0"/>
          </a:p>
        </p:txBody>
      </p:sp>
      <p:sp>
        <p:nvSpPr>
          <p:cNvPr id="17" name="Rectangle 16"/>
          <p:cNvSpPr/>
          <p:nvPr/>
        </p:nvSpPr>
        <p:spPr>
          <a:xfrm>
            <a:off x="6324600" y="2554069"/>
            <a:ext cx="571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larity City"/>
              </a:rPr>
              <a:t>API Server provides a </a:t>
            </a:r>
            <a:r>
              <a:rPr lang="en-US" dirty="0" err="1" smtClean="0">
                <a:solidFill>
                  <a:srgbClr val="000000"/>
                </a:solidFill>
                <a:latin typeface="Clarity City"/>
              </a:rPr>
              <a:t>RESTful</a:t>
            </a:r>
            <a:r>
              <a:rPr lang="en-US" dirty="0" smtClean="0">
                <a:solidFill>
                  <a:srgbClr val="000000"/>
                </a:solidFill>
                <a:latin typeface="Clarity City"/>
              </a:rPr>
              <a:t> API to create, update, modify or delete a </a:t>
            </a:r>
            <a:r>
              <a:rPr lang="en-US" dirty="0" err="1">
                <a:solidFill>
                  <a:srgbClr val="000000"/>
                </a:solidFill>
                <a:latin typeface="Clarity City"/>
              </a:rPr>
              <a:t>K</a:t>
            </a:r>
            <a:r>
              <a:rPr lang="en-US" dirty="0" err="1" smtClean="0">
                <a:solidFill>
                  <a:srgbClr val="000000"/>
                </a:solidFill>
                <a:latin typeface="Clarity City"/>
              </a:rPr>
              <a:t>ubernetes</a:t>
            </a:r>
            <a:r>
              <a:rPr lang="en-US" dirty="0" smtClean="0">
                <a:solidFill>
                  <a:srgbClr val="000000"/>
                </a:solidFill>
                <a:latin typeface="Clarity City"/>
              </a:rPr>
              <a:t> resource.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7299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699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What is </a:t>
            </a:r>
            <a:r>
              <a:rPr lang="en-US" altLang="en-US" sz="3400" dirty="0" err="1" smtClean="0">
                <a:solidFill>
                  <a:srgbClr val="1D243C"/>
                </a:solidFill>
              </a:rPr>
              <a:t>Kubernetes</a:t>
            </a:r>
            <a:r>
              <a:rPr lang="en-US" altLang="en-US" sz="3400" dirty="0" smtClean="0">
                <a:solidFill>
                  <a:srgbClr val="1D243C"/>
                </a:solidFill>
              </a:rPr>
              <a:t> or K8s?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9700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9701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" y="1818590"/>
            <a:ext cx="6144626" cy="31882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24600" y="1524000"/>
            <a:ext cx="571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larity City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Clarity City"/>
              </a:rPr>
              <a:t>Kubernetes</a:t>
            </a:r>
            <a:r>
              <a:rPr lang="en-US" dirty="0">
                <a:solidFill>
                  <a:srgbClr val="000000"/>
                </a:solidFill>
                <a:latin typeface="Clarity City"/>
              </a:rPr>
              <a:t> pod is a group of containers, and is the smallest unit that </a:t>
            </a:r>
            <a:r>
              <a:rPr lang="en-US" dirty="0" err="1">
                <a:solidFill>
                  <a:srgbClr val="000000"/>
                </a:solidFill>
                <a:latin typeface="Clarity City"/>
              </a:rPr>
              <a:t>Kubernetes</a:t>
            </a:r>
            <a:r>
              <a:rPr lang="en-US" dirty="0">
                <a:solidFill>
                  <a:srgbClr val="000000"/>
                </a:solidFill>
                <a:latin typeface="Clarity City"/>
              </a:rPr>
              <a:t> administers.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353175" y="2362200"/>
            <a:ext cx="5686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larity City"/>
              </a:rPr>
              <a:t>Pods have a single IP address that is applied to every container within the pod. 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6400800" y="3268315"/>
            <a:ext cx="5562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larity City"/>
              </a:rPr>
              <a:t>Containers in a pod share the same resources such as memory and storage. 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400800" y="4267200"/>
            <a:ext cx="5486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larity City"/>
              </a:rPr>
              <a:t>Kubernetes</a:t>
            </a:r>
            <a:r>
              <a:rPr lang="en-US" dirty="0">
                <a:solidFill>
                  <a:srgbClr val="000000"/>
                </a:solidFill>
                <a:latin typeface="Clarity City"/>
              </a:rPr>
              <a:t> will track pod health</a:t>
            </a:r>
            <a:r>
              <a:rPr lang="en-US" dirty="0" smtClean="0">
                <a:solidFill>
                  <a:srgbClr val="000000"/>
                </a:solidFill>
                <a:latin typeface="Clarity City"/>
              </a:rPr>
              <a:t>, replicate and </a:t>
            </a:r>
            <a:r>
              <a:rPr lang="en-US" dirty="0" err="1" smtClean="0">
                <a:solidFill>
                  <a:srgbClr val="000000"/>
                </a:solidFill>
                <a:latin typeface="Clarity City"/>
              </a:rPr>
              <a:t>autoscale</a:t>
            </a:r>
            <a:r>
              <a:rPr lang="en-US" dirty="0" smtClean="0">
                <a:solidFill>
                  <a:srgbClr val="000000"/>
                </a:solidFill>
                <a:latin typeface="Clarity City"/>
              </a:rPr>
              <a:t> the pods when needed.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5731328" y="883389"/>
            <a:ext cx="12827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000000"/>
                </a:solidFill>
                <a:latin typeface="Clarity City"/>
              </a:rPr>
              <a:t>Pods :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5930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699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What is </a:t>
            </a:r>
            <a:r>
              <a:rPr lang="en-US" altLang="en-US" sz="3400" dirty="0" err="1" smtClean="0">
                <a:solidFill>
                  <a:srgbClr val="1D243C"/>
                </a:solidFill>
              </a:rPr>
              <a:t>Kubernetes</a:t>
            </a:r>
            <a:r>
              <a:rPr lang="en-US" altLang="en-US" sz="3400" dirty="0" smtClean="0">
                <a:solidFill>
                  <a:srgbClr val="1D243C"/>
                </a:solidFill>
              </a:rPr>
              <a:t> or K8s?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9700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9701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" y="1818590"/>
            <a:ext cx="6144626" cy="31882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24600" y="1574497"/>
            <a:ext cx="571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000000"/>
                </a:solidFill>
                <a:latin typeface="Clarity City"/>
              </a:rPr>
              <a:t>Kubelet</a:t>
            </a:r>
            <a:r>
              <a:rPr lang="en-US" dirty="0" smtClean="0">
                <a:solidFill>
                  <a:srgbClr val="000000"/>
                </a:solidFill>
                <a:latin typeface="Clarity City"/>
              </a:rPr>
              <a:t> is an agent that runs in each node and manages the containers running in a pod.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324600" y="2450068"/>
            <a:ext cx="5686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larity City"/>
              </a:rPr>
              <a:t>It registers a node to </a:t>
            </a:r>
            <a:r>
              <a:rPr lang="en-US" dirty="0" err="1" smtClean="0">
                <a:solidFill>
                  <a:srgbClr val="000000"/>
                </a:solidFill>
                <a:latin typeface="Clarity City"/>
              </a:rPr>
              <a:t>etcd</a:t>
            </a:r>
            <a:r>
              <a:rPr lang="en-US" dirty="0" smtClean="0">
                <a:solidFill>
                  <a:srgbClr val="000000"/>
                </a:solidFill>
                <a:latin typeface="Clarity City"/>
              </a:rPr>
              <a:t> through API Server.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6400800" y="3268315"/>
            <a:ext cx="5562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larity City"/>
              </a:rPr>
              <a:t>It starts the containers in a pod when the pod is scheduled by the scheduler to that node.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400800" y="4267200"/>
            <a:ext cx="5486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larity City"/>
              </a:rPr>
              <a:t>Continuously monitor the containers and report their status to </a:t>
            </a:r>
            <a:r>
              <a:rPr lang="en-US" dirty="0" err="1" smtClean="0">
                <a:solidFill>
                  <a:srgbClr val="000000"/>
                </a:solidFill>
                <a:latin typeface="Clarity City"/>
              </a:rPr>
              <a:t>etcd</a:t>
            </a:r>
            <a:r>
              <a:rPr lang="en-US" dirty="0" smtClean="0">
                <a:solidFill>
                  <a:srgbClr val="000000"/>
                </a:solidFill>
                <a:latin typeface="Clarity City"/>
              </a:rPr>
              <a:t> through API Server.  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5731328" y="883389"/>
            <a:ext cx="16241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 smtClean="0">
                <a:solidFill>
                  <a:srgbClr val="000000"/>
                </a:solidFill>
                <a:latin typeface="Clarity City"/>
              </a:rPr>
              <a:t>Kubelet</a:t>
            </a:r>
            <a:r>
              <a:rPr lang="en-US" sz="2800" b="1" dirty="0" smtClean="0">
                <a:solidFill>
                  <a:srgbClr val="000000"/>
                </a:solidFill>
                <a:latin typeface="Clarity City"/>
              </a:rPr>
              <a:t>: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414141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699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What is </a:t>
            </a:r>
            <a:r>
              <a:rPr lang="en-US" altLang="en-US" sz="3400" dirty="0" err="1" smtClean="0">
                <a:solidFill>
                  <a:srgbClr val="1D243C"/>
                </a:solidFill>
              </a:rPr>
              <a:t>Kubernetes</a:t>
            </a:r>
            <a:r>
              <a:rPr lang="en-US" altLang="en-US" sz="3400" dirty="0" smtClean="0">
                <a:solidFill>
                  <a:srgbClr val="1D243C"/>
                </a:solidFill>
              </a:rPr>
              <a:t> or K8s?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9700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9701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" y="1818590"/>
            <a:ext cx="6144626" cy="31882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1639669"/>
            <a:ext cx="571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000000"/>
                </a:solidFill>
                <a:latin typeface="Clarity City"/>
              </a:rPr>
              <a:t>Kube</a:t>
            </a:r>
            <a:r>
              <a:rPr lang="en-US" dirty="0" smtClean="0">
                <a:solidFill>
                  <a:srgbClr val="000000"/>
                </a:solidFill>
                <a:latin typeface="Clarity City"/>
              </a:rPr>
              <a:t>-proxy is responsible for routing network traffic to the desired pods for a service.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429375" y="2554069"/>
            <a:ext cx="5686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larity City"/>
              </a:rPr>
              <a:t>It provides seamless connectivity among the pods and among the nodes.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6400800" y="3593068"/>
            <a:ext cx="5562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larity City"/>
              </a:rPr>
              <a:t>It abstract away pod IPs (which are dynamic)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400800" y="4267200"/>
            <a:ext cx="5486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larity City"/>
              </a:rPr>
              <a:t>It also load balances the traffic across multiple pods.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5731328" y="883389"/>
            <a:ext cx="23038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 smtClean="0">
                <a:solidFill>
                  <a:srgbClr val="000000"/>
                </a:solidFill>
                <a:latin typeface="Clarity City"/>
              </a:rPr>
              <a:t>Kube</a:t>
            </a:r>
            <a:r>
              <a:rPr lang="en-US" sz="2800" b="1" dirty="0" smtClean="0">
                <a:solidFill>
                  <a:srgbClr val="000000"/>
                </a:solidFill>
                <a:latin typeface="Clarity City"/>
              </a:rPr>
              <a:t>-proxy: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63042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699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Containers in AWS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9700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9701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17410" name="Picture 2" descr="Graphic showing Amazon ECR sitting between writing code and deploying to container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399" y="1358900"/>
            <a:ext cx="12344400" cy="39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747" name="Title 1"/>
          <p:cNvSpPr txBox="1">
            <a:spLocks/>
          </p:cNvSpPr>
          <p:nvPr/>
        </p:nvSpPr>
        <p:spPr bwMode="auto">
          <a:xfrm>
            <a:off x="152400" y="-596900"/>
            <a:ext cx="10133013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3400">
                <a:solidFill>
                  <a:srgbClr val="1D243C"/>
                </a:solidFill>
                <a:latin typeface="Corbel" panose="020B0503020204020204" pitchFamily="34" charset="0"/>
              </a:rPr>
              <a:t>Unikernel for Microservices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9063" y="765175"/>
            <a:ext cx="11682412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altLang="en-US" sz="2400">
                <a:solidFill>
                  <a:srgbClr val="000000"/>
                </a:solidFill>
                <a:latin typeface="LiberationSans_v_2"/>
              </a:rPr>
              <a:t>Unikernels are specialised, </a:t>
            </a:r>
            <a:r>
              <a:rPr lang="en-US" altLang="en-US" sz="2400">
                <a:solidFill>
                  <a:srgbClr val="000000"/>
                </a:solidFill>
                <a:latin typeface="LiberationSans-Bold_13_2"/>
              </a:rPr>
              <a:t>single address space machine images constructed by library operating systems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500">
              <a:solidFill>
                <a:srgbClr val="000000"/>
              </a:solidFill>
              <a:latin typeface="LiberationSans-Bold_13_2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>
                <a:solidFill>
                  <a:srgbClr val="000000"/>
                </a:solidFill>
                <a:latin typeface="LiberationSans-Bold_13_2"/>
              </a:rPr>
              <a:t>Similar to One VM for One Service</a:t>
            </a:r>
            <a:r>
              <a:rPr lang="en-US" altLang="en-US"/>
              <a:t/>
            </a:r>
            <a:br>
              <a:rPr lang="en-US" altLang="en-US"/>
            </a:br>
            <a:endParaRPr lang="en-IN" altLang="en-US"/>
          </a:p>
        </p:txBody>
      </p: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6600825" y="1660525"/>
            <a:ext cx="5472113" cy="4648200"/>
            <a:chOff x="6600056" y="1661120"/>
            <a:chExt cx="5472608" cy="4648200"/>
          </a:xfrm>
        </p:grpSpPr>
        <p:grpSp>
          <p:nvGrpSpPr>
            <p:cNvPr id="31752" name="Group 3"/>
            <p:cNvGrpSpPr>
              <a:grpSpLocks/>
            </p:cNvGrpSpPr>
            <p:nvPr/>
          </p:nvGrpSpPr>
          <p:grpSpPr bwMode="auto">
            <a:xfrm>
              <a:off x="6600056" y="1661120"/>
              <a:ext cx="5472608" cy="4648200"/>
              <a:chOff x="76200" y="985838"/>
              <a:chExt cx="5943600" cy="4648770"/>
            </a:xfrm>
          </p:grpSpPr>
          <p:grpSp>
            <p:nvGrpSpPr>
              <p:cNvPr id="31756" name="Group 14"/>
              <p:cNvGrpSpPr>
                <a:grpSpLocks/>
              </p:cNvGrpSpPr>
              <p:nvPr/>
            </p:nvGrpSpPr>
            <p:grpSpPr bwMode="auto">
              <a:xfrm>
                <a:off x="1536700" y="985838"/>
                <a:ext cx="515938" cy="612775"/>
                <a:chOff x="968" y="730"/>
                <a:chExt cx="325" cy="386"/>
              </a:xfrm>
            </p:grpSpPr>
            <p:sp>
              <p:nvSpPr>
                <p:cNvPr id="31783" name="AutoShape 15"/>
                <p:cNvSpPr>
                  <a:spLocks noChangeArrowheads="1"/>
                </p:cNvSpPr>
                <p:nvPr/>
              </p:nvSpPr>
              <p:spPr bwMode="auto">
                <a:xfrm>
                  <a:off x="1127" y="730"/>
                  <a:ext cx="127" cy="20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2211 w 21600"/>
                    <a:gd name="T25" fmla="*/ 7692 h 21600"/>
                    <a:gd name="T26" fmla="*/ 19219 w 21600"/>
                    <a:gd name="T27" fmla="*/ 20230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6625" y="20892"/>
                      </a:moveTo>
                      <a:lnTo>
                        <a:pt x="7105" y="21023"/>
                      </a:lnTo>
                      <a:lnTo>
                        <a:pt x="7513" y="21088"/>
                      </a:lnTo>
                      <a:lnTo>
                        <a:pt x="7922" y="21115"/>
                      </a:lnTo>
                      <a:lnTo>
                        <a:pt x="8242" y="21115"/>
                      </a:lnTo>
                      <a:lnTo>
                        <a:pt x="8544" y="21062"/>
                      </a:lnTo>
                      <a:lnTo>
                        <a:pt x="8810" y="20997"/>
                      </a:lnTo>
                      <a:lnTo>
                        <a:pt x="9023" y="20892"/>
                      </a:lnTo>
                      <a:lnTo>
                        <a:pt x="9148" y="20761"/>
                      </a:lnTo>
                      <a:lnTo>
                        <a:pt x="9290" y="20616"/>
                      </a:lnTo>
                      <a:lnTo>
                        <a:pt x="9361" y="20459"/>
                      </a:lnTo>
                      <a:lnTo>
                        <a:pt x="9396" y="20289"/>
                      </a:lnTo>
                      <a:lnTo>
                        <a:pt x="9396" y="20092"/>
                      </a:lnTo>
                      <a:lnTo>
                        <a:pt x="9325" y="19909"/>
                      </a:lnTo>
                      <a:lnTo>
                        <a:pt x="9219" y="19738"/>
                      </a:lnTo>
                      <a:lnTo>
                        <a:pt x="9094" y="19555"/>
                      </a:lnTo>
                      <a:lnTo>
                        <a:pt x="8917" y="19384"/>
                      </a:lnTo>
                      <a:lnTo>
                        <a:pt x="8650" y="19162"/>
                      </a:lnTo>
                      <a:lnTo>
                        <a:pt x="8437" y="18900"/>
                      </a:lnTo>
                      <a:lnTo>
                        <a:pt x="8277" y="18624"/>
                      </a:lnTo>
                      <a:lnTo>
                        <a:pt x="8135" y="18349"/>
                      </a:lnTo>
                      <a:lnTo>
                        <a:pt x="8028" y="18048"/>
                      </a:lnTo>
                      <a:lnTo>
                        <a:pt x="7993" y="17746"/>
                      </a:lnTo>
                      <a:lnTo>
                        <a:pt x="7993" y="17471"/>
                      </a:lnTo>
                      <a:lnTo>
                        <a:pt x="8028" y="17169"/>
                      </a:lnTo>
                      <a:lnTo>
                        <a:pt x="8135" y="16920"/>
                      </a:lnTo>
                      <a:lnTo>
                        <a:pt x="8277" y="16671"/>
                      </a:lnTo>
                      <a:lnTo>
                        <a:pt x="8366" y="16540"/>
                      </a:lnTo>
                      <a:lnTo>
                        <a:pt x="8473" y="16409"/>
                      </a:lnTo>
                      <a:lnTo>
                        <a:pt x="8615" y="16317"/>
                      </a:lnTo>
                      <a:lnTo>
                        <a:pt x="8739" y="16213"/>
                      </a:lnTo>
                      <a:lnTo>
                        <a:pt x="8881" y="16134"/>
                      </a:lnTo>
                      <a:lnTo>
                        <a:pt x="9059" y="16055"/>
                      </a:lnTo>
                      <a:lnTo>
                        <a:pt x="9254" y="15990"/>
                      </a:lnTo>
                      <a:lnTo>
                        <a:pt x="9432" y="15911"/>
                      </a:lnTo>
                      <a:lnTo>
                        <a:pt x="9663" y="15885"/>
                      </a:lnTo>
                      <a:lnTo>
                        <a:pt x="9876" y="15833"/>
                      </a:lnTo>
                      <a:lnTo>
                        <a:pt x="10142" y="15806"/>
                      </a:lnTo>
                      <a:lnTo>
                        <a:pt x="10391" y="15806"/>
                      </a:lnTo>
                      <a:lnTo>
                        <a:pt x="10728" y="15806"/>
                      </a:lnTo>
                      <a:lnTo>
                        <a:pt x="10995" y="15806"/>
                      </a:lnTo>
                      <a:lnTo>
                        <a:pt x="11279" y="15833"/>
                      </a:lnTo>
                      <a:lnTo>
                        <a:pt x="11546" y="15885"/>
                      </a:lnTo>
                      <a:lnTo>
                        <a:pt x="11776" y="15937"/>
                      </a:lnTo>
                      <a:lnTo>
                        <a:pt x="12025" y="15990"/>
                      </a:lnTo>
                      <a:lnTo>
                        <a:pt x="12221" y="16055"/>
                      </a:lnTo>
                      <a:lnTo>
                        <a:pt x="12434" y="16134"/>
                      </a:lnTo>
                      <a:lnTo>
                        <a:pt x="12611" y="16213"/>
                      </a:lnTo>
                      <a:lnTo>
                        <a:pt x="12771" y="16317"/>
                      </a:lnTo>
                      <a:lnTo>
                        <a:pt x="12913" y="16409"/>
                      </a:lnTo>
                      <a:lnTo>
                        <a:pt x="13038" y="16514"/>
                      </a:lnTo>
                      <a:lnTo>
                        <a:pt x="13251" y="16737"/>
                      </a:lnTo>
                      <a:lnTo>
                        <a:pt x="13428" y="16986"/>
                      </a:lnTo>
                      <a:lnTo>
                        <a:pt x="13517" y="17248"/>
                      </a:lnTo>
                      <a:lnTo>
                        <a:pt x="13588" y="17523"/>
                      </a:lnTo>
                      <a:lnTo>
                        <a:pt x="13588" y="17799"/>
                      </a:lnTo>
                      <a:lnTo>
                        <a:pt x="13517" y="18074"/>
                      </a:lnTo>
                      <a:lnTo>
                        <a:pt x="13428" y="18323"/>
                      </a:lnTo>
                      <a:lnTo>
                        <a:pt x="13286" y="18572"/>
                      </a:lnTo>
                      <a:lnTo>
                        <a:pt x="13109" y="18808"/>
                      </a:lnTo>
                      <a:lnTo>
                        <a:pt x="12878" y="19031"/>
                      </a:lnTo>
                      <a:lnTo>
                        <a:pt x="12434" y="19411"/>
                      </a:lnTo>
                      <a:lnTo>
                        <a:pt x="12132" y="19738"/>
                      </a:lnTo>
                      <a:lnTo>
                        <a:pt x="12025" y="19856"/>
                      </a:lnTo>
                      <a:lnTo>
                        <a:pt x="11919" y="20014"/>
                      </a:lnTo>
                      <a:lnTo>
                        <a:pt x="11883" y="20132"/>
                      </a:lnTo>
                      <a:lnTo>
                        <a:pt x="11883" y="20263"/>
                      </a:lnTo>
                      <a:lnTo>
                        <a:pt x="11883" y="20394"/>
                      </a:lnTo>
                      <a:lnTo>
                        <a:pt x="11954" y="20485"/>
                      </a:lnTo>
                      <a:lnTo>
                        <a:pt x="12061" y="20590"/>
                      </a:lnTo>
                      <a:lnTo>
                        <a:pt x="12185" y="20695"/>
                      </a:lnTo>
                      <a:lnTo>
                        <a:pt x="12327" y="20787"/>
                      </a:lnTo>
                      <a:lnTo>
                        <a:pt x="12540" y="20892"/>
                      </a:lnTo>
                      <a:lnTo>
                        <a:pt x="12771" y="20997"/>
                      </a:lnTo>
                      <a:lnTo>
                        <a:pt x="13073" y="21088"/>
                      </a:lnTo>
                      <a:lnTo>
                        <a:pt x="13428" y="21193"/>
                      </a:lnTo>
                      <a:lnTo>
                        <a:pt x="13873" y="21298"/>
                      </a:lnTo>
                      <a:lnTo>
                        <a:pt x="14317" y="21390"/>
                      </a:lnTo>
                      <a:lnTo>
                        <a:pt x="14778" y="21468"/>
                      </a:lnTo>
                      <a:lnTo>
                        <a:pt x="15294" y="21547"/>
                      </a:lnTo>
                      <a:lnTo>
                        <a:pt x="15809" y="21600"/>
                      </a:lnTo>
                      <a:lnTo>
                        <a:pt x="16359" y="21652"/>
                      </a:lnTo>
                      <a:lnTo>
                        <a:pt x="16875" y="21678"/>
                      </a:lnTo>
                      <a:lnTo>
                        <a:pt x="17407" y="21678"/>
                      </a:lnTo>
                      <a:lnTo>
                        <a:pt x="17958" y="21678"/>
                      </a:lnTo>
                      <a:lnTo>
                        <a:pt x="18473" y="21652"/>
                      </a:lnTo>
                      <a:lnTo>
                        <a:pt x="18953" y="21573"/>
                      </a:lnTo>
                      <a:lnTo>
                        <a:pt x="19397" y="21495"/>
                      </a:lnTo>
                      <a:lnTo>
                        <a:pt x="19841" y="21390"/>
                      </a:lnTo>
                      <a:lnTo>
                        <a:pt x="20214" y="21272"/>
                      </a:lnTo>
                      <a:lnTo>
                        <a:pt x="20551" y="21088"/>
                      </a:lnTo>
                      <a:lnTo>
                        <a:pt x="20480" y="20787"/>
                      </a:lnTo>
                      <a:lnTo>
                        <a:pt x="20409" y="20485"/>
                      </a:lnTo>
                      <a:lnTo>
                        <a:pt x="20356" y="20158"/>
                      </a:lnTo>
                      <a:lnTo>
                        <a:pt x="20356" y="19804"/>
                      </a:lnTo>
                      <a:lnTo>
                        <a:pt x="20321" y="19083"/>
                      </a:lnTo>
                      <a:lnTo>
                        <a:pt x="20356" y="18349"/>
                      </a:lnTo>
                      <a:lnTo>
                        <a:pt x="20409" y="17641"/>
                      </a:lnTo>
                      <a:lnTo>
                        <a:pt x="20480" y="17012"/>
                      </a:lnTo>
                      <a:lnTo>
                        <a:pt x="20551" y="16488"/>
                      </a:lnTo>
                      <a:lnTo>
                        <a:pt x="20551" y="16055"/>
                      </a:lnTo>
                      <a:lnTo>
                        <a:pt x="20551" y="15911"/>
                      </a:lnTo>
                      <a:lnTo>
                        <a:pt x="20445" y="15754"/>
                      </a:lnTo>
                      <a:lnTo>
                        <a:pt x="20356" y="15610"/>
                      </a:lnTo>
                      <a:lnTo>
                        <a:pt x="20178" y="15452"/>
                      </a:lnTo>
                      <a:lnTo>
                        <a:pt x="20001" y="15334"/>
                      </a:lnTo>
                      <a:lnTo>
                        <a:pt x="19770" y="15230"/>
                      </a:lnTo>
                      <a:lnTo>
                        <a:pt x="19521" y="15125"/>
                      </a:lnTo>
                      <a:lnTo>
                        <a:pt x="19290" y="15059"/>
                      </a:lnTo>
                      <a:lnTo>
                        <a:pt x="19024" y="15007"/>
                      </a:lnTo>
                      <a:lnTo>
                        <a:pt x="18740" y="14954"/>
                      </a:lnTo>
                      <a:lnTo>
                        <a:pt x="18509" y="14954"/>
                      </a:lnTo>
                      <a:lnTo>
                        <a:pt x="18225" y="14954"/>
                      </a:lnTo>
                      <a:lnTo>
                        <a:pt x="17994" y="15007"/>
                      </a:lnTo>
                      <a:lnTo>
                        <a:pt x="17763" y="15085"/>
                      </a:lnTo>
                      <a:lnTo>
                        <a:pt x="17550" y="15177"/>
                      </a:lnTo>
                      <a:lnTo>
                        <a:pt x="17372" y="15308"/>
                      </a:lnTo>
                      <a:lnTo>
                        <a:pt x="17176" y="15426"/>
                      </a:lnTo>
                      <a:lnTo>
                        <a:pt x="16928" y="15557"/>
                      </a:lnTo>
                      <a:lnTo>
                        <a:pt x="16661" y="15636"/>
                      </a:lnTo>
                      <a:lnTo>
                        <a:pt x="16359" y="15688"/>
                      </a:lnTo>
                      <a:lnTo>
                        <a:pt x="16022" y="15715"/>
                      </a:lnTo>
                      <a:lnTo>
                        <a:pt x="15667" y="15688"/>
                      </a:lnTo>
                      <a:lnTo>
                        <a:pt x="15294" y="15662"/>
                      </a:lnTo>
                      <a:lnTo>
                        <a:pt x="14956" y="15583"/>
                      </a:lnTo>
                      <a:lnTo>
                        <a:pt x="14619" y="15479"/>
                      </a:lnTo>
                      <a:lnTo>
                        <a:pt x="14281" y="15334"/>
                      </a:lnTo>
                      <a:lnTo>
                        <a:pt x="13961" y="15177"/>
                      </a:lnTo>
                      <a:lnTo>
                        <a:pt x="13695" y="14981"/>
                      </a:lnTo>
                      <a:lnTo>
                        <a:pt x="13588" y="14850"/>
                      </a:lnTo>
                      <a:lnTo>
                        <a:pt x="13482" y="14732"/>
                      </a:lnTo>
                      <a:lnTo>
                        <a:pt x="13393" y="14600"/>
                      </a:lnTo>
                      <a:lnTo>
                        <a:pt x="13322" y="14456"/>
                      </a:lnTo>
                      <a:lnTo>
                        <a:pt x="13251" y="14299"/>
                      </a:lnTo>
                      <a:lnTo>
                        <a:pt x="13215" y="14155"/>
                      </a:lnTo>
                      <a:lnTo>
                        <a:pt x="13180" y="13971"/>
                      </a:lnTo>
                      <a:lnTo>
                        <a:pt x="13180" y="13801"/>
                      </a:lnTo>
                      <a:lnTo>
                        <a:pt x="13180" y="13591"/>
                      </a:lnTo>
                      <a:lnTo>
                        <a:pt x="13215" y="13395"/>
                      </a:lnTo>
                      <a:lnTo>
                        <a:pt x="13251" y="13198"/>
                      </a:lnTo>
                      <a:lnTo>
                        <a:pt x="13322" y="13015"/>
                      </a:lnTo>
                      <a:lnTo>
                        <a:pt x="13393" y="12870"/>
                      </a:lnTo>
                      <a:lnTo>
                        <a:pt x="13482" y="12713"/>
                      </a:lnTo>
                      <a:lnTo>
                        <a:pt x="13588" y="12569"/>
                      </a:lnTo>
                      <a:lnTo>
                        <a:pt x="13730" y="12438"/>
                      </a:lnTo>
                      <a:lnTo>
                        <a:pt x="13997" y="12215"/>
                      </a:lnTo>
                      <a:lnTo>
                        <a:pt x="14334" y="12005"/>
                      </a:lnTo>
                      <a:lnTo>
                        <a:pt x="14690" y="11861"/>
                      </a:lnTo>
                      <a:lnTo>
                        <a:pt x="15063" y="11756"/>
                      </a:lnTo>
                      <a:lnTo>
                        <a:pt x="15436" y="11678"/>
                      </a:lnTo>
                      <a:lnTo>
                        <a:pt x="15809" y="11638"/>
                      </a:lnTo>
                      <a:lnTo>
                        <a:pt x="16182" y="11638"/>
                      </a:lnTo>
                      <a:lnTo>
                        <a:pt x="16555" y="11678"/>
                      </a:lnTo>
                      <a:lnTo>
                        <a:pt x="16910" y="11730"/>
                      </a:lnTo>
                      <a:lnTo>
                        <a:pt x="17248" y="11835"/>
                      </a:lnTo>
                      <a:lnTo>
                        <a:pt x="17514" y="11966"/>
                      </a:lnTo>
                      <a:lnTo>
                        <a:pt x="17763" y="12110"/>
                      </a:lnTo>
                      <a:lnTo>
                        <a:pt x="17887" y="12215"/>
                      </a:lnTo>
                      <a:lnTo>
                        <a:pt x="18065" y="12307"/>
                      </a:lnTo>
                      <a:lnTo>
                        <a:pt x="18260" y="12412"/>
                      </a:lnTo>
                      <a:lnTo>
                        <a:pt x="18438" y="12464"/>
                      </a:lnTo>
                      <a:lnTo>
                        <a:pt x="18669" y="12543"/>
                      </a:lnTo>
                      <a:lnTo>
                        <a:pt x="18882" y="12569"/>
                      </a:lnTo>
                      <a:lnTo>
                        <a:pt x="19113" y="12595"/>
                      </a:lnTo>
                      <a:lnTo>
                        <a:pt x="19361" y="12608"/>
                      </a:lnTo>
                      <a:lnTo>
                        <a:pt x="19592" y="12608"/>
                      </a:lnTo>
                      <a:lnTo>
                        <a:pt x="19841" y="12595"/>
                      </a:lnTo>
                      <a:lnTo>
                        <a:pt x="20072" y="12543"/>
                      </a:lnTo>
                      <a:lnTo>
                        <a:pt x="20321" y="12490"/>
                      </a:lnTo>
                      <a:lnTo>
                        <a:pt x="20551" y="12438"/>
                      </a:lnTo>
                      <a:lnTo>
                        <a:pt x="20800" y="12333"/>
                      </a:lnTo>
                      <a:lnTo>
                        <a:pt x="20996" y="12241"/>
                      </a:lnTo>
                      <a:lnTo>
                        <a:pt x="21244" y="12110"/>
                      </a:lnTo>
                      <a:lnTo>
                        <a:pt x="21298" y="12032"/>
                      </a:lnTo>
                      <a:lnTo>
                        <a:pt x="21404" y="11966"/>
                      </a:lnTo>
                      <a:lnTo>
                        <a:pt x="21475" y="11861"/>
                      </a:lnTo>
                      <a:lnTo>
                        <a:pt x="21511" y="11730"/>
                      </a:lnTo>
                      <a:lnTo>
                        <a:pt x="21617" y="11481"/>
                      </a:lnTo>
                      <a:lnTo>
                        <a:pt x="21653" y="11180"/>
                      </a:lnTo>
                      <a:lnTo>
                        <a:pt x="21653" y="10826"/>
                      </a:lnTo>
                      <a:lnTo>
                        <a:pt x="21653" y="10472"/>
                      </a:lnTo>
                      <a:lnTo>
                        <a:pt x="21582" y="10092"/>
                      </a:lnTo>
                      <a:lnTo>
                        <a:pt x="21511" y="9725"/>
                      </a:lnTo>
                      <a:lnTo>
                        <a:pt x="21298" y="8912"/>
                      </a:lnTo>
                      <a:lnTo>
                        <a:pt x="21067" y="8191"/>
                      </a:lnTo>
                      <a:lnTo>
                        <a:pt x="20800" y="7536"/>
                      </a:lnTo>
                      <a:lnTo>
                        <a:pt x="20551" y="7025"/>
                      </a:lnTo>
                      <a:lnTo>
                        <a:pt x="20001" y="7103"/>
                      </a:lnTo>
                      <a:lnTo>
                        <a:pt x="19432" y="7156"/>
                      </a:lnTo>
                      <a:lnTo>
                        <a:pt x="18846" y="7208"/>
                      </a:lnTo>
                      <a:lnTo>
                        <a:pt x="18225" y="7208"/>
                      </a:lnTo>
                      <a:lnTo>
                        <a:pt x="17656" y="7208"/>
                      </a:lnTo>
                      <a:lnTo>
                        <a:pt x="17070" y="7182"/>
                      </a:lnTo>
                      <a:lnTo>
                        <a:pt x="16484" y="7156"/>
                      </a:lnTo>
                      <a:lnTo>
                        <a:pt x="15986" y="7103"/>
                      </a:lnTo>
                      <a:lnTo>
                        <a:pt x="14992" y="6999"/>
                      </a:lnTo>
                      <a:lnTo>
                        <a:pt x="14210" y="6907"/>
                      </a:lnTo>
                      <a:lnTo>
                        <a:pt x="13695" y="6828"/>
                      </a:lnTo>
                      <a:lnTo>
                        <a:pt x="13517" y="6802"/>
                      </a:lnTo>
                      <a:lnTo>
                        <a:pt x="13073" y="6645"/>
                      </a:lnTo>
                      <a:lnTo>
                        <a:pt x="12700" y="6474"/>
                      </a:lnTo>
                      <a:lnTo>
                        <a:pt x="12363" y="6304"/>
                      </a:lnTo>
                      <a:lnTo>
                        <a:pt x="12132" y="6094"/>
                      </a:lnTo>
                      <a:lnTo>
                        <a:pt x="11919" y="5871"/>
                      </a:lnTo>
                      <a:lnTo>
                        <a:pt x="11776" y="5649"/>
                      </a:lnTo>
                      <a:lnTo>
                        <a:pt x="11688" y="5413"/>
                      </a:lnTo>
                      <a:lnTo>
                        <a:pt x="11617" y="5190"/>
                      </a:lnTo>
                      <a:lnTo>
                        <a:pt x="11617" y="4941"/>
                      </a:lnTo>
                      <a:lnTo>
                        <a:pt x="11652" y="4718"/>
                      </a:lnTo>
                      <a:lnTo>
                        <a:pt x="11723" y="4482"/>
                      </a:lnTo>
                      <a:lnTo>
                        <a:pt x="11812" y="4285"/>
                      </a:lnTo>
                      <a:lnTo>
                        <a:pt x="11919" y="4089"/>
                      </a:lnTo>
                      <a:lnTo>
                        <a:pt x="12096" y="3905"/>
                      </a:lnTo>
                      <a:lnTo>
                        <a:pt x="12292" y="3735"/>
                      </a:lnTo>
                      <a:lnTo>
                        <a:pt x="12505" y="3604"/>
                      </a:lnTo>
                      <a:lnTo>
                        <a:pt x="12700" y="3460"/>
                      </a:lnTo>
                      <a:lnTo>
                        <a:pt x="12878" y="3250"/>
                      </a:lnTo>
                      <a:lnTo>
                        <a:pt x="13038" y="3027"/>
                      </a:lnTo>
                      <a:lnTo>
                        <a:pt x="13180" y="2752"/>
                      </a:lnTo>
                      <a:lnTo>
                        <a:pt x="13286" y="2477"/>
                      </a:lnTo>
                      <a:lnTo>
                        <a:pt x="13322" y="2175"/>
                      </a:lnTo>
                      <a:lnTo>
                        <a:pt x="13357" y="1874"/>
                      </a:lnTo>
                      <a:lnTo>
                        <a:pt x="13286" y="1572"/>
                      </a:lnTo>
                      <a:lnTo>
                        <a:pt x="13180" y="1271"/>
                      </a:lnTo>
                      <a:lnTo>
                        <a:pt x="13038" y="983"/>
                      </a:lnTo>
                      <a:lnTo>
                        <a:pt x="12949" y="865"/>
                      </a:lnTo>
                      <a:lnTo>
                        <a:pt x="12807" y="733"/>
                      </a:lnTo>
                      <a:lnTo>
                        <a:pt x="12665" y="616"/>
                      </a:lnTo>
                      <a:lnTo>
                        <a:pt x="12505" y="511"/>
                      </a:lnTo>
                      <a:lnTo>
                        <a:pt x="12327" y="406"/>
                      </a:lnTo>
                      <a:lnTo>
                        <a:pt x="12132" y="314"/>
                      </a:lnTo>
                      <a:lnTo>
                        <a:pt x="11883" y="235"/>
                      </a:lnTo>
                      <a:lnTo>
                        <a:pt x="11652" y="183"/>
                      </a:lnTo>
                      <a:lnTo>
                        <a:pt x="11368" y="104"/>
                      </a:lnTo>
                      <a:lnTo>
                        <a:pt x="11101" y="78"/>
                      </a:lnTo>
                      <a:lnTo>
                        <a:pt x="10800" y="52"/>
                      </a:lnTo>
                      <a:lnTo>
                        <a:pt x="10444" y="52"/>
                      </a:lnTo>
                      <a:lnTo>
                        <a:pt x="10142" y="52"/>
                      </a:lnTo>
                      <a:lnTo>
                        <a:pt x="9840" y="78"/>
                      </a:lnTo>
                      <a:lnTo>
                        <a:pt x="9574" y="104"/>
                      </a:lnTo>
                      <a:lnTo>
                        <a:pt x="9325" y="157"/>
                      </a:lnTo>
                      <a:lnTo>
                        <a:pt x="9094" y="209"/>
                      </a:lnTo>
                      <a:lnTo>
                        <a:pt x="8846" y="262"/>
                      </a:lnTo>
                      <a:lnTo>
                        <a:pt x="8650" y="340"/>
                      </a:lnTo>
                      <a:lnTo>
                        <a:pt x="8437" y="432"/>
                      </a:lnTo>
                      <a:lnTo>
                        <a:pt x="8277" y="511"/>
                      </a:lnTo>
                      <a:lnTo>
                        <a:pt x="8100" y="616"/>
                      </a:lnTo>
                      <a:lnTo>
                        <a:pt x="7957" y="707"/>
                      </a:lnTo>
                      <a:lnTo>
                        <a:pt x="7833" y="838"/>
                      </a:lnTo>
                      <a:lnTo>
                        <a:pt x="7620" y="1061"/>
                      </a:lnTo>
                      <a:lnTo>
                        <a:pt x="7442" y="1336"/>
                      </a:lnTo>
                      <a:lnTo>
                        <a:pt x="7353" y="1599"/>
                      </a:lnTo>
                      <a:lnTo>
                        <a:pt x="7318" y="1900"/>
                      </a:lnTo>
                      <a:lnTo>
                        <a:pt x="7318" y="2175"/>
                      </a:lnTo>
                      <a:lnTo>
                        <a:pt x="7353" y="2450"/>
                      </a:lnTo>
                      <a:lnTo>
                        <a:pt x="7442" y="2726"/>
                      </a:lnTo>
                      <a:lnTo>
                        <a:pt x="7620" y="2975"/>
                      </a:lnTo>
                      <a:lnTo>
                        <a:pt x="7833" y="3198"/>
                      </a:lnTo>
                      <a:lnTo>
                        <a:pt x="8064" y="3433"/>
                      </a:lnTo>
                      <a:lnTo>
                        <a:pt x="8295" y="3630"/>
                      </a:lnTo>
                      <a:lnTo>
                        <a:pt x="8508" y="3853"/>
                      </a:lnTo>
                      <a:lnTo>
                        <a:pt x="8686" y="4089"/>
                      </a:lnTo>
                      <a:lnTo>
                        <a:pt x="8775" y="4312"/>
                      </a:lnTo>
                      <a:lnTo>
                        <a:pt x="8846" y="4561"/>
                      </a:lnTo>
                      <a:lnTo>
                        <a:pt x="8846" y="4810"/>
                      </a:lnTo>
                      <a:lnTo>
                        <a:pt x="8810" y="5059"/>
                      </a:lnTo>
                      <a:lnTo>
                        <a:pt x="8721" y="5295"/>
                      </a:lnTo>
                      <a:lnTo>
                        <a:pt x="8579" y="5544"/>
                      </a:lnTo>
                      <a:lnTo>
                        <a:pt x="8366" y="5766"/>
                      </a:lnTo>
                      <a:lnTo>
                        <a:pt x="8135" y="5976"/>
                      </a:lnTo>
                      <a:lnTo>
                        <a:pt x="7833" y="6199"/>
                      </a:lnTo>
                      <a:lnTo>
                        <a:pt x="7478" y="6369"/>
                      </a:lnTo>
                      <a:lnTo>
                        <a:pt x="7069" y="6527"/>
                      </a:lnTo>
                      <a:lnTo>
                        <a:pt x="6590" y="6671"/>
                      </a:lnTo>
                      <a:lnTo>
                        <a:pt x="6092" y="6802"/>
                      </a:lnTo>
                      <a:lnTo>
                        <a:pt x="5684" y="6802"/>
                      </a:lnTo>
                      <a:lnTo>
                        <a:pt x="5133" y="6802"/>
                      </a:lnTo>
                      <a:lnTo>
                        <a:pt x="4547" y="6802"/>
                      </a:lnTo>
                      <a:lnTo>
                        <a:pt x="3872" y="6802"/>
                      </a:lnTo>
                      <a:lnTo>
                        <a:pt x="3144" y="6802"/>
                      </a:lnTo>
                      <a:lnTo>
                        <a:pt x="2362" y="6802"/>
                      </a:lnTo>
                      <a:lnTo>
                        <a:pt x="1545" y="6802"/>
                      </a:lnTo>
                      <a:lnTo>
                        <a:pt x="692" y="6802"/>
                      </a:lnTo>
                      <a:lnTo>
                        <a:pt x="586" y="7234"/>
                      </a:lnTo>
                      <a:lnTo>
                        <a:pt x="461" y="7837"/>
                      </a:lnTo>
                      <a:lnTo>
                        <a:pt x="355" y="8493"/>
                      </a:lnTo>
                      <a:lnTo>
                        <a:pt x="248" y="9187"/>
                      </a:lnTo>
                      <a:lnTo>
                        <a:pt x="142" y="9869"/>
                      </a:lnTo>
                      <a:lnTo>
                        <a:pt x="106" y="10498"/>
                      </a:lnTo>
                      <a:lnTo>
                        <a:pt x="106" y="10983"/>
                      </a:lnTo>
                      <a:lnTo>
                        <a:pt x="106" y="11311"/>
                      </a:lnTo>
                      <a:lnTo>
                        <a:pt x="213" y="11481"/>
                      </a:lnTo>
                      <a:lnTo>
                        <a:pt x="319" y="11651"/>
                      </a:lnTo>
                      <a:lnTo>
                        <a:pt x="497" y="11783"/>
                      </a:lnTo>
                      <a:lnTo>
                        <a:pt x="692" y="11914"/>
                      </a:lnTo>
                      <a:lnTo>
                        <a:pt x="941" y="12032"/>
                      </a:lnTo>
                      <a:lnTo>
                        <a:pt x="1207" y="12110"/>
                      </a:lnTo>
                      <a:lnTo>
                        <a:pt x="1509" y="12189"/>
                      </a:lnTo>
                      <a:lnTo>
                        <a:pt x="1794" y="12241"/>
                      </a:lnTo>
                      <a:lnTo>
                        <a:pt x="2131" y="12267"/>
                      </a:lnTo>
                      <a:lnTo>
                        <a:pt x="2433" y="12281"/>
                      </a:lnTo>
                      <a:lnTo>
                        <a:pt x="2735" y="12267"/>
                      </a:lnTo>
                      <a:lnTo>
                        <a:pt x="3055" y="12241"/>
                      </a:lnTo>
                      <a:lnTo>
                        <a:pt x="3357" y="12189"/>
                      </a:lnTo>
                      <a:lnTo>
                        <a:pt x="3623" y="12084"/>
                      </a:lnTo>
                      <a:lnTo>
                        <a:pt x="3872" y="11979"/>
                      </a:lnTo>
                      <a:lnTo>
                        <a:pt x="4103" y="11861"/>
                      </a:lnTo>
                      <a:lnTo>
                        <a:pt x="4316" y="11704"/>
                      </a:lnTo>
                      <a:lnTo>
                        <a:pt x="4582" y="11612"/>
                      </a:lnTo>
                      <a:lnTo>
                        <a:pt x="4849" y="11533"/>
                      </a:lnTo>
                      <a:lnTo>
                        <a:pt x="5169" y="11507"/>
                      </a:lnTo>
                      <a:lnTo>
                        <a:pt x="5506" y="11481"/>
                      </a:lnTo>
                      <a:lnTo>
                        <a:pt x="5808" y="11507"/>
                      </a:lnTo>
                      <a:lnTo>
                        <a:pt x="6146" y="11560"/>
                      </a:lnTo>
                      <a:lnTo>
                        <a:pt x="6501" y="11651"/>
                      </a:lnTo>
                      <a:lnTo>
                        <a:pt x="6803" y="11783"/>
                      </a:lnTo>
                      <a:lnTo>
                        <a:pt x="7105" y="11940"/>
                      </a:lnTo>
                      <a:lnTo>
                        <a:pt x="7353" y="12110"/>
                      </a:lnTo>
                      <a:lnTo>
                        <a:pt x="7584" y="12333"/>
                      </a:lnTo>
                      <a:lnTo>
                        <a:pt x="7798" y="12595"/>
                      </a:lnTo>
                      <a:lnTo>
                        <a:pt x="7922" y="12870"/>
                      </a:lnTo>
                      <a:lnTo>
                        <a:pt x="8028" y="13198"/>
                      </a:lnTo>
                      <a:lnTo>
                        <a:pt x="8064" y="13526"/>
                      </a:lnTo>
                      <a:lnTo>
                        <a:pt x="8028" y="13775"/>
                      </a:lnTo>
                      <a:lnTo>
                        <a:pt x="7922" y="13998"/>
                      </a:lnTo>
                      <a:lnTo>
                        <a:pt x="7798" y="14220"/>
                      </a:lnTo>
                      <a:lnTo>
                        <a:pt x="7584" y="14404"/>
                      </a:lnTo>
                      <a:lnTo>
                        <a:pt x="7353" y="14574"/>
                      </a:lnTo>
                      <a:lnTo>
                        <a:pt x="7105" y="14732"/>
                      </a:lnTo>
                      <a:lnTo>
                        <a:pt x="6803" y="14850"/>
                      </a:lnTo>
                      <a:lnTo>
                        <a:pt x="6501" y="14954"/>
                      </a:lnTo>
                      <a:lnTo>
                        <a:pt x="6146" y="15033"/>
                      </a:lnTo>
                      <a:lnTo>
                        <a:pt x="5808" y="15085"/>
                      </a:lnTo>
                      <a:lnTo>
                        <a:pt x="5506" y="15085"/>
                      </a:lnTo>
                      <a:lnTo>
                        <a:pt x="5169" y="15059"/>
                      </a:lnTo>
                      <a:lnTo>
                        <a:pt x="4849" y="15007"/>
                      </a:lnTo>
                      <a:lnTo>
                        <a:pt x="4582" y="14902"/>
                      </a:lnTo>
                      <a:lnTo>
                        <a:pt x="4316" y="14784"/>
                      </a:lnTo>
                      <a:lnTo>
                        <a:pt x="4103" y="14600"/>
                      </a:lnTo>
                      <a:lnTo>
                        <a:pt x="3907" y="14430"/>
                      </a:lnTo>
                      <a:lnTo>
                        <a:pt x="3659" y="14299"/>
                      </a:lnTo>
                      <a:lnTo>
                        <a:pt x="3428" y="14194"/>
                      </a:lnTo>
                      <a:lnTo>
                        <a:pt x="3179" y="14129"/>
                      </a:lnTo>
                      <a:lnTo>
                        <a:pt x="2913" y="14102"/>
                      </a:lnTo>
                      <a:lnTo>
                        <a:pt x="2646" y="14102"/>
                      </a:lnTo>
                      <a:lnTo>
                        <a:pt x="2362" y="14129"/>
                      </a:lnTo>
                      <a:lnTo>
                        <a:pt x="2096" y="14168"/>
                      </a:lnTo>
                      <a:lnTo>
                        <a:pt x="1811" y="14273"/>
                      </a:lnTo>
                      <a:lnTo>
                        <a:pt x="1545" y="14378"/>
                      </a:lnTo>
                      <a:lnTo>
                        <a:pt x="1314" y="14496"/>
                      </a:lnTo>
                      <a:lnTo>
                        <a:pt x="1065" y="14653"/>
                      </a:lnTo>
                      <a:lnTo>
                        <a:pt x="870" y="14797"/>
                      </a:lnTo>
                      <a:lnTo>
                        <a:pt x="657" y="14981"/>
                      </a:lnTo>
                      <a:lnTo>
                        <a:pt x="497" y="15177"/>
                      </a:lnTo>
                      <a:lnTo>
                        <a:pt x="390" y="15413"/>
                      </a:lnTo>
                      <a:lnTo>
                        <a:pt x="284" y="15636"/>
                      </a:lnTo>
                      <a:lnTo>
                        <a:pt x="248" y="15911"/>
                      </a:lnTo>
                      <a:lnTo>
                        <a:pt x="284" y="16239"/>
                      </a:lnTo>
                      <a:lnTo>
                        <a:pt x="319" y="16566"/>
                      </a:lnTo>
                      <a:lnTo>
                        <a:pt x="497" y="17340"/>
                      </a:lnTo>
                      <a:lnTo>
                        <a:pt x="692" y="18152"/>
                      </a:lnTo>
                      <a:lnTo>
                        <a:pt x="799" y="18559"/>
                      </a:lnTo>
                      <a:lnTo>
                        <a:pt x="905" y="18978"/>
                      </a:lnTo>
                      <a:lnTo>
                        <a:pt x="959" y="19384"/>
                      </a:lnTo>
                      <a:lnTo>
                        <a:pt x="994" y="19791"/>
                      </a:lnTo>
                      <a:lnTo>
                        <a:pt x="994" y="20132"/>
                      </a:lnTo>
                      <a:lnTo>
                        <a:pt x="959" y="20485"/>
                      </a:lnTo>
                      <a:lnTo>
                        <a:pt x="941" y="20669"/>
                      </a:lnTo>
                      <a:lnTo>
                        <a:pt x="870" y="20813"/>
                      </a:lnTo>
                      <a:lnTo>
                        <a:pt x="799" y="20970"/>
                      </a:lnTo>
                      <a:lnTo>
                        <a:pt x="692" y="21088"/>
                      </a:lnTo>
                      <a:lnTo>
                        <a:pt x="1474" y="20997"/>
                      </a:lnTo>
                      <a:lnTo>
                        <a:pt x="2291" y="20866"/>
                      </a:lnTo>
                      <a:lnTo>
                        <a:pt x="3108" y="20787"/>
                      </a:lnTo>
                      <a:lnTo>
                        <a:pt x="3907" y="20721"/>
                      </a:lnTo>
                      <a:lnTo>
                        <a:pt x="4653" y="20695"/>
                      </a:lnTo>
                      <a:lnTo>
                        <a:pt x="5364" y="20695"/>
                      </a:lnTo>
                      <a:lnTo>
                        <a:pt x="5701" y="20721"/>
                      </a:lnTo>
                      <a:lnTo>
                        <a:pt x="6057" y="20761"/>
                      </a:lnTo>
                      <a:lnTo>
                        <a:pt x="6323" y="20813"/>
                      </a:lnTo>
                      <a:lnTo>
                        <a:pt x="6625" y="20892"/>
                      </a:lnTo>
                      <a:close/>
                    </a:path>
                  </a:pathLst>
                </a:custGeom>
                <a:solidFill>
                  <a:srgbClr val="FFBE7D"/>
                </a:solidFill>
                <a:ln w="2844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31784" name="AutoShape 16"/>
                <p:cNvSpPr>
                  <a:spLocks noChangeArrowheads="1"/>
                </p:cNvSpPr>
                <p:nvPr/>
              </p:nvSpPr>
              <p:spPr bwMode="auto">
                <a:xfrm>
                  <a:off x="1089" y="880"/>
                  <a:ext cx="204" cy="18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5400 w 21600"/>
                    <a:gd name="T25" fmla="*/ 6735 h 21600"/>
                    <a:gd name="T26" fmla="*/ 16200 w 21600"/>
                    <a:gd name="T27" fmla="*/ 20439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4247" y="12354"/>
                      </a:moveTo>
                      <a:lnTo>
                        <a:pt x="4134" y="12468"/>
                      </a:lnTo>
                      <a:lnTo>
                        <a:pt x="4010" y="12581"/>
                      </a:lnTo>
                      <a:lnTo>
                        <a:pt x="3897" y="12637"/>
                      </a:lnTo>
                      <a:lnTo>
                        <a:pt x="3773" y="12694"/>
                      </a:lnTo>
                      <a:lnTo>
                        <a:pt x="3637" y="12694"/>
                      </a:lnTo>
                      <a:lnTo>
                        <a:pt x="3524" y="12694"/>
                      </a:lnTo>
                      <a:lnTo>
                        <a:pt x="3400" y="12665"/>
                      </a:lnTo>
                      <a:lnTo>
                        <a:pt x="3287" y="12609"/>
                      </a:lnTo>
                      <a:lnTo>
                        <a:pt x="3027" y="12496"/>
                      </a:lnTo>
                      <a:lnTo>
                        <a:pt x="2790" y="12340"/>
                      </a:lnTo>
                      <a:lnTo>
                        <a:pt x="2530" y="12142"/>
                      </a:lnTo>
                      <a:lnTo>
                        <a:pt x="2293" y="11987"/>
                      </a:lnTo>
                      <a:lnTo>
                        <a:pt x="2033" y="11817"/>
                      </a:lnTo>
                      <a:lnTo>
                        <a:pt x="1773" y="11676"/>
                      </a:lnTo>
                      <a:lnTo>
                        <a:pt x="1638" y="11662"/>
                      </a:lnTo>
                      <a:lnTo>
                        <a:pt x="1513" y="11634"/>
                      </a:lnTo>
                      <a:lnTo>
                        <a:pt x="1378" y="11634"/>
                      </a:lnTo>
                      <a:lnTo>
                        <a:pt x="1253" y="11634"/>
                      </a:lnTo>
                      <a:lnTo>
                        <a:pt x="1118" y="11662"/>
                      </a:lnTo>
                      <a:lnTo>
                        <a:pt x="971" y="11732"/>
                      </a:lnTo>
                      <a:lnTo>
                        <a:pt x="835" y="11817"/>
                      </a:lnTo>
                      <a:lnTo>
                        <a:pt x="711" y="11959"/>
                      </a:lnTo>
                      <a:lnTo>
                        <a:pt x="553" y="12086"/>
                      </a:lnTo>
                      <a:lnTo>
                        <a:pt x="429" y="12284"/>
                      </a:lnTo>
                      <a:lnTo>
                        <a:pt x="271" y="12524"/>
                      </a:lnTo>
                      <a:lnTo>
                        <a:pt x="146" y="12793"/>
                      </a:lnTo>
                      <a:lnTo>
                        <a:pt x="79" y="12962"/>
                      </a:lnTo>
                      <a:lnTo>
                        <a:pt x="33" y="13146"/>
                      </a:lnTo>
                      <a:lnTo>
                        <a:pt x="11" y="13386"/>
                      </a:lnTo>
                      <a:lnTo>
                        <a:pt x="11" y="13641"/>
                      </a:lnTo>
                      <a:lnTo>
                        <a:pt x="33" y="13881"/>
                      </a:lnTo>
                      <a:lnTo>
                        <a:pt x="101" y="14150"/>
                      </a:lnTo>
                      <a:lnTo>
                        <a:pt x="192" y="14404"/>
                      </a:lnTo>
                      <a:lnTo>
                        <a:pt x="293" y="14645"/>
                      </a:lnTo>
                      <a:lnTo>
                        <a:pt x="451" y="14857"/>
                      </a:lnTo>
                      <a:lnTo>
                        <a:pt x="621" y="15054"/>
                      </a:lnTo>
                      <a:lnTo>
                        <a:pt x="734" y="15125"/>
                      </a:lnTo>
                      <a:lnTo>
                        <a:pt x="835" y="15210"/>
                      </a:lnTo>
                      <a:lnTo>
                        <a:pt x="948" y="15267"/>
                      </a:lnTo>
                      <a:lnTo>
                        <a:pt x="1084" y="15323"/>
                      </a:lnTo>
                      <a:lnTo>
                        <a:pt x="1208" y="15351"/>
                      </a:lnTo>
                      <a:lnTo>
                        <a:pt x="1355" y="15380"/>
                      </a:lnTo>
                      <a:lnTo>
                        <a:pt x="1513" y="15380"/>
                      </a:lnTo>
                      <a:lnTo>
                        <a:pt x="1683" y="15380"/>
                      </a:lnTo>
                      <a:lnTo>
                        <a:pt x="1864" y="15351"/>
                      </a:lnTo>
                      <a:lnTo>
                        <a:pt x="2033" y="15323"/>
                      </a:lnTo>
                      <a:lnTo>
                        <a:pt x="2225" y="15238"/>
                      </a:lnTo>
                      <a:lnTo>
                        <a:pt x="2428" y="15153"/>
                      </a:lnTo>
                      <a:lnTo>
                        <a:pt x="2745" y="15026"/>
                      </a:lnTo>
                      <a:lnTo>
                        <a:pt x="3005" y="14913"/>
                      </a:lnTo>
                      <a:lnTo>
                        <a:pt x="3264" y="14828"/>
                      </a:lnTo>
                      <a:lnTo>
                        <a:pt x="3513" y="14800"/>
                      </a:lnTo>
                      <a:lnTo>
                        <a:pt x="3615" y="14828"/>
                      </a:lnTo>
                      <a:lnTo>
                        <a:pt x="3728" y="14857"/>
                      </a:lnTo>
                      <a:lnTo>
                        <a:pt x="3807" y="14913"/>
                      </a:lnTo>
                      <a:lnTo>
                        <a:pt x="3920" y="14998"/>
                      </a:lnTo>
                      <a:lnTo>
                        <a:pt x="4010" y="15097"/>
                      </a:lnTo>
                      <a:lnTo>
                        <a:pt x="4089" y="15238"/>
                      </a:lnTo>
                      <a:lnTo>
                        <a:pt x="4179" y="15408"/>
                      </a:lnTo>
                      <a:lnTo>
                        <a:pt x="4247" y="15620"/>
                      </a:lnTo>
                      <a:lnTo>
                        <a:pt x="4326" y="15860"/>
                      </a:lnTo>
                      <a:lnTo>
                        <a:pt x="4394" y="16129"/>
                      </a:lnTo>
                      <a:lnTo>
                        <a:pt x="4439" y="16440"/>
                      </a:lnTo>
                      <a:lnTo>
                        <a:pt x="4507" y="16737"/>
                      </a:lnTo>
                      <a:lnTo>
                        <a:pt x="4552" y="17090"/>
                      </a:lnTo>
                      <a:lnTo>
                        <a:pt x="4575" y="17443"/>
                      </a:lnTo>
                      <a:lnTo>
                        <a:pt x="4586" y="17825"/>
                      </a:lnTo>
                      <a:lnTo>
                        <a:pt x="4586" y="18193"/>
                      </a:lnTo>
                      <a:lnTo>
                        <a:pt x="4586" y="18574"/>
                      </a:lnTo>
                      <a:lnTo>
                        <a:pt x="4586" y="18984"/>
                      </a:lnTo>
                      <a:lnTo>
                        <a:pt x="4552" y="19366"/>
                      </a:lnTo>
                      <a:lnTo>
                        <a:pt x="4507" y="19748"/>
                      </a:lnTo>
                      <a:lnTo>
                        <a:pt x="4462" y="20129"/>
                      </a:lnTo>
                      <a:lnTo>
                        <a:pt x="4371" y="20483"/>
                      </a:lnTo>
                      <a:lnTo>
                        <a:pt x="4292" y="20836"/>
                      </a:lnTo>
                      <a:lnTo>
                        <a:pt x="4202" y="21161"/>
                      </a:lnTo>
                      <a:lnTo>
                        <a:pt x="4744" y="21161"/>
                      </a:lnTo>
                      <a:lnTo>
                        <a:pt x="5264" y="21161"/>
                      </a:lnTo>
                      <a:lnTo>
                        <a:pt x="5784" y="21161"/>
                      </a:lnTo>
                      <a:lnTo>
                        <a:pt x="6235" y="21161"/>
                      </a:lnTo>
                      <a:lnTo>
                        <a:pt x="6676" y="21161"/>
                      </a:lnTo>
                      <a:lnTo>
                        <a:pt x="7060" y="21161"/>
                      </a:lnTo>
                      <a:lnTo>
                        <a:pt x="7410" y="21161"/>
                      </a:lnTo>
                      <a:lnTo>
                        <a:pt x="7670" y="21161"/>
                      </a:lnTo>
                      <a:lnTo>
                        <a:pt x="8020" y="21020"/>
                      </a:lnTo>
                      <a:lnTo>
                        <a:pt x="8303" y="20893"/>
                      </a:lnTo>
                      <a:lnTo>
                        <a:pt x="8563" y="20695"/>
                      </a:lnTo>
                      <a:lnTo>
                        <a:pt x="8800" y="20511"/>
                      </a:lnTo>
                      <a:lnTo>
                        <a:pt x="8969" y="20285"/>
                      </a:lnTo>
                      <a:lnTo>
                        <a:pt x="9150" y="20045"/>
                      </a:lnTo>
                      <a:lnTo>
                        <a:pt x="9252" y="19804"/>
                      </a:lnTo>
                      <a:lnTo>
                        <a:pt x="9342" y="19550"/>
                      </a:lnTo>
                      <a:lnTo>
                        <a:pt x="9410" y="19281"/>
                      </a:lnTo>
                      <a:lnTo>
                        <a:pt x="9433" y="19013"/>
                      </a:lnTo>
                      <a:lnTo>
                        <a:pt x="9433" y="18744"/>
                      </a:lnTo>
                      <a:lnTo>
                        <a:pt x="9387" y="18504"/>
                      </a:lnTo>
                      <a:lnTo>
                        <a:pt x="9320" y="18221"/>
                      </a:lnTo>
                      <a:lnTo>
                        <a:pt x="9207" y="17981"/>
                      </a:lnTo>
                      <a:lnTo>
                        <a:pt x="9105" y="17740"/>
                      </a:lnTo>
                      <a:lnTo>
                        <a:pt x="8924" y="17514"/>
                      </a:lnTo>
                      <a:lnTo>
                        <a:pt x="8777" y="17274"/>
                      </a:lnTo>
                      <a:lnTo>
                        <a:pt x="8642" y="17034"/>
                      </a:lnTo>
                      <a:lnTo>
                        <a:pt x="8563" y="16765"/>
                      </a:lnTo>
                      <a:lnTo>
                        <a:pt x="8472" y="16468"/>
                      </a:lnTo>
                      <a:lnTo>
                        <a:pt x="8450" y="16157"/>
                      </a:lnTo>
                      <a:lnTo>
                        <a:pt x="8450" y="15860"/>
                      </a:lnTo>
                      <a:lnTo>
                        <a:pt x="8472" y="15563"/>
                      </a:lnTo>
                      <a:lnTo>
                        <a:pt x="8540" y="15267"/>
                      </a:lnTo>
                      <a:lnTo>
                        <a:pt x="8642" y="14998"/>
                      </a:lnTo>
                      <a:lnTo>
                        <a:pt x="8777" y="14729"/>
                      </a:lnTo>
                      <a:lnTo>
                        <a:pt x="8868" y="14616"/>
                      </a:lnTo>
                      <a:lnTo>
                        <a:pt x="8969" y="14475"/>
                      </a:lnTo>
                      <a:lnTo>
                        <a:pt x="9060" y="14376"/>
                      </a:lnTo>
                      <a:lnTo>
                        <a:pt x="9184" y="14291"/>
                      </a:lnTo>
                      <a:lnTo>
                        <a:pt x="9297" y="14206"/>
                      </a:lnTo>
                      <a:lnTo>
                        <a:pt x="9433" y="14121"/>
                      </a:lnTo>
                      <a:lnTo>
                        <a:pt x="9579" y="14051"/>
                      </a:lnTo>
                      <a:lnTo>
                        <a:pt x="9726" y="13994"/>
                      </a:lnTo>
                      <a:lnTo>
                        <a:pt x="9884" y="13938"/>
                      </a:lnTo>
                      <a:lnTo>
                        <a:pt x="10054" y="13909"/>
                      </a:lnTo>
                      <a:lnTo>
                        <a:pt x="10257" y="13881"/>
                      </a:lnTo>
                      <a:lnTo>
                        <a:pt x="10449" y="13881"/>
                      </a:lnTo>
                      <a:lnTo>
                        <a:pt x="10664" y="13881"/>
                      </a:lnTo>
                      <a:lnTo>
                        <a:pt x="10856" y="13909"/>
                      </a:lnTo>
                      <a:lnTo>
                        <a:pt x="11037" y="13966"/>
                      </a:lnTo>
                      <a:lnTo>
                        <a:pt x="11206" y="14023"/>
                      </a:lnTo>
                      <a:lnTo>
                        <a:pt x="11353" y="14093"/>
                      </a:lnTo>
                      <a:lnTo>
                        <a:pt x="11511" y="14178"/>
                      </a:lnTo>
                      <a:lnTo>
                        <a:pt x="11635" y="14263"/>
                      </a:lnTo>
                      <a:lnTo>
                        <a:pt x="11748" y="14376"/>
                      </a:lnTo>
                      <a:lnTo>
                        <a:pt x="11861" y="14475"/>
                      </a:lnTo>
                      <a:lnTo>
                        <a:pt x="11941" y="14616"/>
                      </a:lnTo>
                      <a:lnTo>
                        <a:pt x="12031" y="14758"/>
                      </a:lnTo>
                      <a:lnTo>
                        <a:pt x="12099" y="14885"/>
                      </a:lnTo>
                      <a:lnTo>
                        <a:pt x="12200" y="15210"/>
                      </a:lnTo>
                      <a:lnTo>
                        <a:pt x="12268" y="15507"/>
                      </a:lnTo>
                      <a:lnTo>
                        <a:pt x="12291" y="15832"/>
                      </a:lnTo>
                      <a:lnTo>
                        <a:pt x="12291" y="16157"/>
                      </a:lnTo>
                      <a:lnTo>
                        <a:pt x="12246" y="16482"/>
                      </a:lnTo>
                      <a:lnTo>
                        <a:pt x="12178" y="16807"/>
                      </a:lnTo>
                      <a:lnTo>
                        <a:pt x="12099" y="17090"/>
                      </a:lnTo>
                      <a:lnTo>
                        <a:pt x="12008" y="17330"/>
                      </a:lnTo>
                      <a:lnTo>
                        <a:pt x="11884" y="17542"/>
                      </a:lnTo>
                      <a:lnTo>
                        <a:pt x="11748" y="17712"/>
                      </a:lnTo>
                      <a:lnTo>
                        <a:pt x="11613" y="17839"/>
                      </a:lnTo>
                      <a:lnTo>
                        <a:pt x="11489" y="18037"/>
                      </a:lnTo>
                      <a:lnTo>
                        <a:pt x="11398" y="18221"/>
                      </a:lnTo>
                      <a:lnTo>
                        <a:pt x="11319" y="18447"/>
                      </a:lnTo>
                      <a:lnTo>
                        <a:pt x="11251" y="18659"/>
                      </a:lnTo>
                      <a:lnTo>
                        <a:pt x="11206" y="18900"/>
                      </a:lnTo>
                      <a:lnTo>
                        <a:pt x="11184" y="19154"/>
                      </a:lnTo>
                      <a:lnTo>
                        <a:pt x="11184" y="19423"/>
                      </a:lnTo>
                      <a:lnTo>
                        <a:pt x="11229" y="19663"/>
                      </a:lnTo>
                      <a:lnTo>
                        <a:pt x="11297" y="19903"/>
                      </a:lnTo>
                      <a:lnTo>
                        <a:pt x="11376" y="20158"/>
                      </a:lnTo>
                      <a:lnTo>
                        <a:pt x="11511" y="20398"/>
                      </a:lnTo>
                      <a:lnTo>
                        <a:pt x="11681" y="20610"/>
                      </a:lnTo>
                      <a:lnTo>
                        <a:pt x="11884" y="20808"/>
                      </a:lnTo>
                      <a:lnTo>
                        <a:pt x="12121" y="20992"/>
                      </a:lnTo>
                      <a:lnTo>
                        <a:pt x="12404" y="21161"/>
                      </a:lnTo>
                      <a:lnTo>
                        <a:pt x="12528" y="21190"/>
                      </a:lnTo>
                      <a:lnTo>
                        <a:pt x="12856" y="21274"/>
                      </a:lnTo>
                      <a:lnTo>
                        <a:pt x="13330" y="21373"/>
                      </a:lnTo>
                      <a:lnTo>
                        <a:pt x="13963" y="21486"/>
                      </a:lnTo>
                      <a:lnTo>
                        <a:pt x="14313" y="21543"/>
                      </a:lnTo>
                      <a:lnTo>
                        <a:pt x="14652" y="21571"/>
                      </a:lnTo>
                      <a:lnTo>
                        <a:pt x="15025" y="21600"/>
                      </a:lnTo>
                      <a:lnTo>
                        <a:pt x="15409" y="21600"/>
                      </a:lnTo>
                      <a:lnTo>
                        <a:pt x="15782" y="21600"/>
                      </a:lnTo>
                      <a:lnTo>
                        <a:pt x="16177" y="21571"/>
                      </a:lnTo>
                      <a:lnTo>
                        <a:pt x="16516" y="21486"/>
                      </a:lnTo>
                      <a:lnTo>
                        <a:pt x="16889" y="21402"/>
                      </a:lnTo>
                      <a:lnTo>
                        <a:pt x="16821" y="21190"/>
                      </a:lnTo>
                      <a:lnTo>
                        <a:pt x="16776" y="20935"/>
                      </a:lnTo>
                      <a:lnTo>
                        <a:pt x="16742" y="20667"/>
                      </a:lnTo>
                      <a:lnTo>
                        <a:pt x="16719" y="20370"/>
                      </a:lnTo>
                      <a:lnTo>
                        <a:pt x="16697" y="19719"/>
                      </a:lnTo>
                      <a:lnTo>
                        <a:pt x="16697" y="19013"/>
                      </a:lnTo>
                      <a:lnTo>
                        <a:pt x="16719" y="18306"/>
                      </a:lnTo>
                      <a:lnTo>
                        <a:pt x="16753" y="17599"/>
                      </a:lnTo>
                      <a:lnTo>
                        <a:pt x="16821" y="16949"/>
                      </a:lnTo>
                      <a:lnTo>
                        <a:pt x="16889" y="16383"/>
                      </a:lnTo>
                      <a:lnTo>
                        <a:pt x="16934" y="16129"/>
                      </a:lnTo>
                      <a:lnTo>
                        <a:pt x="17002" y="15945"/>
                      </a:lnTo>
                      <a:lnTo>
                        <a:pt x="17081" y="15790"/>
                      </a:lnTo>
                      <a:lnTo>
                        <a:pt x="17194" y="15648"/>
                      </a:lnTo>
                      <a:lnTo>
                        <a:pt x="17318" y="15563"/>
                      </a:lnTo>
                      <a:lnTo>
                        <a:pt x="17453" y="15507"/>
                      </a:lnTo>
                      <a:lnTo>
                        <a:pt x="17600" y="15450"/>
                      </a:lnTo>
                      <a:lnTo>
                        <a:pt x="17758" y="15450"/>
                      </a:lnTo>
                      <a:lnTo>
                        <a:pt x="17905" y="15479"/>
                      </a:lnTo>
                      <a:lnTo>
                        <a:pt x="18064" y="15535"/>
                      </a:lnTo>
                      <a:lnTo>
                        <a:pt x="18233" y="15620"/>
                      </a:lnTo>
                      <a:lnTo>
                        <a:pt x="18380" y="15733"/>
                      </a:lnTo>
                      <a:lnTo>
                        <a:pt x="18561" y="15832"/>
                      </a:lnTo>
                      <a:lnTo>
                        <a:pt x="18707" y="15973"/>
                      </a:lnTo>
                      <a:lnTo>
                        <a:pt x="18866" y="16129"/>
                      </a:lnTo>
                      <a:lnTo>
                        <a:pt x="18990" y="16327"/>
                      </a:lnTo>
                      <a:lnTo>
                        <a:pt x="19125" y="16482"/>
                      </a:lnTo>
                      <a:lnTo>
                        <a:pt x="19295" y="16624"/>
                      </a:lnTo>
                      <a:lnTo>
                        <a:pt x="19464" y="16737"/>
                      </a:lnTo>
                      <a:lnTo>
                        <a:pt x="19668" y="16807"/>
                      </a:lnTo>
                      <a:lnTo>
                        <a:pt x="19860" y="16836"/>
                      </a:lnTo>
                      <a:lnTo>
                        <a:pt x="20052" y="16864"/>
                      </a:lnTo>
                      <a:lnTo>
                        <a:pt x="20266" y="16836"/>
                      </a:lnTo>
                      <a:lnTo>
                        <a:pt x="20470" y="16793"/>
                      </a:lnTo>
                      <a:lnTo>
                        <a:pt x="20662" y="16708"/>
                      </a:lnTo>
                      <a:lnTo>
                        <a:pt x="20854" y="16567"/>
                      </a:lnTo>
                      <a:lnTo>
                        <a:pt x="21035" y="16412"/>
                      </a:lnTo>
                      <a:lnTo>
                        <a:pt x="21182" y="16214"/>
                      </a:lnTo>
                      <a:lnTo>
                        <a:pt x="21340" y="16002"/>
                      </a:lnTo>
                      <a:lnTo>
                        <a:pt x="21441" y="15733"/>
                      </a:lnTo>
                      <a:lnTo>
                        <a:pt x="21532" y="15436"/>
                      </a:lnTo>
                      <a:lnTo>
                        <a:pt x="21600" y="15083"/>
                      </a:lnTo>
                      <a:lnTo>
                        <a:pt x="21600" y="14885"/>
                      </a:lnTo>
                      <a:lnTo>
                        <a:pt x="21600" y="14729"/>
                      </a:lnTo>
                      <a:lnTo>
                        <a:pt x="21600" y="14531"/>
                      </a:lnTo>
                      <a:lnTo>
                        <a:pt x="21577" y="14376"/>
                      </a:lnTo>
                      <a:lnTo>
                        <a:pt x="21532" y="14206"/>
                      </a:lnTo>
                      <a:lnTo>
                        <a:pt x="21487" y="14051"/>
                      </a:lnTo>
                      <a:lnTo>
                        <a:pt x="21419" y="13909"/>
                      </a:lnTo>
                      <a:lnTo>
                        <a:pt x="21351" y="13768"/>
                      </a:lnTo>
                      <a:lnTo>
                        <a:pt x="21204" y="13500"/>
                      </a:lnTo>
                      <a:lnTo>
                        <a:pt x="21035" y="13287"/>
                      </a:lnTo>
                      <a:lnTo>
                        <a:pt x="20809" y="13090"/>
                      </a:lnTo>
                      <a:lnTo>
                        <a:pt x="20594" y="12962"/>
                      </a:lnTo>
                      <a:lnTo>
                        <a:pt x="20357" y="12821"/>
                      </a:lnTo>
                      <a:lnTo>
                        <a:pt x="20120" y="12764"/>
                      </a:lnTo>
                      <a:lnTo>
                        <a:pt x="19882" y="12708"/>
                      </a:lnTo>
                      <a:lnTo>
                        <a:pt x="19645" y="12736"/>
                      </a:lnTo>
                      <a:lnTo>
                        <a:pt x="19430" y="12793"/>
                      </a:lnTo>
                      <a:lnTo>
                        <a:pt x="19227" y="12906"/>
                      </a:lnTo>
                      <a:lnTo>
                        <a:pt x="19148" y="12962"/>
                      </a:lnTo>
                      <a:lnTo>
                        <a:pt x="19058" y="13047"/>
                      </a:lnTo>
                      <a:lnTo>
                        <a:pt x="18990" y="13146"/>
                      </a:lnTo>
                      <a:lnTo>
                        <a:pt x="18911" y="13259"/>
                      </a:lnTo>
                      <a:lnTo>
                        <a:pt x="18775" y="13471"/>
                      </a:lnTo>
                      <a:lnTo>
                        <a:pt x="18628" y="13641"/>
                      </a:lnTo>
                      <a:lnTo>
                        <a:pt x="18470" y="13740"/>
                      </a:lnTo>
                      <a:lnTo>
                        <a:pt x="18301" y="13825"/>
                      </a:lnTo>
                      <a:lnTo>
                        <a:pt x="18143" y="13853"/>
                      </a:lnTo>
                      <a:lnTo>
                        <a:pt x="17973" y="13881"/>
                      </a:lnTo>
                      <a:lnTo>
                        <a:pt x="17804" y="13853"/>
                      </a:lnTo>
                      <a:lnTo>
                        <a:pt x="17646" y="13796"/>
                      </a:lnTo>
                      <a:lnTo>
                        <a:pt x="17499" y="13726"/>
                      </a:lnTo>
                      <a:lnTo>
                        <a:pt x="17341" y="13641"/>
                      </a:lnTo>
                      <a:lnTo>
                        <a:pt x="17216" y="13528"/>
                      </a:lnTo>
                      <a:lnTo>
                        <a:pt x="17103" y="13386"/>
                      </a:lnTo>
                      <a:lnTo>
                        <a:pt x="17024" y="13259"/>
                      </a:lnTo>
                      <a:lnTo>
                        <a:pt x="16934" y="13118"/>
                      </a:lnTo>
                      <a:lnTo>
                        <a:pt x="16889" y="12991"/>
                      </a:lnTo>
                      <a:lnTo>
                        <a:pt x="16889" y="12849"/>
                      </a:lnTo>
                      <a:lnTo>
                        <a:pt x="16889" y="12383"/>
                      </a:lnTo>
                      <a:lnTo>
                        <a:pt x="16889" y="11662"/>
                      </a:lnTo>
                      <a:lnTo>
                        <a:pt x="16889" y="10701"/>
                      </a:lnTo>
                      <a:lnTo>
                        <a:pt x="16889" y="9640"/>
                      </a:lnTo>
                      <a:lnTo>
                        <a:pt x="16889" y="8566"/>
                      </a:lnTo>
                      <a:lnTo>
                        <a:pt x="16889" y="7478"/>
                      </a:lnTo>
                      <a:lnTo>
                        <a:pt x="16889" y="6502"/>
                      </a:lnTo>
                      <a:lnTo>
                        <a:pt x="16889" y="5739"/>
                      </a:lnTo>
                      <a:lnTo>
                        <a:pt x="16674" y="5894"/>
                      </a:lnTo>
                      <a:lnTo>
                        <a:pt x="16414" y="6036"/>
                      </a:lnTo>
                      <a:lnTo>
                        <a:pt x="16154" y="6177"/>
                      </a:lnTo>
                      <a:lnTo>
                        <a:pt x="15849" y="6248"/>
                      </a:lnTo>
                      <a:lnTo>
                        <a:pt x="15544" y="6304"/>
                      </a:lnTo>
                      <a:lnTo>
                        <a:pt x="15217" y="6332"/>
                      </a:lnTo>
                      <a:lnTo>
                        <a:pt x="14866" y="6361"/>
                      </a:lnTo>
                      <a:lnTo>
                        <a:pt x="14550" y="6361"/>
                      </a:lnTo>
                      <a:lnTo>
                        <a:pt x="14200" y="6332"/>
                      </a:lnTo>
                      <a:lnTo>
                        <a:pt x="13850" y="6276"/>
                      </a:lnTo>
                      <a:lnTo>
                        <a:pt x="13522" y="6219"/>
                      </a:lnTo>
                      <a:lnTo>
                        <a:pt x="13206" y="6149"/>
                      </a:lnTo>
                      <a:lnTo>
                        <a:pt x="12901" y="6064"/>
                      </a:lnTo>
                      <a:lnTo>
                        <a:pt x="12618" y="5951"/>
                      </a:lnTo>
                      <a:lnTo>
                        <a:pt x="12358" y="5838"/>
                      </a:lnTo>
                      <a:lnTo>
                        <a:pt x="12121" y="5739"/>
                      </a:lnTo>
                      <a:lnTo>
                        <a:pt x="11941" y="5626"/>
                      </a:lnTo>
                      <a:lnTo>
                        <a:pt x="11794" y="5513"/>
                      </a:lnTo>
                      <a:lnTo>
                        <a:pt x="11658" y="5414"/>
                      </a:lnTo>
                      <a:lnTo>
                        <a:pt x="11556" y="5301"/>
                      </a:lnTo>
                      <a:lnTo>
                        <a:pt x="11466" y="5187"/>
                      </a:lnTo>
                      <a:lnTo>
                        <a:pt x="11398" y="5089"/>
                      </a:lnTo>
                      <a:lnTo>
                        <a:pt x="11376" y="4947"/>
                      </a:lnTo>
                      <a:lnTo>
                        <a:pt x="11353" y="4834"/>
                      </a:lnTo>
                      <a:lnTo>
                        <a:pt x="11353" y="4707"/>
                      </a:lnTo>
                      <a:lnTo>
                        <a:pt x="11376" y="4565"/>
                      </a:lnTo>
                      <a:lnTo>
                        <a:pt x="11443" y="4410"/>
                      </a:lnTo>
                      <a:lnTo>
                        <a:pt x="11511" y="4240"/>
                      </a:lnTo>
                      <a:lnTo>
                        <a:pt x="11703" y="3887"/>
                      </a:lnTo>
                      <a:lnTo>
                        <a:pt x="11986" y="3505"/>
                      </a:lnTo>
                      <a:lnTo>
                        <a:pt x="12144" y="3265"/>
                      </a:lnTo>
                      <a:lnTo>
                        <a:pt x="12246" y="3025"/>
                      </a:lnTo>
                      <a:lnTo>
                        <a:pt x="12336" y="2756"/>
                      </a:lnTo>
                      <a:lnTo>
                        <a:pt x="12404" y="2445"/>
                      </a:lnTo>
                      <a:lnTo>
                        <a:pt x="12438" y="2176"/>
                      </a:lnTo>
                      <a:lnTo>
                        <a:pt x="12438" y="1880"/>
                      </a:lnTo>
                      <a:lnTo>
                        <a:pt x="12404" y="1583"/>
                      </a:lnTo>
                      <a:lnTo>
                        <a:pt x="12336" y="1314"/>
                      </a:lnTo>
                      <a:lnTo>
                        <a:pt x="12246" y="1046"/>
                      </a:lnTo>
                      <a:lnTo>
                        <a:pt x="12099" y="791"/>
                      </a:lnTo>
                      <a:lnTo>
                        <a:pt x="12008" y="692"/>
                      </a:lnTo>
                      <a:lnTo>
                        <a:pt x="11918" y="579"/>
                      </a:lnTo>
                      <a:lnTo>
                        <a:pt x="11816" y="466"/>
                      </a:lnTo>
                      <a:lnTo>
                        <a:pt x="11703" y="381"/>
                      </a:lnTo>
                      <a:lnTo>
                        <a:pt x="11579" y="310"/>
                      </a:lnTo>
                      <a:lnTo>
                        <a:pt x="11443" y="226"/>
                      </a:lnTo>
                      <a:lnTo>
                        <a:pt x="11297" y="169"/>
                      </a:lnTo>
                      <a:lnTo>
                        <a:pt x="11138" y="113"/>
                      </a:lnTo>
                      <a:lnTo>
                        <a:pt x="10969" y="56"/>
                      </a:lnTo>
                      <a:lnTo>
                        <a:pt x="10800" y="28"/>
                      </a:lnTo>
                      <a:lnTo>
                        <a:pt x="10619" y="28"/>
                      </a:lnTo>
                      <a:lnTo>
                        <a:pt x="10404" y="28"/>
                      </a:lnTo>
                      <a:lnTo>
                        <a:pt x="10257" y="28"/>
                      </a:lnTo>
                      <a:lnTo>
                        <a:pt x="10076" y="56"/>
                      </a:lnTo>
                      <a:lnTo>
                        <a:pt x="9952" y="84"/>
                      </a:lnTo>
                      <a:lnTo>
                        <a:pt x="9794" y="141"/>
                      </a:lnTo>
                      <a:lnTo>
                        <a:pt x="9692" y="226"/>
                      </a:lnTo>
                      <a:lnTo>
                        <a:pt x="9557" y="282"/>
                      </a:lnTo>
                      <a:lnTo>
                        <a:pt x="9455" y="381"/>
                      </a:lnTo>
                      <a:lnTo>
                        <a:pt x="9365" y="466"/>
                      </a:lnTo>
                      <a:lnTo>
                        <a:pt x="9274" y="579"/>
                      </a:lnTo>
                      <a:lnTo>
                        <a:pt x="9184" y="692"/>
                      </a:lnTo>
                      <a:lnTo>
                        <a:pt x="9128" y="791"/>
                      </a:lnTo>
                      <a:lnTo>
                        <a:pt x="9060" y="932"/>
                      </a:lnTo>
                      <a:lnTo>
                        <a:pt x="8969" y="1201"/>
                      </a:lnTo>
                      <a:lnTo>
                        <a:pt x="8913" y="1498"/>
                      </a:lnTo>
                      <a:lnTo>
                        <a:pt x="8890" y="1795"/>
                      </a:lnTo>
                      <a:lnTo>
                        <a:pt x="8890" y="2120"/>
                      </a:lnTo>
                      <a:lnTo>
                        <a:pt x="8913" y="2445"/>
                      </a:lnTo>
                      <a:lnTo>
                        <a:pt x="8969" y="2756"/>
                      </a:lnTo>
                      <a:lnTo>
                        <a:pt x="9060" y="3081"/>
                      </a:lnTo>
                      <a:lnTo>
                        <a:pt x="9173" y="3378"/>
                      </a:lnTo>
                      <a:lnTo>
                        <a:pt x="9297" y="3647"/>
                      </a:lnTo>
                      <a:lnTo>
                        <a:pt x="9466" y="3887"/>
                      </a:lnTo>
                      <a:lnTo>
                        <a:pt x="9579" y="4085"/>
                      </a:lnTo>
                      <a:lnTo>
                        <a:pt x="9670" y="4269"/>
                      </a:lnTo>
                      <a:lnTo>
                        <a:pt x="9726" y="4467"/>
                      </a:lnTo>
                      <a:lnTo>
                        <a:pt x="9771" y="4650"/>
                      </a:lnTo>
                      <a:lnTo>
                        <a:pt x="9771" y="4834"/>
                      </a:lnTo>
                      <a:lnTo>
                        <a:pt x="9749" y="5032"/>
                      </a:lnTo>
                      <a:lnTo>
                        <a:pt x="9715" y="5216"/>
                      </a:lnTo>
                      <a:lnTo>
                        <a:pt x="9625" y="5385"/>
                      </a:lnTo>
                      <a:lnTo>
                        <a:pt x="9534" y="5513"/>
                      </a:lnTo>
                      <a:lnTo>
                        <a:pt x="9410" y="5626"/>
                      </a:lnTo>
                      <a:lnTo>
                        <a:pt x="9229" y="5710"/>
                      </a:lnTo>
                      <a:lnTo>
                        <a:pt x="9060" y="5767"/>
                      </a:lnTo>
                      <a:lnTo>
                        <a:pt x="8845" y="5767"/>
                      </a:lnTo>
                      <a:lnTo>
                        <a:pt x="8585" y="5739"/>
                      </a:lnTo>
                      <a:lnTo>
                        <a:pt x="8325" y="5654"/>
                      </a:lnTo>
                      <a:lnTo>
                        <a:pt x="8020" y="5513"/>
                      </a:lnTo>
                      <a:lnTo>
                        <a:pt x="7840" y="5442"/>
                      </a:lnTo>
                      <a:lnTo>
                        <a:pt x="7648" y="5385"/>
                      </a:lnTo>
                      <a:lnTo>
                        <a:pt x="7433" y="5329"/>
                      </a:lnTo>
                      <a:lnTo>
                        <a:pt x="7241" y="5301"/>
                      </a:lnTo>
                      <a:lnTo>
                        <a:pt x="6755" y="5301"/>
                      </a:lnTo>
                      <a:lnTo>
                        <a:pt x="6281" y="5329"/>
                      </a:lnTo>
                      <a:lnTo>
                        <a:pt x="5784" y="5385"/>
                      </a:lnTo>
                      <a:lnTo>
                        <a:pt x="5264" y="5498"/>
                      </a:lnTo>
                      <a:lnTo>
                        <a:pt x="4744" y="5597"/>
                      </a:lnTo>
                      <a:lnTo>
                        <a:pt x="4247" y="5739"/>
                      </a:lnTo>
                      <a:lnTo>
                        <a:pt x="4202" y="5894"/>
                      </a:lnTo>
                      <a:lnTo>
                        <a:pt x="4202" y="6191"/>
                      </a:lnTo>
                      <a:lnTo>
                        <a:pt x="4202" y="6545"/>
                      </a:lnTo>
                      <a:lnTo>
                        <a:pt x="4225" y="6954"/>
                      </a:lnTo>
                      <a:lnTo>
                        <a:pt x="4315" y="7930"/>
                      </a:lnTo>
                      <a:lnTo>
                        <a:pt x="4394" y="9018"/>
                      </a:lnTo>
                      <a:lnTo>
                        <a:pt x="4439" y="9570"/>
                      </a:lnTo>
                      <a:lnTo>
                        <a:pt x="4462" y="10107"/>
                      </a:lnTo>
                      <a:lnTo>
                        <a:pt x="4484" y="10630"/>
                      </a:lnTo>
                      <a:lnTo>
                        <a:pt x="4507" y="11082"/>
                      </a:lnTo>
                      <a:lnTo>
                        <a:pt x="4484" y="11520"/>
                      </a:lnTo>
                      <a:lnTo>
                        <a:pt x="4439" y="11874"/>
                      </a:lnTo>
                      <a:lnTo>
                        <a:pt x="4394" y="12029"/>
                      </a:lnTo>
                      <a:lnTo>
                        <a:pt x="4349" y="12171"/>
                      </a:lnTo>
                      <a:lnTo>
                        <a:pt x="4315" y="12284"/>
                      </a:lnTo>
                      <a:lnTo>
                        <a:pt x="4247" y="12354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2844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31785" name="AutoShape 17"/>
                <p:cNvSpPr>
                  <a:spLocks noChangeArrowheads="1"/>
                </p:cNvSpPr>
                <p:nvPr/>
              </p:nvSpPr>
              <p:spPr bwMode="auto">
                <a:xfrm>
                  <a:off x="1010" y="877"/>
                  <a:ext cx="122" cy="23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2125 w 21600"/>
                    <a:gd name="T25" fmla="*/ 5627 h 21600"/>
                    <a:gd name="T26" fmla="*/ 20184 w 21600"/>
                    <a:gd name="T27" fmla="*/ 15973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3813" y="10590"/>
                      </a:moveTo>
                      <a:lnTo>
                        <a:pt x="3927" y="10513"/>
                      </a:lnTo>
                      <a:lnTo>
                        <a:pt x="4078" y="10425"/>
                      </a:lnTo>
                      <a:lnTo>
                        <a:pt x="4210" y="10359"/>
                      </a:lnTo>
                      <a:lnTo>
                        <a:pt x="4361" y="10315"/>
                      </a:lnTo>
                      <a:lnTo>
                        <a:pt x="4682" y="10237"/>
                      </a:lnTo>
                      <a:lnTo>
                        <a:pt x="5041" y="10193"/>
                      </a:lnTo>
                      <a:lnTo>
                        <a:pt x="5456" y="10171"/>
                      </a:lnTo>
                      <a:lnTo>
                        <a:pt x="5853" y="10193"/>
                      </a:lnTo>
                      <a:lnTo>
                        <a:pt x="6249" y="10260"/>
                      </a:lnTo>
                      <a:lnTo>
                        <a:pt x="6646" y="10337"/>
                      </a:lnTo>
                      <a:lnTo>
                        <a:pt x="7004" y="10469"/>
                      </a:lnTo>
                      <a:lnTo>
                        <a:pt x="7363" y="10612"/>
                      </a:lnTo>
                      <a:lnTo>
                        <a:pt x="7665" y="10788"/>
                      </a:lnTo>
                      <a:lnTo>
                        <a:pt x="7911" y="10998"/>
                      </a:lnTo>
                      <a:lnTo>
                        <a:pt x="8024" y="11097"/>
                      </a:lnTo>
                      <a:lnTo>
                        <a:pt x="8137" y="11207"/>
                      </a:lnTo>
                      <a:lnTo>
                        <a:pt x="8194" y="11340"/>
                      </a:lnTo>
                      <a:lnTo>
                        <a:pt x="8269" y="11461"/>
                      </a:lnTo>
                      <a:lnTo>
                        <a:pt x="8307" y="11593"/>
                      </a:lnTo>
                      <a:lnTo>
                        <a:pt x="8307" y="11714"/>
                      </a:lnTo>
                      <a:lnTo>
                        <a:pt x="8307" y="11868"/>
                      </a:lnTo>
                      <a:lnTo>
                        <a:pt x="8307" y="12012"/>
                      </a:lnTo>
                      <a:lnTo>
                        <a:pt x="8194" y="12265"/>
                      </a:lnTo>
                      <a:lnTo>
                        <a:pt x="8062" y="12519"/>
                      </a:lnTo>
                      <a:lnTo>
                        <a:pt x="7873" y="12706"/>
                      </a:lnTo>
                      <a:lnTo>
                        <a:pt x="7627" y="12904"/>
                      </a:lnTo>
                      <a:lnTo>
                        <a:pt x="7363" y="13048"/>
                      </a:lnTo>
                      <a:lnTo>
                        <a:pt x="7080" y="13180"/>
                      </a:lnTo>
                      <a:lnTo>
                        <a:pt x="6759" y="13257"/>
                      </a:lnTo>
                      <a:lnTo>
                        <a:pt x="6419" y="13345"/>
                      </a:lnTo>
                      <a:lnTo>
                        <a:pt x="6098" y="13389"/>
                      </a:lnTo>
                      <a:lnTo>
                        <a:pt x="5739" y="13389"/>
                      </a:lnTo>
                      <a:lnTo>
                        <a:pt x="5418" y="13389"/>
                      </a:lnTo>
                      <a:lnTo>
                        <a:pt x="5079" y="13345"/>
                      </a:lnTo>
                      <a:lnTo>
                        <a:pt x="4758" y="13301"/>
                      </a:lnTo>
                      <a:lnTo>
                        <a:pt x="4474" y="13213"/>
                      </a:lnTo>
                      <a:lnTo>
                        <a:pt x="4172" y="13114"/>
                      </a:lnTo>
                      <a:lnTo>
                        <a:pt x="3965" y="12982"/>
                      </a:lnTo>
                      <a:lnTo>
                        <a:pt x="3738" y="12838"/>
                      </a:lnTo>
                      <a:lnTo>
                        <a:pt x="3493" y="12706"/>
                      </a:lnTo>
                      <a:lnTo>
                        <a:pt x="3228" y="12607"/>
                      </a:lnTo>
                      <a:lnTo>
                        <a:pt x="2945" y="12519"/>
                      </a:lnTo>
                      <a:lnTo>
                        <a:pt x="2700" y="12431"/>
                      </a:lnTo>
                      <a:lnTo>
                        <a:pt x="2397" y="12375"/>
                      </a:lnTo>
                      <a:lnTo>
                        <a:pt x="2152" y="12331"/>
                      </a:lnTo>
                      <a:lnTo>
                        <a:pt x="1888" y="12309"/>
                      </a:lnTo>
                      <a:lnTo>
                        <a:pt x="1642" y="12309"/>
                      </a:lnTo>
                      <a:lnTo>
                        <a:pt x="1397" y="12331"/>
                      </a:lnTo>
                      <a:lnTo>
                        <a:pt x="1170" y="12397"/>
                      </a:lnTo>
                      <a:lnTo>
                        <a:pt x="962" y="12453"/>
                      </a:lnTo>
                      <a:lnTo>
                        <a:pt x="774" y="12563"/>
                      </a:lnTo>
                      <a:lnTo>
                        <a:pt x="623" y="12684"/>
                      </a:lnTo>
                      <a:lnTo>
                        <a:pt x="528" y="12838"/>
                      </a:lnTo>
                      <a:lnTo>
                        <a:pt x="453" y="13026"/>
                      </a:lnTo>
                      <a:lnTo>
                        <a:pt x="339" y="13477"/>
                      </a:lnTo>
                      <a:lnTo>
                        <a:pt x="226" y="13984"/>
                      </a:lnTo>
                      <a:lnTo>
                        <a:pt x="151" y="14535"/>
                      </a:lnTo>
                      <a:lnTo>
                        <a:pt x="113" y="15075"/>
                      </a:lnTo>
                      <a:lnTo>
                        <a:pt x="113" y="15626"/>
                      </a:lnTo>
                      <a:lnTo>
                        <a:pt x="151" y="16133"/>
                      </a:lnTo>
                      <a:lnTo>
                        <a:pt x="188" y="16376"/>
                      </a:lnTo>
                      <a:lnTo>
                        <a:pt x="264" y="16585"/>
                      </a:lnTo>
                      <a:lnTo>
                        <a:pt x="339" y="16773"/>
                      </a:lnTo>
                      <a:lnTo>
                        <a:pt x="453" y="16938"/>
                      </a:lnTo>
                      <a:lnTo>
                        <a:pt x="1095" y="16883"/>
                      </a:lnTo>
                      <a:lnTo>
                        <a:pt x="1963" y="16795"/>
                      </a:lnTo>
                      <a:lnTo>
                        <a:pt x="2945" y="16751"/>
                      </a:lnTo>
                      <a:lnTo>
                        <a:pt x="3965" y="16706"/>
                      </a:lnTo>
                      <a:lnTo>
                        <a:pt x="5022" y="16684"/>
                      </a:lnTo>
                      <a:lnTo>
                        <a:pt x="5947" y="16684"/>
                      </a:lnTo>
                      <a:lnTo>
                        <a:pt x="6759" y="16706"/>
                      </a:lnTo>
                      <a:lnTo>
                        <a:pt x="7363" y="16751"/>
                      </a:lnTo>
                      <a:lnTo>
                        <a:pt x="7948" y="16839"/>
                      </a:lnTo>
                      <a:lnTo>
                        <a:pt x="8458" y="16916"/>
                      </a:lnTo>
                      <a:lnTo>
                        <a:pt x="8893" y="17026"/>
                      </a:lnTo>
                      <a:lnTo>
                        <a:pt x="9289" y="17158"/>
                      </a:lnTo>
                      <a:lnTo>
                        <a:pt x="9572" y="17280"/>
                      </a:lnTo>
                      <a:lnTo>
                        <a:pt x="9799" y="17412"/>
                      </a:lnTo>
                      <a:lnTo>
                        <a:pt x="9969" y="17555"/>
                      </a:lnTo>
                      <a:lnTo>
                        <a:pt x="10120" y="17687"/>
                      </a:lnTo>
                      <a:lnTo>
                        <a:pt x="10158" y="17831"/>
                      </a:lnTo>
                      <a:lnTo>
                        <a:pt x="10195" y="17974"/>
                      </a:lnTo>
                      <a:lnTo>
                        <a:pt x="10158" y="18128"/>
                      </a:lnTo>
                      <a:lnTo>
                        <a:pt x="10082" y="18271"/>
                      </a:lnTo>
                      <a:lnTo>
                        <a:pt x="9969" y="18426"/>
                      </a:lnTo>
                      <a:lnTo>
                        <a:pt x="9837" y="18569"/>
                      </a:lnTo>
                      <a:lnTo>
                        <a:pt x="9648" y="18701"/>
                      </a:lnTo>
                      <a:lnTo>
                        <a:pt x="9440" y="18822"/>
                      </a:lnTo>
                      <a:lnTo>
                        <a:pt x="9213" y="18999"/>
                      </a:lnTo>
                      <a:lnTo>
                        <a:pt x="9044" y="19186"/>
                      </a:lnTo>
                      <a:lnTo>
                        <a:pt x="8893" y="19395"/>
                      </a:lnTo>
                      <a:lnTo>
                        <a:pt x="8817" y="19627"/>
                      </a:lnTo>
                      <a:lnTo>
                        <a:pt x="8779" y="19858"/>
                      </a:lnTo>
                      <a:lnTo>
                        <a:pt x="8779" y="20112"/>
                      </a:lnTo>
                      <a:lnTo>
                        <a:pt x="8855" y="20354"/>
                      </a:lnTo>
                      <a:lnTo>
                        <a:pt x="8968" y="20586"/>
                      </a:lnTo>
                      <a:lnTo>
                        <a:pt x="9138" y="20817"/>
                      </a:lnTo>
                      <a:lnTo>
                        <a:pt x="9365" y="21026"/>
                      </a:lnTo>
                      <a:lnTo>
                        <a:pt x="9610" y="21192"/>
                      </a:lnTo>
                      <a:lnTo>
                        <a:pt x="9950" y="21368"/>
                      </a:lnTo>
                      <a:lnTo>
                        <a:pt x="10120" y="21445"/>
                      </a:lnTo>
                      <a:lnTo>
                        <a:pt x="10346" y="21511"/>
                      </a:lnTo>
                      <a:lnTo>
                        <a:pt x="10516" y="21555"/>
                      </a:lnTo>
                      <a:lnTo>
                        <a:pt x="10743" y="21600"/>
                      </a:lnTo>
                      <a:lnTo>
                        <a:pt x="10988" y="21644"/>
                      </a:lnTo>
                      <a:lnTo>
                        <a:pt x="11215" y="21666"/>
                      </a:lnTo>
                      <a:lnTo>
                        <a:pt x="11498" y="21666"/>
                      </a:lnTo>
                      <a:lnTo>
                        <a:pt x="11762" y="21666"/>
                      </a:lnTo>
                      <a:lnTo>
                        <a:pt x="12253" y="21644"/>
                      </a:lnTo>
                      <a:lnTo>
                        <a:pt x="12763" y="21577"/>
                      </a:lnTo>
                      <a:lnTo>
                        <a:pt x="13197" y="21467"/>
                      </a:lnTo>
                      <a:lnTo>
                        <a:pt x="13556" y="21346"/>
                      </a:lnTo>
                      <a:lnTo>
                        <a:pt x="13896" y="21192"/>
                      </a:lnTo>
                      <a:lnTo>
                        <a:pt x="14179" y="21026"/>
                      </a:lnTo>
                      <a:lnTo>
                        <a:pt x="14444" y="20839"/>
                      </a:lnTo>
                      <a:lnTo>
                        <a:pt x="14576" y="20641"/>
                      </a:lnTo>
                      <a:lnTo>
                        <a:pt x="14727" y="20431"/>
                      </a:lnTo>
                      <a:lnTo>
                        <a:pt x="14765" y="20200"/>
                      </a:lnTo>
                      <a:lnTo>
                        <a:pt x="14802" y="19991"/>
                      </a:lnTo>
                      <a:lnTo>
                        <a:pt x="14727" y="19759"/>
                      </a:lnTo>
                      <a:lnTo>
                        <a:pt x="14613" y="19550"/>
                      </a:lnTo>
                      <a:lnTo>
                        <a:pt x="14444" y="19307"/>
                      </a:lnTo>
                      <a:lnTo>
                        <a:pt x="14217" y="19098"/>
                      </a:lnTo>
                      <a:lnTo>
                        <a:pt x="13934" y="18911"/>
                      </a:lnTo>
                      <a:lnTo>
                        <a:pt x="13669" y="18745"/>
                      </a:lnTo>
                      <a:lnTo>
                        <a:pt x="13462" y="18547"/>
                      </a:lnTo>
                      <a:lnTo>
                        <a:pt x="13311" y="18337"/>
                      </a:lnTo>
                      <a:lnTo>
                        <a:pt x="13197" y="18150"/>
                      </a:lnTo>
                      <a:lnTo>
                        <a:pt x="13122" y="17941"/>
                      </a:lnTo>
                      <a:lnTo>
                        <a:pt x="13122" y="17720"/>
                      </a:lnTo>
                      <a:lnTo>
                        <a:pt x="13122" y="17533"/>
                      </a:lnTo>
                      <a:lnTo>
                        <a:pt x="13197" y="17346"/>
                      </a:lnTo>
                      <a:lnTo>
                        <a:pt x="13273" y="17158"/>
                      </a:lnTo>
                      <a:lnTo>
                        <a:pt x="13386" y="16982"/>
                      </a:lnTo>
                      <a:lnTo>
                        <a:pt x="13537" y="16839"/>
                      </a:lnTo>
                      <a:lnTo>
                        <a:pt x="13707" y="16706"/>
                      </a:lnTo>
                      <a:lnTo>
                        <a:pt x="13896" y="16607"/>
                      </a:lnTo>
                      <a:lnTo>
                        <a:pt x="14104" y="16519"/>
                      </a:lnTo>
                      <a:lnTo>
                        <a:pt x="14330" y="16453"/>
                      </a:lnTo>
                      <a:lnTo>
                        <a:pt x="14538" y="16431"/>
                      </a:lnTo>
                      <a:lnTo>
                        <a:pt x="14897" y="16453"/>
                      </a:lnTo>
                      <a:lnTo>
                        <a:pt x="15406" y="16497"/>
                      </a:lnTo>
                      <a:lnTo>
                        <a:pt x="16105" y="16541"/>
                      </a:lnTo>
                      <a:lnTo>
                        <a:pt x="16898" y="16607"/>
                      </a:lnTo>
                      <a:lnTo>
                        <a:pt x="17804" y="16651"/>
                      </a:lnTo>
                      <a:lnTo>
                        <a:pt x="18786" y="16684"/>
                      </a:lnTo>
                      <a:lnTo>
                        <a:pt x="19844" y="16728"/>
                      </a:lnTo>
                      <a:lnTo>
                        <a:pt x="20920" y="16751"/>
                      </a:lnTo>
                      <a:lnTo>
                        <a:pt x="21109" y="16497"/>
                      </a:lnTo>
                      <a:lnTo>
                        <a:pt x="21241" y="16222"/>
                      </a:lnTo>
                      <a:lnTo>
                        <a:pt x="21392" y="15946"/>
                      </a:lnTo>
                      <a:lnTo>
                        <a:pt x="21467" y="15648"/>
                      </a:lnTo>
                      <a:lnTo>
                        <a:pt x="21543" y="15351"/>
                      </a:lnTo>
                      <a:lnTo>
                        <a:pt x="21618" y="15042"/>
                      </a:lnTo>
                      <a:lnTo>
                        <a:pt x="21618" y="14745"/>
                      </a:lnTo>
                      <a:lnTo>
                        <a:pt x="21618" y="14447"/>
                      </a:lnTo>
                      <a:lnTo>
                        <a:pt x="21618" y="14150"/>
                      </a:lnTo>
                      <a:lnTo>
                        <a:pt x="21581" y="13852"/>
                      </a:lnTo>
                      <a:lnTo>
                        <a:pt x="21505" y="13577"/>
                      </a:lnTo>
                      <a:lnTo>
                        <a:pt x="21430" y="13301"/>
                      </a:lnTo>
                      <a:lnTo>
                        <a:pt x="21354" y="13048"/>
                      </a:lnTo>
                      <a:lnTo>
                        <a:pt x="21241" y="12816"/>
                      </a:lnTo>
                      <a:lnTo>
                        <a:pt x="21146" y="12607"/>
                      </a:lnTo>
                      <a:lnTo>
                        <a:pt x="21033" y="12431"/>
                      </a:lnTo>
                      <a:lnTo>
                        <a:pt x="20920" y="12265"/>
                      </a:lnTo>
                      <a:lnTo>
                        <a:pt x="20769" y="12144"/>
                      </a:lnTo>
                      <a:lnTo>
                        <a:pt x="20637" y="12034"/>
                      </a:lnTo>
                      <a:lnTo>
                        <a:pt x="20486" y="11946"/>
                      </a:lnTo>
                      <a:lnTo>
                        <a:pt x="20297" y="11891"/>
                      </a:lnTo>
                      <a:lnTo>
                        <a:pt x="20165" y="11846"/>
                      </a:lnTo>
                      <a:lnTo>
                        <a:pt x="19976" y="11824"/>
                      </a:lnTo>
                      <a:lnTo>
                        <a:pt x="19806" y="11802"/>
                      </a:lnTo>
                      <a:lnTo>
                        <a:pt x="19390" y="11824"/>
                      </a:lnTo>
                      <a:lnTo>
                        <a:pt x="18956" y="11891"/>
                      </a:lnTo>
                      <a:lnTo>
                        <a:pt x="18503" y="11968"/>
                      </a:lnTo>
                      <a:lnTo>
                        <a:pt x="17993" y="12078"/>
                      </a:lnTo>
                      <a:lnTo>
                        <a:pt x="17653" y="12144"/>
                      </a:lnTo>
                      <a:lnTo>
                        <a:pt x="17332" y="12199"/>
                      </a:lnTo>
                      <a:lnTo>
                        <a:pt x="17049" y="12221"/>
                      </a:lnTo>
                      <a:lnTo>
                        <a:pt x="16747" y="12243"/>
                      </a:lnTo>
                      <a:lnTo>
                        <a:pt x="16464" y="12243"/>
                      </a:lnTo>
                      <a:lnTo>
                        <a:pt x="16218" y="12243"/>
                      </a:lnTo>
                      <a:lnTo>
                        <a:pt x="15992" y="12221"/>
                      </a:lnTo>
                      <a:lnTo>
                        <a:pt x="15746" y="12199"/>
                      </a:lnTo>
                      <a:lnTo>
                        <a:pt x="15520" y="12155"/>
                      </a:lnTo>
                      <a:lnTo>
                        <a:pt x="15350" y="12122"/>
                      </a:lnTo>
                      <a:lnTo>
                        <a:pt x="15161" y="12056"/>
                      </a:lnTo>
                      <a:lnTo>
                        <a:pt x="14972" y="11990"/>
                      </a:lnTo>
                      <a:lnTo>
                        <a:pt x="14689" y="11846"/>
                      </a:lnTo>
                      <a:lnTo>
                        <a:pt x="14444" y="11670"/>
                      </a:lnTo>
                      <a:lnTo>
                        <a:pt x="14255" y="11483"/>
                      </a:lnTo>
                      <a:lnTo>
                        <a:pt x="14104" y="11295"/>
                      </a:lnTo>
                      <a:lnTo>
                        <a:pt x="14028" y="11086"/>
                      </a:lnTo>
                      <a:lnTo>
                        <a:pt x="13972" y="10888"/>
                      </a:lnTo>
                      <a:lnTo>
                        <a:pt x="13972" y="10700"/>
                      </a:lnTo>
                      <a:lnTo>
                        <a:pt x="14009" y="10513"/>
                      </a:lnTo>
                      <a:lnTo>
                        <a:pt x="14066" y="10359"/>
                      </a:lnTo>
                      <a:lnTo>
                        <a:pt x="14179" y="10215"/>
                      </a:lnTo>
                      <a:lnTo>
                        <a:pt x="14406" y="10006"/>
                      </a:lnTo>
                      <a:lnTo>
                        <a:pt x="14651" y="9830"/>
                      </a:lnTo>
                      <a:lnTo>
                        <a:pt x="14878" y="9686"/>
                      </a:lnTo>
                      <a:lnTo>
                        <a:pt x="15123" y="9554"/>
                      </a:lnTo>
                      <a:lnTo>
                        <a:pt x="15350" y="9477"/>
                      </a:lnTo>
                      <a:lnTo>
                        <a:pt x="15558" y="9411"/>
                      </a:lnTo>
                      <a:lnTo>
                        <a:pt x="15803" y="9345"/>
                      </a:lnTo>
                      <a:lnTo>
                        <a:pt x="16030" y="9323"/>
                      </a:lnTo>
                      <a:lnTo>
                        <a:pt x="16256" y="9301"/>
                      </a:lnTo>
                      <a:lnTo>
                        <a:pt x="16464" y="9323"/>
                      </a:lnTo>
                      <a:lnTo>
                        <a:pt x="16690" y="9345"/>
                      </a:lnTo>
                      <a:lnTo>
                        <a:pt x="16898" y="9367"/>
                      </a:lnTo>
                      <a:lnTo>
                        <a:pt x="17332" y="9477"/>
                      </a:lnTo>
                      <a:lnTo>
                        <a:pt x="17767" y="9598"/>
                      </a:lnTo>
                      <a:lnTo>
                        <a:pt x="18163" y="9731"/>
                      </a:lnTo>
                      <a:lnTo>
                        <a:pt x="18597" y="9874"/>
                      </a:lnTo>
                      <a:lnTo>
                        <a:pt x="18994" y="10006"/>
                      </a:lnTo>
                      <a:lnTo>
                        <a:pt x="19428" y="10083"/>
                      </a:lnTo>
                      <a:lnTo>
                        <a:pt x="19617" y="10127"/>
                      </a:lnTo>
                      <a:lnTo>
                        <a:pt x="19844" y="10149"/>
                      </a:lnTo>
                      <a:lnTo>
                        <a:pt x="20013" y="10149"/>
                      </a:lnTo>
                      <a:lnTo>
                        <a:pt x="20240" y="10127"/>
                      </a:lnTo>
                      <a:lnTo>
                        <a:pt x="20410" y="10105"/>
                      </a:lnTo>
                      <a:lnTo>
                        <a:pt x="20637" y="10061"/>
                      </a:lnTo>
                      <a:lnTo>
                        <a:pt x="20844" y="9984"/>
                      </a:lnTo>
                      <a:lnTo>
                        <a:pt x="21033" y="9896"/>
                      </a:lnTo>
                      <a:lnTo>
                        <a:pt x="21146" y="9830"/>
                      </a:lnTo>
                      <a:lnTo>
                        <a:pt x="21203" y="9753"/>
                      </a:lnTo>
                      <a:lnTo>
                        <a:pt x="21279" y="9642"/>
                      </a:lnTo>
                      <a:lnTo>
                        <a:pt x="21354" y="9521"/>
                      </a:lnTo>
                      <a:lnTo>
                        <a:pt x="21430" y="9246"/>
                      </a:lnTo>
                      <a:lnTo>
                        <a:pt x="21430" y="8904"/>
                      </a:lnTo>
                      <a:lnTo>
                        <a:pt x="21430" y="8540"/>
                      </a:lnTo>
                      <a:lnTo>
                        <a:pt x="21392" y="8144"/>
                      </a:lnTo>
                      <a:lnTo>
                        <a:pt x="21354" y="7714"/>
                      </a:lnTo>
                      <a:lnTo>
                        <a:pt x="21279" y="7295"/>
                      </a:lnTo>
                      <a:lnTo>
                        <a:pt x="21146" y="6446"/>
                      </a:lnTo>
                      <a:lnTo>
                        <a:pt x="20995" y="5686"/>
                      </a:lnTo>
                      <a:lnTo>
                        <a:pt x="20958" y="5366"/>
                      </a:lnTo>
                      <a:lnTo>
                        <a:pt x="20958" y="5091"/>
                      </a:lnTo>
                      <a:lnTo>
                        <a:pt x="20958" y="4860"/>
                      </a:lnTo>
                      <a:lnTo>
                        <a:pt x="21033" y="4716"/>
                      </a:lnTo>
                      <a:lnTo>
                        <a:pt x="20637" y="4860"/>
                      </a:lnTo>
                      <a:lnTo>
                        <a:pt x="20127" y="4992"/>
                      </a:lnTo>
                      <a:lnTo>
                        <a:pt x="19617" y="5069"/>
                      </a:lnTo>
                      <a:lnTo>
                        <a:pt x="19032" y="5157"/>
                      </a:lnTo>
                      <a:lnTo>
                        <a:pt x="18465" y="5201"/>
                      </a:lnTo>
                      <a:lnTo>
                        <a:pt x="17842" y="5245"/>
                      </a:lnTo>
                      <a:lnTo>
                        <a:pt x="17219" y="5267"/>
                      </a:lnTo>
                      <a:lnTo>
                        <a:pt x="16615" y="5267"/>
                      </a:lnTo>
                      <a:lnTo>
                        <a:pt x="15992" y="5245"/>
                      </a:lnTo>
                      <a:lnTo>
                        <a:pt x="15369" y="5201"/>
                      </a:lnTo>
                      <a:lnTo>
                        <a:pt x="14840" y="5157"/>
                      </a:lnTo>
                      <a:lnTo>
                        <a:pt x="14293" y="5091"/>
                      </a:lnTo>
                      <a:lnTo>
                        <a:pt x="13783" y="5014"/>
                      </a:lnTo>
                      <a:lnTo>
                        <a:pt x="13386" y="4926"/>
                      </a:lnTo>
                      <a:lnTo>
                        <a:pt x="13027" y="4815"/>
                      </a:lnTo>
                      <a:lnTo>
                        <a:pt x="12725" y="4716"/>
                      </a:lnTo>
                      <a:lnTo>
                        <a:pt x="12480" y="4606"/>
                      </a:lnTo>
                      <a:lnTo>
                        <a:pt x="12291" y="4496"/>
                      </a:lnTo>
                      <a:lnTo>
                        <a:pt x="12197" y="4397"/>
                      </a:lnTo>
                      <a:lnTo>
                        <a:pt x="12083" y="4286"/>
                      </a:lnTo>
                      <a:lnTo>
                        <a:pt x="12046" y="4187"/>
                      </a:lnTo>
                      <a:lnTo>
                        <a:pt x="12008" y="4077"/>
                      </a:lnTo>
                      <a:lnTo>
                        <a:pt x="12046" y="3967"/>
                      </a:lnTo>
                      <a:lnTo>
                        <a:pt x="12121" y="3868"/>
                      </a:lnTo>
                      <a:lnTo>
                        <a:pt x="12197" y="3735"/>
                      </a:lnTo>
                      <a:lnTo>
                        <a:pt x="12291" y="3614"/>
                      </a:lnTo>
                      <a:lnTo>
                        <a:pt x="12442" y="3482"/>
                      </a:lnTo>
                      <a:lnTo>
                        <a:pt x="12631" y="3361"/>
                      </a:lnTo>
                      <a:lnTo>
                        <a:pt x="13065" y="3085"/>
                      </a:lnTo>
                      <a:lnTo>
                        <a:pt x="13537" y="2766"/>
                      </a:lnTo>
                      <a:lnTo>
                        <a:pt x="13783" y="2578"/>
                      </a:lnTo>
                      <a:lnTo>
                        <a:pt x="13934" y="2380"/>
                      </a:lnTo>
                      <a:lnTo>
                        <a:pt x="14028" y="2171"/>
                      </a:lnTo>
                      <a:lnTo>
                        <a:pt x="14104" y="1961"/>
                      </a:lnTo>
                      <a:lnTo>
                        <a:pt x="14104" y="1730"/>
                      </a:lnTo>
                      <a:lnTo>
                        <a:pt x="14066" y="1498"/>
                      </a:lnTo>
                      <a:lnTo>
                        <a:pt x="13972" y="1267"/>
                      </a:lnTo>
                      <a:lnTo>
                        <a:pt x="13820" y="1057"/>
                      </a:lnTo>
                      <a:lnTo>
                        <a:pt x="13594" y="837"/>
                      </a:lnTo>
                      <a:lnTo>
                        <a:pt x="13386" y="628"/>
                      </a:lnTo>
                      <a:lnTo>
                        <a:pt x="13103" y="462"/>
                      </a:lnTo>
                      <a:lnTo>
                        <a:pt x="12763" y="308"/>
                      </a:lnTo>
                      <a:lnTo>
                        <a:pt x="12404" y="187"/>
                      </a:lnTo>
                      <a:lnTo>
                        <a:pt x="12008" y="77"/>
                      </a:lnTo>
                      <a:lnTo>
                        <a:pt x="11574" y="33"/>
                      </a:lnTo>
                      <a:lnTo>
                        <a:pt x="11102" y="11"/>
                      </a:lnTo>
                      <a:lnTo>
                        <a:pt x="10667" y="11"/>
                      </a:lnTo>
                      <a:lnTo>
                        <a:pt x="10233" y="77"/>
                      </a:lnTo>
                      <a:lnTo>
                        <a:pt x="9837" y="187"/>
                      </a:lnTo>
                      <a:lnTo>
                        <a:pt x="9440" y="286"/>
                      </a:lnTo>
                      <a:lnTo>
                        <a:pt x="9062" y="462"/>
                      </a:lnTo>
                      <a:lnTo>
                        <a:pt x="8741" y="628"/>
                      </a:lnTo>
                      <a:lnTo>
                        <a:pt x="8458" y="815"/>
                      </a:lnTo>
                      <a:lnTo>
                        <a:pt x="8232" y="1035"/>
                      </a:lnTo>
                      <a:lnTo>
                        <a:pt x="8062" y="1245"/>
                      </a:lnTo>
                      <a:lnTo>
                        <a:pt x="7911" y="1476"/>
                      </a:lnTo>
                      <a:lnTo>
                        <a:pt x="7835" y="1708"/>
                      </a:lnTo>
                      <a:lnTo>
                        <a:pt x="7797" y="1961"/>
                      </a:lnTo>
                      <a:lnTo>
                        <a:pt x="7835" y="2193"/>
                      </a:lnTo>
                      <a:lnTo>
                        <a:pt x="7948" y="2402"/>
                      </a:lnTo>
                      <a:lnTo>
                        <a:pt x="8062" y="2534"/>
                      </a:lnTo>
                      <a:lnTo>
                        <a:pt x="8175" y="2644"/>
                      </a:lnTo>
                      <a:lnTo>
                        <a:pt x="8269" y="2744"/>
                      </a:lnTo>
                      <a:lnTo>
                        <a:pt x="8420" y="2832"/>
                      </a:lnTo>
                      <a:lnTo>
                        <a:pt x="8704" y="3019"/>
                      </a:lnTo>
                      <a:lnTo>
                        <a:pt x="8968" y="3206"/>
                      </a:lnTo>
                      <a:lnTo>
                        <a:pt x="9138" y="3405"/>
                      </a:lnTo>
                      <a:lnTo>
                        <a:pt x="9327" y="3570"/>
                      </a:lnTo>
                      <a:lnTo>
                        <a:pt x="9440" y="3735"/>
                      </a:lnTo>
                      <a:lnTo>
                        <a:pt x="9516" y="3890"/>
                      </a:lnTo>
                      <a:lnTo>
                        <a:pt x="9534" y="4033"/>
                      </a:lnTo>
                      <a:lnTo>
                        <a:pt x="9534" y="4165"/>
                      </a:lnTo>
                      <a:lnTo>
                        <a:pt x="9516" y="4286"/>
                      </a:lnTo>
                      <a:lnTo>
                        <a:pt x="9440" y="4397"/>
                      </a:lnTo>
                      <a:lnTo>
                        <a:pt x="9327" y="4496"/>
                      </a:lnTo>
                      <a:lnTo>
                        <a:pt x="9176" y="4562"/>
                      </a:lnTo>
                      <a:lnTo>
                        <a:pt x="9006" y="4628"/>
                      </a:lnTo>
                      <a:lnTo>
                        <a:pt x="8779" y="4694"/>
                      </a:lnTo>
                      <a:lnTo>
                        <a:pt x="8534" y="4716"/>
                      </a:lnTo>
                      <a:lnTo>
                        <a:pt x="8232" y="4716"/>
                      </a:lnTo>
                      <a:lnTo>
                        <a:pt x="7118" y="4738"/>
                      </a:lnTo>
                      <a:lnTo>
                        <a:pt x="5947" y="4771"/>
                      </a:lnTo>
                      <a:lnTo>
                        <a:pt x="4795" y="4815"/>
                      </a:lnTo>
                      <a:lnTo>
                        <a:pt x="3681" y="4860"/>
                      </a:lnTo>
                      <a:lnTo>
                        <a:pt x="2662" y="4882"/>
                      </a:lnTo>
                      <a:lnTo>
                        <a:pt x="1755" y="4882"/>
                      </a:lnTo>
                      <a:lnTo>
                        <a:pt x="1359" y="4860"/>
                      </a:lnTo>
                      <a:lnTo>
                        <a:pt x="981" y="4837"/>
                      </a:lnTo>
                      <a:lnTo>
                        <a:pt x="698" y="4771"/>
                      </a:lnTo>
                      <a:lnTo>
                        <a:pt x="453" y="4716"/>
                      </a:lnTo>
                      <a:lnTo>
                        <a:pt x="453" y="5322"/>
                      </a:lnTo>
                      <a:lnTo>
                        <a:pt x="453" y="6083"/>
                      </a:lnTo>
                      <a:lnTo>
                        <a:pt x="453" y="6909"/>
                      </a:lnTo>
                      <a:lnTo>
                        <a:pt x="453" y="7780"/>
                      </a:lnTo>
                      <a:lnTo>
                        <a:pt x="453" y="8606"/>
                      </a:lnTo>
                      <a:lnTo>
                        <a:pt x="453" y="9345"/>
                      </a:lnTo>
                      <a:lnTo>
                        <a:pt x="453" y="9918"/>
                      </a:lnTo>
                      <a:lnTo>
                        <a:pt x="453" y="10282"/>
                      </a:lnTo>
                      <a:lnTo>
                        <a:pt x="490" y="10381"/>
                      </a:lnTo>
                      <a:lnTo>
                        <a:pt x="547" y="10491"/>
                      </a:lnTo>
                      <a:lnTo>
                        <a:pt x="660" y="10590"/>
                      </a:lnTo>
                      <a:lnTo>
                        <a:pt x="811" y="10700"/>
                      </a:lnTo>
                      <a:lnTo>
                        <a:pt x="981" y="10811"/>
                      </a:lnTo>
                      <a:lnTo>
                        <a:pt x="1208" y="10888"/>
                      </a:lnTo>
                      <a:lnTo>
                        <a:pt x="1453" y="10954"/>
                      </a:lnTo>
                      <a:lnTo>
                        <a:pt x="1718" y="11020"/>
                      </a:lnTo>
                      <a:lnTo>
                        <a:pt x="1963" y="11064"/>
                      </a:lnTo>
                      <a:lnTo>
                        <a:pt x="2265" y="11086"/>
                      </a:lnTo>
                      <a:lnTo>
                        <a:pt x="2548" y="11064"/>
                      </a:lnTo>
                      <a:lnTo>
                        <a:pt x="2794" y="11042"/>
                      </a:lnTo>
                      <a:lnTo>
                        <a:pt x="3096" y="10976"/>
                      </a:lnTo>
                      <a:lnTo>
                        <a:pt x="3341" y="10888"/>
                      </a:lnTo>
                      <a:lnTo>
                        <a:pt x="3606" y="10766"/>
                      </a:lnTo>
                      <a:lnTo>
                        <a:pt x="3813" y="10590"/>
                      </a:lnTo>
                      <a:close/>
                    </a:path>
                  </a:pathLst>
                </a:custGeom>
                <a:solidFill>
                  <a:srgbClr val="D8EBB3"/>
                </a:solidFill>
                <a:ln w="2844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31786" name="AutoShape 18"/>
                <p:cNvSpPr>
                  <a:spLocks noChangeArrowheads="1"/>
                </p:cNvSpPr>
                <p:nvPr/>
              </p:nvSpPr>
              <p:spPr bwMode="auto">
                <a:xfrm>
                  <a:off x="968" y="792"/>
                  <a:ext cx="206" cy="14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6082 w 21600"/>
                    <a:gd name="T25" fmla="*/ 2586 h 21600"/>
                    <a:gd name="T26" fmla="*/ 16148 w 21600"/>
                    <a:gd name="T27" fmla="*/ 19470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9360" y="20836"/>
                      </a:moveTo>
                      <a:lnTo>
                        <a:pt x="9528" y="20836"/>
                      </a:lnTo>
                      <a:lnTo>
                        <a:pt x="9686" y="20762"/>
                      </a:lnTo>
                      <a:lnTo>
                        <a:pt x="9810" y="20687"/>
                      </a:lnTo>
                      <a:lnTo>
                        <a:pt x="9922" y="20575"/>
                      </a:lnTo>
                      <a:lnTo>
                        <a:pt x="10012" y="20426"/>
                      </a:lnTo>
                      <a:lnTo>
                        <a:pt x="10068" y="20296"/>
                      </a:lnTo>
                      <a:lnTo>
                        <a:pt x="10113" y="20110"/>
                      </a:lnTo>
                      <a:lnTo>
                        <a:pt x="10136" y="19905"/>
                      </a:lnTo>
                      <a:lnTo>
                        <a:pt x="10136" y="19682"/>
                      </a:lnTo>
                      <a:lnTo>
                        <a:pt x="10113" y="19440"/>
                      </a:lnTo>
                      <a:lnTo>
                        <a:pt x="10068" y="19142"/>
                      </a:lnTo>
                      <a:lnTo>
                        <a:pt x="10012" y="18900"/>
                      </a:lnTo>
                      <a:lnTo>
                        <a:pt x="9900" y="18620"/>
                      </a:lnTo>
                      <a:lnTo>
                        <a:pt x="9787" y="18285"/>
                      </a:lnTo>
                      <a:lnTo>
                        <a:pt x="9641" y="17968"/>
                      </a:lnTo>
                      <a:lnTo>
                        <a:pt x="9472" y="17652"/>
                      </a:lnTo>
                      <a:lnTo>
                        <a:pt x="9382" y="17466"/>
                      </a:lnTo>
                      <a:lnTo>
                        <a:pt x="9315" y="17298"/>
                      </a:lnTo>
                      <a:lnTo>
                        <a:pt x="9258" y="17112"/>
                      </a:lnTo>
                      <a:lnTo>
                        <a:pt x="9191" y="16926"/>
                      </a:lnTo>
                      <a:lnTo>
                        <a:pt x="9123" y="16535"/>
                      </a:lnTo>
                      <a:lnTo>
                        <a:pt x="9101" y="16144"/>
                      </a:lnTo>
                      <a:lnTo>
                        <a:pt x="9101" y="15753"/>
                      </a:lnTo>
                      <a:lnTo>
                        <a:pt x="9168" y="15362"/>
                      </a:lnTo>
                      <a:lnTo>
                        <a:pt x="9236" y="14971"/>
                      </a:lnTo>
                      <a:lnTo>
                        <a:pt x="9360" y="14580"/>
                      </a:lnTo>
                      <a:lnTo>
                        <a:pt x="9495" y="14244"/>
                      </a:lnTo>
                      <a:lnTo>
                        <a:pt x="9663" y="13891"/>
                      </a:lnTo>
                      <a:lnTo>
                        <a:pt x="9855" y="13611"/>
                      </a:lnTo>
                      <a:lnTo>
                        <a:pt x="10068" y="13351"/>
                      </a:lnTo>
                      <a:lnTo>
                        <a:pt x="10293" y="13146"/>
                      </a:lnTo>
                      <a:lnTo>
                        <a:pt x="10552" y="12997"/>
                      </a:lnTo>
                      <a:lnTo>
                        <a:pt x="10811" y="12885"/>
                      </a:lnTo>
                      <a:lnTo>
                        <a:pt x="11069" y="12866"/>
                      </a:lnTo>
                      <a:lnTo>
                        <a:pt x="11351" y="12885"/>
                      </a:lnTo>
                      <a:lnTo>
                        <a:pt x="11610" y="12997"/>
                      </a:lnTo>
                      <a:lnTo>
                        <a:pt x="11846" y="13183"/>
                      </a:lnTo>
                      <a:lnTo>
                        <a:pt x="12060" y="13388"/>
                      </a:lnTo>
                      <a:lnTo>
                        <a:pt x="12251" y="13648"/>
                      </a:lnTo>
                      <a:lnTo>
                        <a:pt x="12419" y="13928"/>
                      </a:lnTo>
                      <a:lnTo>
                        <a:pt x="12555" y="14244"/>
                      </a:lnTo>
                      <a:lnTo>
                        <a:pt x="12690" y="14617"/>
                      </a:lnTo>
                      <a:lnTo>
                        <a:pt x="12768" y="15008"/>
                      </a:lnTo>
                      <a:lnTo>
                        <a:pt x="12836" y="15399"/>
                      </a:lnTo>
                      <a:lnTo>
                        <a:pt x="12858" y="15753"/>
                      </a:lnTo>
                      <a:lnTo>
                        <a:pt x="12858" y="16144"/>
                      </a:lnTo>
                      <a:lnTo>
                        <a:pt x="12813" y="16535"/>
                      </a:lnTo>
                      <a:lnTo>
                        <a:pt x="12746" y="16888"/>
                      </a:lnTo>
                      <a:lnTo>
                        <a:pt x="12667" y="17224"/>
                      </a:lnTo>
                      <a:lnTo>
                        <a:pt x="12510" y="17503"/>
                      </a:lnTo>
                      <a:lnTo>
                        <a:pt x="12228" y="18043"/>
                      </a:lnTo>
                      <a:lnTo>
                        <a:pt x="11970" y="18546"/>
                      </a:lnTo>
                      <a:lnTo>
                        <a:pt x="11868" y="18751"/>
                      </a:lnTo>
                      <a:lnTo>
                        <a:pt x="11778" y="18974"/>
                      </a:lnTo>
                      <a:lnTo>
                        <a:pt x="11711" y="19179"/>
                      </a:lnTo>
                      <a:lnTo>
                        <a:pt x="11666" y="19365"/>
                      </a:lnTo>
                      <a:lnTo>
                        <a:pt x="11632" y="19570"/>
                      </a:lnTo>
                      <a:lnTo>
                        <a:pt x="11632" y="19756"/>
                      </a:lnTo>
                      <a:lnTo>
                        <a:pt x="11632" y="19942"/>
                      </a:lnTo>
                      <a:lnTo>
                        <a:pt x="11643" y="20110"/>
                      </a:lnTo>
                      <a:lnTo>
                        <a:pt x="11711" y="20296"/>
                      </a:lnTo>
                      <a:lnTo>
                        <a:pt x="11801" y="20464"/>
                      </a:lnTo>
                      <a:lnTo>
                        <a:pt x="11891" y="20650"/>
                      </a:lnTo>
                      <a:lnTo>
                        <a:pt x="12037" y="20836"/>
                      </a:lnTo>
                      <a:lnTo>
                        <a:pt x="12206" y="21004"/>
                      </a:lnTo>
                      <a:lnTo>
                        <a:pt x="12419" y="21190"/>
                      </a:lnTo>
                      <a:lnTo>
                        <a:pt x="12667" y="21320"/>
                      </a:lnTo>
                      <a:lnTo>
                        <a:pt x="12960" y="21432"/>
                      </a:lnTo>
                      <a:lnTo>
                        <a:pt x="13286" y="21544"/>
                      </a:lnTo>
                      <a:lnTo>
                        <a:pt x="13612" y="21655"/>
                      </a:lnTo>
                      <a:lnTo>
                        <a:pt x="13983" y="21693"/>
                      </a:lnTo>
                      <a:lnTo>
                        <a:pt x="14343" y="21730"/>
                      </a:lnTo>
                      <a:lnTo>
                        <a:pt x="14715" y="21730"/>
                      </a:lnTo>
                      <a:lnTo>
                        <a:pt x="15075" y="21730"/>
                      </a:lnTo>
                      <a:lnTo>
                        <a:pt x="15446" y="21655"/>
                      </a:lnTo>
                      <a:lnTo>
                        <a:pt x="15794" y="21581"/>
                      </a:lnTo>
                      <a:lnTo>
                        <a:pt x="16132" y="21432"/>
                      </a:lnTo>
                      <a:lnTo>
                        <a:pt x="16458" y="21302"/>
                      </a:lnTo>
                      <a:lnTo>
                        <a:pt x="16740" y="21078"/>
                      </a:lnTo>
                      <a:lnTo>
                        <a:pt x="16976" y="20836"/>
                      </a:lnTo>
                      <a:lnTo>
                        <a:pt x="17043" y="20650"/>
                      </a:lnTo>
                      <a:lnTo>
                        <a:pt x="17088" y="20426"/>
                      </a:lnTo>
                      <a:lnTo>
                        <a:pt x="17133" y="20222"/>
                      </a:lnTo>
                      <a:lnTo>
                        <a:pt x="17156" y="19980"/>
                      </a:lnTo>
                      <a:lnTo>
                        <a:pt x="17167" y="19477"/>
                      </a:lnTo>
                      <a:lnTo>
                        <a:pt x="17167" y="18974"/>
                      </a:lnTo>
                      <a:lnTo>
                        <a:pt x="17156" y="18397"/>
                      </a:lnTo>
                      <a:lnTo>
                        <a:pt x="17111" y="17820"/>
                      </a:lnTo>
                      <a:lnTo>
                        <a:pt x="17066" y="17261"/>
                      </a:lnTo>
                      <a:lnTo>
                        <a:pt x="16998" y="16646"/>
                      </a:lnTo>
                      <a:lnTo>
                        <a:pt x="16852" y="15511"/>
                      </a:lnTo>
                      <a:lnTo>
                        <a:pt x="16740" y="14393"/>
                      </a:lnTo>
                      <a:lnTo>
                        <a:pt x="16717" y="13928"/>
                      </a:lnTo>
                      <a:lnTo>
                        <a:pt x="16695" y="13462"/>
                      </a:lnTo>
                      <a:lnTo>
                        <a:pt x="16717" y="13071"/>
                      </a:lnTo>
                      <a:lnTo>
                        <a:pt x="16785" y="12755"/>
                      </a:lnTo>
                      <a:lnTo>
                        <a:pt x="16852" y="12419"/>
                      </a:lnTo>
                      <a:lnTo>
                        <a:pt x="16953" y="12140"/>
                      </a:lnTo>
                      <a:lnTo>
                        <a:pt x="17088" y="11898"/>
                      </a:lnTo>
                      <a:lnTo>
                        <a:pt x="17212" y="11675"/>
                      </a:lnTo>
                      <a:lnTo>
                        <a:pt x="17370" y="11470"/>
                      </a:lnTo>
                      <a:lnTo>
                        <a:pt x="17516" y="11284"/>
                      </a:lnTo>
                      <a:lnTo>
                        <a:pt x="17696" y="11135"/>
                      </a:lnTo>
                      <a:lnTo>
                        <a:pt x="17865" y="11042"/>
                      </a:lnTo>
                      <a:lnTo>
                        <a:pt x="18033" y="10930"/>
                      </a:lnTo>
                      <a:lnTo>
                        <a:pt x="18213" y="10893"/>
                      </a:lnTo>
                      <a:lnTo>
                        <a:pt x="18382" y="10893"/>
                      </a:lnTo>
                      <a:lnTo>
                        <a:pt x="18551" y="10967"/>
                      </a:lnTo>
                      <a:lnTo>
                        <a:pt x="18708" y="11042"/>
                      </a:lnTo>
                      <a:lnTo>
                        <a:pt x="18855" y="11172"/>
                      </a:lnTo>
                      <a:lnTo>
                        <a:pt x="19012" y="11358"/>
                      </a:lnTo>
                      <a:lnTo>
                        <a:pt x="19136" y="11600"/>
                      </a:lnTo>
                      <a:lnTo>
                        <a:pt x="19271" y="11861"/>
                      </a:lnTo>
                      <a:lnTo>
                        <a:pt x="19440" y="12028"/>
                      </a:lnTo>
                      <a:lnTo>
                        <a:pt x="19608" y="12177"/>
                      </a:lnTo>
                      <a:lnTo>
                        <a:pt x="19822" y="12289"/>
                      </a:lnTo>
                      <a:lnTo>
                        <a:pt x="20025" y="12289"/>
                      </a:lnTo>
                      <a:lnTo>
                        <a:pt x="20238" y="12289"/>
                      </a:lnTo>
                      <a:lnTo>
                        <a:pt x="20452" y="12215"/>
                      </a:lnTo>
                      <a:lnTo>
                        <a:pt x="20643" y="12103"/>
                      </a:lnTo>
                      <a:lnTo>
                        <a:pt x="20846" y="11973"/>
                      </a:lnTo>
                      <a:lnTo>
                        <a:pt x="21037" y="11786"/>
                      </a:lnTo>
                      <a:lnTo>
                        <a:pt x="21206" y="11563"/>
                      </a:lnTo>
                      <a:lnTo>
                        <a:pt x="21363" y="11321"/>
                      </a:lnTo>
                      <a:lnTo>
                        <a:pt x="21465" y="11079"/>
                      </a:lnTo>
                      <a:lnTo>
                        <a:pt x="21577" y="10744"/>
                      </a:lnTo>
                      <a:lnTo>
                        <a:pt x="21622" y="10427"/>
                      </a:lnTo>
                      <a:lnTo>
                        <a:pt x="21645" y="10111"/>
                      </a:lnTo>
                      <a:lnTo>
                        <a:pt x="21622" y="9608"/>
                      </a:lnTo>
                      <a:lnTo>
                        <a:pt x="21577" y="9142"/>
                      </a:lnTo>
                      <a:lnTo>
                        <a:pt x="21465" y="8751"/>
                      </a:lnTo>
                      <a:lnTo>
                        <a:pt x="21363" y="8397"/>
                      </a:lnTo>
                      <a:lnTo>
                        <a:pt x="21206" y="8062"/>
                      </a:lnTo>
                      <a:lnTo>
                        <a:pt x="21037" y="7820"/>
                      </a:lnTo>
                      <a:lnTo>
                        <a:pt x="20846" y="7597"/>
                      </a:lnTo>
                      <a:lnTo>
                        <a:pt x="20643" y="7429"/>
                      </a:lnTo>
                      <a:lnTo>
                        <a:pt x="20452" y="7317"/>
                      </a:lnTo>
                      <a:lnTo>
                        <a:pt x="20238" y="7206"/>
                      </a:lnTo>
                      <a:lnTo>
                        <a:pt x="20025" y="7168"/>
                      </a:lnTo>
                      <a:lnTo>
                        <a:pt x="19822" y="7206"/>
                      </a:lnTo>
                      <a:lnTo>
                        <a:pt x="19608" y="7243"/>
                      </a:lnTo>
                      <a:lnTo>
                        <a:pt x="19440" y="7355"/>
                      </a:lnTo>
                      <a:lnTo>
                        <a:pt x="19271" y="7504"/>
                      </a:lnTo>
                      <a:lnTo>
                        <a:pt x="19136" y="7708"/>
                      </a:lnTo>
                      <a:lnTo>
                        <a:pt x="19012" y="7895"/>
                      </a:lnTo>
                      <a:lnTo>
                        <a:pt x="18832" y="8025"/>
                      </a:lnTo>
                      <a:lnTo>
                        <a:pt x="18663" y="8174"/>
                      </a:lnTo>
                      <a:lnTo>
                        <a:pt x="18472" y="8248"/>
                      </a:lnTo>
                      <a:lnTo>
                        <a:pt x="18270" y="8286"/>
                      </a:lnTo>
                      <a:lnTo>
                        <a:pt x="18078" y="8323"/>
                      </a:lnTo>
                      <a:lnTo>
                        <a:pt x="17887" y="8323"/>
                      </a:lnTo>
                      <a:lnTo>
                        <a:pt x="17696" y="8248"/>
                      </a:lnTo>
                      <a:lnTo>
                        <a:pt x="17493" y="8174"/>
                      </a:lnTo>
                      <a:lnTo>
                        <a:pt x="17302" y="8062"/>
                      </a:lnTo>
                      <a:lnTo>
                        <a:pt x="17133" y="7969"/>
                      </a:lnTo>
                      <a:lnTo>
                        <a:pt x="16976" y="7783"/>
                      </a:lnTo>
                      <a:lnTo>
                        <a:pt x="16852" y="7597"/>
                      </a:lnTo>
                      <a:lnTo>
                        <a:pt x="16740" y="7429"/>
                      </a:lnTo>
                      <a:lnTo>
                        <a:pt x="16672" y="7168"/>
                      </a:lnTo>
                      <a:lnTo>
                        <a:pt x="16638" y="6926"/>
                      </a:lnTo>
                      <a:lnTo>
                        <a:pt x="16616" y="6498"/>
                      </a:lnTo>
                      <a:lnTo>
                        <a:pt x="16616" y="5772"/>
                      </a:lnTo>
                      <a:lnTo>
                        <a:pt x="16650" y="4915"/>
                      </a:lnTo>
                      <a:lnTo>
                        <a:pt x="16695" y="3928"/>
                      </a:lnTo>
                      <a:lnTo>
                        <a:pt x="16762" y="2960"/>
                      </a:lnTo>
                      <a:lnTo>
                        <a:pt x="16830" y="1992"/>
                      </a:lnTo>
                      <a:lnTo>
                        <a:pt x="16908" y="1173"/>
                      </a:lnTo>
                      <a:lnTo>
                        <a:pt x="16976" y="521"/>
                      </a:lnTo>
                      <a:lnTo>
                        <a:pt x="16953" y="521"/>
                      </a:lnTo>
                      <a:lnTo>
                        <a:pt x="16931" y="521"/>
                      </a:lnTo>
                      <a:lnTo>
                        <a:pt x="16267" y="484"/>
                      </a:lnTo>
                      <a:lnTo>
                        <a:pt x="15637" y="428"/>
                      </a:lnTo>
                      <a:lnTo>
                        <a:pt x="15063" y="353"/>
                      </a:lnTo>
                      <a:lnTo>
                        <a:pt x="14523" y="279"/>
                      </a:lnTo>
                      <a:lnTo>
                        <a:pt x="14040" y="167"/>
                      </a:lnTo>
                      <a:lnTo>
                        <a:pt x="13635" y="93"/>
                      </a:lnTo>
                      <a:lnTo>
                        <a:pt x="13331" y="18"/>
                      </a:lnTo>
                      <a:lnTo>
                        <a:pt x="13117" y="18"/>
                      </a:lnTo>
                      <a:lnTo>
                        <a:pt x="12982" y="18"/>
                      </a:lnTo>
                      <a:lnTo>
                        <a:pt x="12858" y="130"/>
                      </a:lnTo>
                      <a:lnTo>
                        <a:pt x="12723" y="279"/>
                      </a:lnTo>
                      <a:lnTo>
                        <a:pt x="12622" y="446"/>
                      </a:lnTo>
                      <a:lnTo>
                        <a:pt x="12510" y="670"/>
                      </a:lnTo>
                      <a:lnTo>
                        <a:pt x="12419" y="912"/>
                      </a:lnTo>
                      <a:lnTo>
                        <a:pt x="12363" y="1210"/>
                      </a:lnTo>
                      <a:lnTo>
                        <a:pt x="12318" y="1526"/>
                      </a:lnTo>
                      <a:lnTo>
                        <a:pt x="12273" y="1843"/>
                      </a:lnTo>
                      <a:lnTo>
                        <a:pt x="12251" y="2215"/>
                      </a:lnTo>
                      <a:lnTo>
                        <a:pt x="12273" y="2532"/>
                      </a:lnTo>
                      <a:lnTo>
                        <a:pt x="12318" y="2886"/>
                      </a:lnTo>
                      <a:lnTo>
                        <a:pt x="12386" y="3240"/>
                      </a:lnTo>
                      <a:lnTo>
                        <a:pt x="12464" y="3556"/>
                      </a:lnTo>
                      <a:lnTo>
                        <a:pt x="12577" y="3891"/>
                      </a:lnTo>
                      <a:lnTo>
                        <a:pt x="12746" y="4171"/>
                      </a:lnTo>
                      <a:lnTo>
                        <a:pt x="12926" y="4487"/>
                      </a:lnTo>
                      <a:lnTo>
                        <a:pt x="13050" y="4860"/>
                      </a:lnTo>
                      <a:lnTo>
                        <a:pt x="13162" y="5251"/>
                      </a:lnTo>
                      <a:lnTo>
                        <a:pt x="13218" y="5604"/>
                      </a:lnTo>
                      <a:lnTo>
                        <a:pt x="13263" y="5995"/>
                      </a:lnTo>
                      <a:lnTo>
                        <a:pt x="13241" y="6386"/>
                      </a:lnTo>
                      <a:lnTo>
                        <a:pt x="13218" y="6740"/>
                      </a:lnTo>
                      <a:lnTo>
                        <a:pt x="13139" y="7094"/>
                      </a:lnTo>
                      <a:lnTo>
                        <a:pt x="13050" y="7429"/>
                      </a:lnTo>
                      <a:lnTo>
                        <a:pt x="12903" y="7746"/>
                      </a:lnTo>
                      <a:lnTo>
                        <a:pt x="12723" y="8025"/>
                      </a:lnTo>
                      <a:lnTo>
                        <a:pt x="12532" y="8286"/>
                      </a:lnTo>
                      <a:lnTo>
                        <a:pt x="12318" y="8491"/>
                      </a:lnTo>
                      <a:lnTo>
                        <a:pt x="12060" y="8677"/>
                      </a:lnTo>
                      <a:lnTo>
                        <a:pt x="11756" y="8788"/>
                      </a:lnTo>
                      <a:lnTo>
                        <a:pt x="11452" y="8826"/>
                      </a:lnTo>
                      <a:lnTo>
                        <a:pt x="11283" y="8826"/>
                      </a:lnTo>
                      <a:lnTo>
                        <a:pt x="11126" y="8826"/>
                      </a:lnTo>
                      <a:lnTo>
                        <a:pt x="11002" y="8788"/>
                      </a:lnTo>
                      <a:lnTo>
                        <a:pt x="10845" y="8714"/>
                      </a:lnTo>
                      <a:lnTo>
                        <a:pt x="10721" y="8640"/>
                      </a:lnTo>
                      <a:lnTo>
                        <a:pt x="10608" y="8565"/>
                      </a:lnTo>
                      <a:lnTo>
                        <a:pt x="10485" y="8453"/>
                      </a:lnTo>
                      <a:lnTo>
                        <a:pt x="10372" y="8323"/>
                      </a:lnTo>
                      <a:lnTo>
                        <a:pt x="10181" y="8062"/>
                      </a:lnTo>
                      <a:lnTo>
                        <a:pt x="10035" y="7746"/>
                      </a:lnTo>
                      <a:lnTo>
                        <a:pt x="9900" y="7392"/>
                      </a:lnTo>
                      <a:lnTo>
                        <a:pt x="9787" y="7001"/>
                      </a:lnTo>
                      <a:lnTo>
                        <a:pt x="9731" y="6610"/>
                      </a:lnTo>
                      <a:lnTo>
                        <a:pt x="9686" y="6219"/>
                      </a:lnTo>
                      <a:lnTo>
                        <a:pt x="9663" y="5772"/>
                      </a:lnTo>
                      <a:lnTo>
                        <a:pt x="9686" y="5381"/>
                      </a:lnTo>
                      <a:lnTo>
                        <a:pt x="9753" y="4990"/>
                      </a:lnTo>
                      <a:lnTo>
                        <a:pt x="9832" y="4636"/>
                      </a:lnTo>
                      <a:lnTo>
                        <a:pt x="9945" y="4320"/>
                      </a:lnTo>
                      <a:lnTo>
                        <a:pt x="10068" y="4022"/>
                      </a:lnTo>
                      <a:lnTo>
                        <a:pt x="10203" y="3817"/>
                      </a:lnTo>
                      <a:lnTo>
                        <a:pt x="10316" y="3593"/>
                      </a:lnTo>
                      <a:lnTo>
                        <a:pt x="10395" y="3351"/>
                      </a:lnTo>
                      <a:lnTo>
                        <a:pt x="10462" y="3109"/>
                      </a:lnTo>
                      <a:lnTo>
                        <a:pt x="10507" y="2848"/>
                      </a:lnTo>
                      <a:lnTo>
                        <a:pt x="10530" y="2606"/>
                      </a:lnTo>
                      <a:lnTo>
                        <a:pt x="10507" y="2346"/>
                      </a:lnTo>
                      <a:lnTo>
                        <a:pt x="10462" y="2141"/>
                      </a:lnTo>
                      <a:lnTo>
                        <a:pt x="10395" y="1880"/>
                      </a:lnTo>
                      <a:lnTo>
                        <a:pt x="10293" y="1638"/>
                      </a:lnTo>
                      <a:lnTo>
                        <a:pt x="10158" y="1415"/>
                      </a:lnTo>
                      <a:lnTo>
                        <a:pt x="9967" y="1210"/>
                      </a:lnTo>
                      <a:lnTo>
                        <a:pt x="9753" y="986"/>
                      </a:lnTo>
                      <a:lnTo>
                        <a:pt x="9495" y="819"/>
                      </a:lnTo>
                      <a:lnTo>
                        <a:pt x="9191" y="670"/>
                      </a:lnTo>
                      <a:lnTo>
                        <a:pt x="8842" y="521"/>
                      </a:lnTo>
                      <a:lnTo>
                        <a:pt x="8471" y="446"/>
                      </a:lnTo>
                      <a:lnTo>
                        <a:pt x="7998" y="428"/>
                      </a:lnTo>
                      <a:lnTo>
                        <a:pt x="7413" y="428"/>
                      </a:lnTo>
                      <a:lnTo>
                        <a:pt x="6817" y="446"/>
                      </a:lnTo>
                      <a:lnTo>
                        <a:pt x="6187" y="521"/>
                      </a:lnTo>
                      <a:lnTo>
                        <a:pt x="5602" y="633"/>
                      </a:lnTo>
                      <a:lnTo>
                        <a:pt x="5107" y="744"/>
                      </a:lnTo>
                      <a:lnTo>
                        <a:pt x="4725" y="856"/>
                      </a:lnTo>
                      <a:lnTo>
                        <a:pt x="4848" y="1564"/>
                      </a:lnTo>
                      <a:lnTo>
                        <a:pt x="5028" y="2495"/>
                      </a:lnTo>
                      <a:lnTo>
                        <a:pt x="5175" y="3556"/>
                      </a:lnTo>
                      <a:lnTo>
                        <a:pt x="5298" y="4673"/>
                      </a:lnTo>
                      <a:lnTo>
                        <a:pt x="5343" y="5213"/>
                      </a:lnTo>
                      <a:lnTo>
                        <a:pt x="5388" y="5753"/>
                      </a:lnTo>
                      <a:lnTo>
                        <a:pt x="5411" y="6275"/>
                      </a:lnTo>
                      <a:lnTo>
                        <a:pt x="5411" y="6740"/>
                      </a:lnTo>
                      <a:lnTo>
                        <a:pt x="5366" y="7168"/>
                      </a:lnTo>
                      <a:lnTo>
                        <a:pt x="5321" y="7541"/>
                      </a:lnTo>
                      <a:lnTo>
                        <a:pt x="5287" y="7708"/>
                      </a:lnTo>
                      <a:lnTo>
                        <a:pt x="5242" y="7857"/>
                      </a:lnTo>
                      <a:lnTo>
                        <a:pt x="5197" y="7969"/>
                      </a:lnTo>
                      <a:lnTo>
                        <a:pt x="5130" y="8062"/>
                      </a:lnTo>
                      <a:lnTo>
                        <a:pt x="5006" y="8248"/>
                      </a:lnTo>
                      <a:lnTo>
                        <a:pt x="4848" y="8397"/>
                      </a:lnTo>
                      <a:lnTo>
                        <a:pt x="4725" y="8528"/>
                      </a:lnTo>
                      <a:lnTo>
                        <a:pt x="4567" y="8640"/>
                      </a:lnTo>
                      <a:lnTo>
                        <a:pt x="4421" y="8714"/>
                      </a:lnTo>
                      <a:lnTo>
                        <a:pt x="4263" y="8751"/>
                      </a:lnTo>
                      <a:lnTo>
                        <a:pt x="4095" y="8788"/>
                      </a:lnTo>
                      <a:lnTo>
                        <a:pt x="3948" y="8788"/>
                      </a:lnTo>
                      <a:lnTo>
                        <a:pt x="3791" y="8751"/>
                      </a:lnTo>
                      <a:lnTo>
                        <a:pt x="3667" y="8714"/>
                      </a:lnTo>
                      <a:lnTo>
                        <a:pt x="3510" y="8677"/>
                      </a:lnTo>
                      <a:lnTo>
                        <a:pt x="3386" y="8602"/>
                      </a:lnTo>
                      <a:lnTo>
                        <a:pt x="3251" y="8491"/>
                      </a:lnTo>
                      <a:lnTo>
                        <a:pt x="3127" y="8360"/>
                      </a:lnTo>
                      <a:lnTo>
                        <a:pt x="3015" y="8248"/>
                      </a:lnTo>
                      <a:lnTo>
                        <a:pt x="2925" y="8062"/>
                      </a:lnTo>
                      <a:lnTo>
                        <a:pt x="2778" y="7857"/>
                      </a:lnTo>
                      <a:lnTo>
                        <a:pt x="2610" y="7671"/>
                      </a:lnTo>
                      <a:lnTo>
                        <a:pt x="2407" y="7541"/>
                      </a:lnTo>
                      <a:lnTo>
                        <a:pt x="2171" y="7466"/>
                      </a:lnTo>
                      <a:lnTo>
                        <a:pt x="1957" y="7429"/>
                      </a:lnTo>
                      <a:lnTo>
                        <a:pt x="1698" y="7429"/>
                      </a:lnTo>
                      <a:lnTo>
                        <a:pt x="1462" y="7466"/>
                      </a:lnTo>
                      <a:lnTo>
                        <a:pt x="1226" y="7559"/>
                      </a:lnTo>
                      <a:lnTo>
                        <a:pt x="989" y="7708"/>
                      </a:lnTo>
                      <a:lnTo>
                        <a:pt x="776" y="7932"/>
                      </a:lnTo>
                      <a:lnTo>
                        <a:pt x="551" y="8211"/>
                      </a:lnTo>
                      <a:lnTo>
                        <a:pt x="382" y="8528"/>
                      </a:lnTo>
                      <a:lnTo>
                        <a:pt x="315" y="8714"/>
                      </a:lnTo>
                      <a:lnTo>
                        <a:pt x="236" y="8919"/>
                      </a:lnTo>
                      <a:lnTo>
                        <a:pt x="191" y="9142"/>
                      </a:lnTo>
                      <a:lnTo>
                        <a:pt x="123" y="9347"/>
                      </a:lnTo>
                      <a:lnTo>
                        <a:pt x="78" y="9608"/>
                      </a:lnTo>
                      <a:lnTo>
                        <a:pt x="56" y="9887"/>
                      </a:lnTo>
                      <a:lnTo>
                        <a:pt x="33" y="10185"/>
                      </a:lnTo>
                      <a:lnTo>
                        <a:pt x="33" y="10464"/>
                      </a:lnTo>
                      <a:lnTo>
                        <a:pt x="33" y="10706"/>
                      </a:lnTo>
                      <a:lnTo>
                        <a:pt x="56" y="10967"/>
                      </a:lnTo>
                      <a:lnTo>
                        <a:pt x="78" y="11172"/>
                      </a:lnTo>
                      <a:lnTo>
                        <a:pt x="123" y="11395"/>
                      </a:lnTo>
                      <a:lnTo>
                        <a:pt x="168" y="11600"/>
                      </a:lnTo>
                      <a:lnTo>
                        <a:pt x="236" y="11786"/>
                      </a:lnTo>
                      <a:lnTo>
                        <a:pt x="292" y="11973"/>
                      </a:lnTo>
                      <a:lnTo>
                        <a:pt x="382" y="12140"/>
                      </a:lnTo>
                      <a:lnTo>
                        <a:pt x="540" y="12419"/>
                      </a:lnTo>
                      <a:lnTo>
                        <a:pt x="731" y="12680"/>
                      </a:lnTo>
                      <a:lnTo>
                        <a:pt x="944" y="12866"/>
                      </a:lnTo>
                      <a:lnTo>
                        <a:pt x="1158" y="12997"/>
                      </a:lnTo>
                      <a:lnTo>
                        <a:pt x="1395" y="13108"/>
                      </a:lnTo>
                      <a:lnTo>
                        <a:pt x="1608" y="13183"/>
                      </a:lnTo>
                      <a:lnTo>
                        <a:pt x="1856" y="13183"/>
                      </a:lnTo>
                      <a:lnTo>
                        <a:pt x="2070" y="13146"/>
                      </a:lnTo>
                      <a:lnTo>
                        <a:pt x="2261" y="13071"/>
                      </a:lnTo>
                      <a:lnTo>
                        <a:pt x="2430" y="12960"/>
                      </a:lnTo>
                      <a:lnTo>
                        <a:pt x="2587" y="12792"/>
                      </a:lnTo>
                      <a:lnTo>
                        <a:pt x="2688" y="12606"/>
                      </a:lnTo>
                      <a:lnTo>
                        <a:pt x="2801" y="12419"/>
                      </a:lnTo>
                      <a:lnTo>
                        <a:pt x="2925" y="12289"/>
                      </a:lnTo>
                      <a:lnTo>
                        <a:pt x="3082" y="12177"/>
                      </a:lnTo>
                      <a:lnTo>
                        <a:pt x="3228" y="12103"/>
                      </a:lnTo>
                      <a:lnTo>
                        <a:pt x="3408" y="12103"/>
                      </a:lnTo>
                      <a:lnTo>
                        <a:pt x="3577" y="12103"/>
                      </a:lnTo>
                      <a:lnTo>
                        <a:pt x="3723" y="12177"/>
                      </a:lnTo>
                      <a:lnTo>
                        <a:pt x="3903" y="12252"/>
                      </a:lnTo>
                      <a:lnTo>
                        <a:pt x="4072" y="12364"/>
                      </a:lnTo>
                      <a:lnTo>
                        <a:pt x="4230" y="12494"/>
                      </a:lnTo>
                      <a:lnTo>
                        <a:pt x="4353" y="12643"/>
                      </a:lnTo>
                      <a:lnTo>
                        <a:pt x="4488" y="12829"/>
                      </a:lnTo>
                      <a:lnTo>
                        <a:pt x="4567" y="13034"/>
                      </a:lnTo>
                      <a:lnTo>
                        <a:pt x="4657" y="13257"/>
                      </a:lnTo>
                      <a:lnTo>
                        <a:pt x="4702" y="13462"/>
                      </a:lnTo>
                      <a:lnTo>
                        <a:pt x="4725" y="13686"/>
                      </a:lnTo>
                      <a:lnTo>
                        <a:pt x="4702" y="14282"/>
                      </a:lnTo>
                      <a:lnTo>
                        <a:pt x="4657" y="15045"/>
                      </a:lnTo>
                      <a:lnTo>
                        <a:pt x="4612" y="15976"/>
                      </a:lnTo>
                      <a:lnTo>
                        <a:pt x="4590" y="16926"/>
                      </a:lnTo>
                      <a:lnTo>
                        <a:pt x="4567" y="17968"/>
                      </a:lnTo>
                      <a:lnTo>
                        <a:pt x="4567" y="19011"/>
                      </a:lnTo>
                      <a:lnTo>
                        <a:pt x="4590" y="19514"/>
                      </a:lnTo>
                      <a:lnTo>
                        <a:pt x="4612" y="19980"/>
                      </a:lnTo>
                      <a:lnTo>
                        <a:pt x="4657" y="20426"/>
                      </a:lnTo>
                      <a:lnTo>
                        <a:pt x="4725" y="20836"/>
                      </a:lnTo>
                      <a:lnTo>
                        <a:pt x="4848" y="20929"/>
                      </a:lnTo>
                      <a:lnTo>
                        <a:pt x="5040" y="21004"/>
                      </a:lnTo>
                      <a:lnTo>
                        <a:pt x="5265" y="21078"/>
                      </a:lnTo>
                      <a:lnTo>
                        <a:pt x="5478" y="21115"/>
                      </a:lnTo>
                      <a:lnTo>
                        <a:pt x="6041" y="21115"/>
                      </a:lnTo>
                      <a:lnTo>
                        <a:pt x="6637" y="21078"/>
                      </a:lnTo>
                      <a:lnTo>
                        <a:pt x="7312" y="21004"/>
                      </a:lnTo>
                      <a:lnTo>
                        <a:pt x="7998" y="20929"/>
                      </a:lnTo>
                      <a:lnTo>
                        <a:pt x="8696" y="20855"/>
                      </a:lnTo>
                      <a:lnTo>
                        <a:pt x="9360" y="20836"/>
                      </a:lnTo>
                      <a:close/>
                    </a:path>
                  </a:pathLst>
                </a:custGeom>
                <a:solidFill>
                  <a:srgbClr val="CCCCFF"/>
                </a:solidFill>
                <a:ln w="2844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31757" name="Group 36"/>
              <p:cNvGrpSpPr>
                <a:grpSpLocks/>
              </p:cNvGrpSpPr>
              <p:nvPr/>
            </p:nvGrpSpPr>
            <p:grpSpPr bwMode="auto">
              <a:xfrm>
                <a:off x="422275" y="1700213"/>
                <a:ext cx="2697163" cy="1709737"/>
                <a:chOff x="266" y="1180"/>
                <a:chExt cx="1699" cy="1077"/>
              </a:xfrm>
            </p:grpSpPr>
            <p:sp>
              <p:nvSpPr>
                <p:cNvPr id="31771" name="Rectangle 37"/>
                <p:cNvSpPr>
                  <a:spLocks noChangeArrowheads="1"/>
                </p:cNvSpPr>
                <p:nvPr/>
              </p:nvSpPr>
              <p:spPr bwMode="auto">
                <a:xfrm>
                  <a:off x="266" y="1180"/>
                  <a:ext cx="1699" cy="1077"/>
                </a:xfrm>
                <a:prstGeom prst="rect">
                  <a:avLst/>
                </a:prstGeom>
                <a:solidFill>
                  <a:srgbClr val="CCFFFF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772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445" y="2108"/>
                  <a:ext cx="1260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 Machine</a:t>
                  </a:r>
                </a:p>
              </p:txBody>
            </p:sp>
            <p:grpSp>
              <p:nvGrpSpPr>
                <p:cNvPr id="31773" name="Group 39"/>
                <p:cNvGrpSpPr>
                  <a:grpSpLocks/>
                </p:cNvGrpSpPr>
                <p:nvPr/>
              </p:nvGrpSpPr>
              <p:grpSpPr bwMode="auto">
                <a:xfrm>
                  <a:off x="315" y="1678"/>
                  <a:ext cx="1640" cy="396"/>
                  <a:chOff x="315" y="1678"/>
                  <a:chExt cx="1640" cy="396"/>
                </a:xfrm>
              </p:grpSpPr>
              <p:sp>
                <p:nvSpPr>
                  <p:cNvPr id="31777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315" y="1678"/>
                    <a:ext cx="1578" cy="375"/>
                  </a:xfrm>
                  <a:prstGeom prst="rect">
                    <a:avLst/>
                  </a:prstGeom>
                  <a:solidFill>
                    <a:srgbClr val="C0C0C0"/>
                  </a:solidFill>
                  <a:ln w="936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  <p:grpSp>
                <p:nvGrpSpPr>
                  <p:cNvPr id="31778" name="Group 41"/>
                  <p:cNvGrpSpPr>
                    <a:grpSpLocks/>
                  </p:cNvGrpSpPr>
                  <p:nvPr/>
                </p:nvGrpSpPr>
                <p:grpSpPr bwMode="auto">
                  <a:xfrm>
                    <a:off x="377" y="1740"/>
                    <a:ext cx="1578" cy="334"/>
                    <a:chOff x="377" y="1740"/>
                    <a:chExt cx="1578" cy="334"/>
                  </a:xfrm>
                </p:grpSpPr>
                <p:grpSp>
                  <p:nvGrpSpPr>
                    <p:cNvPr id="31779" name="Group 4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77" y="1740"/>
                      <a:ext cx="939" cy="231"/>
                      <a:chOff x="377" y="1740"/>
                      <a:chExt cx="939" cy="231"/>
                    </a:xfrm>
                  </p:grpSpPr>
                  <p:graphicFrame>
                    <p:nvGraphicFramePr>
                      <p:cNvPr id="31781" name="Object 43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377" y="1740"/>
                      <a:ext cx="939" cy="231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16464" r:id="rId3" imgW="2209524" imgH="581106" progId="">
                              <p:embed/>
                            </p:oleObj>
                          </mc:Choice>
                          <mc:Fallback>
                            <p:oleObj r:id="rId3" imgW="2209524" imgH="581106" progId="">
                              <p:embed/>
                              <p:pic>
                                <p:nvPicPr>
                                  <p:cNvPr id="0" name=""/>
                                  <p:cNvPicPr>
                                    <a:picLocks noChangeAspect="1" noChangeArrowheads="1"/>
                                  </p:cNvPicPr>
                                  <p:nvPr/>
                                </p:nvPicPr>
                                <p:blipFill>
                                  <a:blip r:embed="rId4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377" y="1740"/>
                                    <a:ext cx="939" cy="23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>
                                    <a:noFill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blipFill dpi="0" rotWithShape="0">
                                          <a:blip/>
                                          <a:srcRect/>
                                          <a:stretch>
                                            <a:fillRect/>
                                          </a:stretch>
                                        </a:blipFill>
                                      </a14:hiddenFill>
                                    </a:ext>
                                    <a:ext uri="{91240B29-F687-4F45-9708-019B960494DF}">
                                      <a14:hiddenLine xmlns:a14="http://schemas.microsoft.com/office/drawing/2010/main" w="9525">
                                        <a:solidFill>
                                          <a:srgbClr val="000000"/>
                                        </a:solidFill>
                                        <a:miter lim="800000"/>
                                        <a:headEnd/>
                                        <a:tailEnd/>
                                      </a14:hiddenLine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dist="35921" dir="2700000" algn="ctr" rotWithShape="0">
                                            <a:srgbClr val="808080"/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sp>
                    <p:nvSpPr>
                      <p:cNvPr id="31782" name="Rectangle 4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7" y="1740"/>
                        <a:ext cx="939" cy="231"/>
                      </a:xfrm>
                      <a:prstGeom prst="rect">
                        <a:avLst/>
                      </a:prstGeom>
                      <a:noFill/>
                      <a:ln w="12600" cap="sq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endParaRPr lang="en-US" altLang="en-US"/>
                      </a:p>
                    </p:txBody>
                  </p:sp>
                </p:grpSp>
                <p:sp>
                  <p:nvSpPr>
                    <p:cNvPr id="31780" name="Text Box 4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38" y="1745"/>
                      <a:ext cx="717" cy="3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90000" tIns="46800" rIns="90000" bIns="46800">
                      <a:spAutoFit/>
                    </a:bodyPr>
                    <a:lstStyle>
                      <a:lvl1pPr>
                        <a:lnSpc>
                          <a:spcPct val="90000"/>
                        </a:lnSpc>
                        <a:spcBef>
                          <a:spcPts val="1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1pPr>
                      <a:lvl2pPr marL="593725" indent="-228600">
                        <a:lnSpc>
                          <a:spcPct val="90000"/>
                        </a:lnSpc>
                        <a:spcBef>
                          <a:spcPts val="1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2pPr>
                      <a:lvl3pPr indent="-228600">
                        <a:lnSpc>
                          <a:spcPct val="90000"/>
                        </a:lnSpc>
                        <a:spcBef>
                          <a:spcPts val="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6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3pPr>
                      <a:lvl4pPr marL="1233488" indent="-228600">
                        <a:lnSpc>
                          <a:spcPct val="90000"/>
                        </a:lnSpc>
                        <a:spcBef>
                          <a:spcPts val="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4pPr>
                      <a:lvl5pPr marL="1554163" indent="-228600">
                        <a:lnSpc>
                          <a:spcPct val="90000"/>
                        </a:lnSpc>
                        <a:spcBef>
                          <a:spcPts val="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5pPr>
                      <a:lvl6pPr marL="20113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6pPr>
                      <a:lvl7pPr marL="24685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7pPr>
                      <a:lvl8pPr marL="29257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8pPr>
                      <a:lvl9pPr marL="33829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50000"/>
                        </a:lnSpc>
                        <a:spcBef>
                          <a:spcPts val="875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 Regular" charset="0"/>
                        </a:rPr>
                        <a:t>Virtualized</a:t>
                      </a:r>
                    </a:p>
                    <a:p>
                      <a:pPr algn="ctr" eaLnBrk="1" hangingPunct="1">
                        <a:lnSpc>
                          <a:spcPct val="50000"/>
                        </a:lnSpc>
                        <a:spcBef>
                          <a:spcPts val="875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 Regular" charset="0"/>
                        </a:rPr>
                        <a:t>Hardware</a:t>
                      </a:r>
                    </a:p>
                  </p:txBody>
                </p:sp>
              </p:grpSp>
            </p:grpSp>
            <p:grpSp>
              <p:nvGrpSpPr>
                <p:cNvPr id="31774" name="Group 46"/>
                <p:cNvGrpSpPr>
                  <a:grpSpLocks/>
                </p:cNvGrpSpPr>
                <p:nvPr/>
              </p:nvGrpSpPr>
              <p:grpSpPr bwMode="auto">
                <a:xfrm>
                  <a:off x="323" y="1257"/>
                  <a:ext cx="1569" cy="336"/>
                  <a:chOff x="323" y="1257"/>
                  <a:chExt cx="1569" cy="336"/>
                </a:xfrm>
              </p:grpSpPr>
              <p:sp>
                <p:nvSpPr>
                  <p:cNvPr id="31775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323" y="1257"/>
                    <a:ext cx="1569" cy="336"/>
                  </a:xfrm>
                  <a:prstGeom prst="rect">
                    <a:avLst/>
                  </a:prstGeom>
                  <a:solidFill>
                    <a:srgbClr val="C0C0C0"/>
                  </a:solidFill>
                  <a:ln w="936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  <p:sp>
                <p:nvSpPr>
                  <p:cNvPr id="31776" name="Text Box 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69" y="1380"/>
                    <a:ext cx="939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>
                    <a:lvl1pPr>
                      <a:lnSpc>
                        <a:spcPct val="90000"/>
                      </a:lnSpc>
                      <a:spcBef>
                        <a:spcPts val="1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1pPr>
                    <a:lvl2pPr marL="593725" indent="-228600">
                      <a:lnSpc>
                        <a:spcPct val="90000"/>
                      </a:lnSpc>
                      <a:spcBef>
                        <a:spcPts val="1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8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2pPr>
                    <a:lvl3pPr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6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3pPr>
                    <a:lvl4pPr marL="1233488"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4pPr>
                    <a:lvl5pPr marL="1554163" indent="-228600">
                      <a:lnSpc>
                        <a:spcPct val="90000"/>
                      </a:lnSpc>
                      <a:spcBef>
                        <a:spcPts val="8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5pPr>
                    <a:lvl6pPr marL="20113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6pPr>
                    <a:lvl7pPr marL="24685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7pPr>
                    <a:lvl8pPr marL="29257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8pPr>
                    <a:lvl9pPr marL="3382963" indent="-228600" eaLnBrk="0" fontAlgn="base" hangingPunct="0">
                      <a:lnSpc>
                        <a:spcPct val="90000"/>
                      </a:lnSpc>
                      <a:spcBef>
                        <a:spcPts val="8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§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1400">
                        <a:solidFill>
                          <a:schemeClr val="tx2"/>
                        </a:solidFill>
                        <a:latin typeface="Corbel" panose="020B0503020204020204" pitchFamily="34" charset="0"/>
                      </a:defRPr>
                    </a:lvl9pPr>
                  </a:lstStyle>
                  <a:p>
                    <a:pPr algn="ctr" eaLnBrk="1" hangingPunct="1">
                      <a:lnSpc>
                        <a:spcPct val="50000"/>
                      </a:lnSpc>
                      <a:spcBef>
                        <a:spcPts val="1125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4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Noto Sans CJK SC Regular" charset="0"/>
                      </a:rPr>
                      <a:t>Guest OS</a:t>
                    </a:r>
                  </a:p>
                </p:txBody>
              </p:sp>
            </p:grpSp>
          </p:grpSp>
          <p:grpSp>
            <p:nvGrpSpPr>
              <p:cNvPr id="31758" name="Group 73"/>
              <p:cNvGrpSpPr>
                <a:grpSpLocks/>
              </p:cNvGrpSpPr>
              <p:nvPr/>
            </p:nvGrpSpPr>
            <p:grpSpPr bwMode="auto">
              <a:xfrm>
                <a:off x="76200" y="3501008"/>
                <a:ext cx="5943600" cy="2133600"/>
                <a:chOff x="76200" y="4439528"/>
                <a:chExt cx="5943600" cy="2133600"/>
              </a:xfrm>
            </p:grpSpPr>
            <p:sp>
              <p:nvSpPr>
                <p:cNvPr id="40" name="Rectangle 39"/>
                <p:cNvSpPr/>
                <p:nvPr/>
              </p:nvSpPr>
              <p:spPr bwMode="auto">
                <a:xfrm>
                  <a:off x="76200" y="4439266"/>
                  <a:ext cx="5943600" cy="2133862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Times New Roman" pitchFamily="16" charset="0"/>
                    <a:buNone/>
                    <a:defRPr/>
                  </a:pPr>
                  <a:endParaRPr lang="en-US">
                    <a:latin typeface="Arial" charset="0"/>
                    <a:cs typeface="Arial" charset="0"/>
                  </a:endParaRPr>
                </a:p>
              </p:txBody>
            </p:sp>
            <p:grpSp>
              <p:nvGrpSpPr>
                <p:cNvPr id="31763" name="Group 62"/>
                <p:cNvGrpSpPr>
                  <a:grpSpLocks/>
                </p:cNvGrpSpPr>
                <p:nvPr/>
              </p:nvGrpSpPr>
              <p:grpSpPr bwMode="auto">
                <a:xfrm>
                  <a:off x="450850" y="5313363"/>
                  <a:ext cx="5476875" cy="1114425"/>
                  <a:chOff x="284" y="3347"/>
                  <a:chExt cx="3450" cy="702"/>
                </a:xfrm>
              </p:grpSpPr>
              <p:sp>
                <p:nvSpPr>
                  <p:cNvPr id="43" name="Rectangle 2"/>
                  <p:cNvSpPr>
                    <a:spLocks noChangeArrowheads="1"/>
                  </p:cNvSpPr>
                  <p:nvPr/>
                </p:nvSpPr>
                <p:spPr bwMode="auto">
                  <a:xfrm>
                    <a:off x="284" y="3343"/>
                    <a:ext cx="3454" cy="702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936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defRPr/>
                    </a:pPr>
                    <a:endParaRPr lang="en-US" altLang="en-US" smtClean="0"/>
                  </a:p>
                </p:txBody>
              </p:sp>
              <p:grpSp>
                <p:nvGrpSpPr>
                  <p:cNvPr id="31766" name="Group 64"/>
                  <p:cNvGrpSpPr>
                    <a:grpSpLocks/>
                  </p:cNvGrpSpPr>
                  <p:nvPr/>
                </p:nvGrpSpPr>
                <p:grpSpPr bwMode="auto">
                  <a:xfrm>
                    <a:off x="376" y="3415"/>
                    <a:ext cx="3297" cy="566"/>
                    <a:chOff x="376" y="3415"/>
                    <a:chExt cx="3297" cy="566"/>
                  </a:xfrm>
                </p:grpSpPr>
                <p:grpSp>
                  <p:nvGrpSpPr>
                    <p:cNvPr id="31767" name="Group 6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76" y="3415"/>
                      <a:ext cx="2517" cy="566"/>
                      <a:chOff x="376" y="3415"/>
                      <a:chExt cx="2517" cy="566"/>
                    </a:xfrm>
                  </p:grpSpPr>
                  <p:graphicFrame>
                    <p:nvGraphicFramePr>
                      <p:cNvPr id="31769" name="Object 5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376" y="3415"/>
                      <a:ext cx="2517" cy="566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16465" r:id="rId5" imgW="2209524" imgH="581106" progId="">
                              <p:embed/>
                            </p:oleObj>
                          </mc:Choice>
                          <mc:Fallback>
                            <p:oleObj r:id="rId5" imgW="2209524" imgH="581106" progId="">
                              <p:embed/>
                              <p:pic>
                                <p:nvPicPr>
                                  <p:cNvPr id="0" name=""/>
                                  <p:cNvPicPr>
                                    <a:picLocks noChangeAspect="1" noChangeArrowheads="1"/>
                                  </p:cNvPicPr>
                                  <p:nvPr/>
                                </p:nvPicPr>
                                <p:blipFill>
                                  <a:blip r:embed="rId4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376" y="3415"/>
                                    <a:ext cx="2517" cy="566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>
                                    <a:noFill/>
                                  </a:ln>
                                  <a:effectLst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blipFill dpi="0" rotWithShape="0">
                                          <a:blip/>
                                          <a:srcRect/>
                                          <a:stretch>
                                            <a:fillRect/>
                                          </a:stretch>
                                        </a:blipFill>
                                      </a14:hiddenFill>
                                    </a:ext>
                                    <a:ext uri="{91240B29-F687-4F45-9708-019B960494DF}">
                                      <a14:hiddenLine xmlns:a14="http://schemas.microsoft.com/office/drawing/2010/main" w="9525">
                                        <a:solidFill>
                                          <a:srgbClr val="000000"/>
                                        </a:solidFill>
                                        <a:miter lim="800000"/>
                                        <a:headEnd/>
                                        <a:tailEnd/>
                                      </a14:hiddenLine>
                                    </a:ext>
                                    <a:ext uri="{AF507438-7753-43E0-B8FC-AC1667EBCBE1}">
                                      <a14:hiddenEffects xmlns:a14="http://schemas.microsoft.com/office/drawing/2010/main">
                                        <a:effectLst>
                                          <a:outerShdw dist="35921" dir="2700000" algn="ctr" rotWithShape="0">
                                            <a:srgbClr val="808080"/>
                                          </a:outerShdw>
                                        </a:effectLst>
                                      </a14:hiddenEffects>
                                    </a:ext>
                                  </a:extLst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sp>
                    <p:nvSpPr>
                      <p:cNvPr id="31770" name="Rectangle 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6" y="3415"/>
                        <a:ext cx="2517" cy="566"/>
                      </a:xfrm>
                      <a:prstGeom prst="rect">
                        <a:avLst/>
                      </a:prstGeom>
                      <a:noFill/>
                      <a:ln w="12600" cap="sq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defRPr>
                        </a:lvl9pPr>
                      </a:lstStyle>
                      <a:p>
                        <a:endParaRPr lang="en-US" altLang="en-US"/>
                      </a:p>
                    </p:txBody>
                  </p:sp>
                </p:grpSp>
                <p:sp>
                  <p:nvSpPr>
                    <p:cNvPr id="31768" name="Text Box 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93" y="3527"/>
                      <a:ext cx="780" cy="29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90000" tIns="46800" rIns="90000" bIns="46800">
                      <a:spAutoFit/>
                    </a:bodyPr>
                    <a:lstStyle>
                      <a:lvl1pPr>
                        <a:lnSpc>
                          <a:spcPct val="90000"/>
                        </a:lnSpc>
                        <a:spcBef>
                          <a:spcPts val="1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1pPr>
                      <a:lvl2pPr marL="593725" indent="-228600">
                        <a:lnSpc>
                          <a:spcPct val="90000"/>
                        </a:lnSpc>
                        <a:spcBef>
                          <a:spcPts val="1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2pPr>
                      <a:lvl3pPr indent="-228600">
                        <a:lnSpc>
                          <a:spcPct val="90000"/>
                        </a:lnSpc>
                        <a:spcBef>
                          <a:spcPts val="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6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3pPr>
                      <a:lvl4pPr marL="1233488" indent="-228600">
                        <a:lnSpc>
                          <a:spcPct val="90000"/>
                        </a:lnSpc>
                        <a:spcBef>
                          <a:spcPts val="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4pPr>
                      <a:lvl5pPr marL="1554163" indent="-228600">
                        <a:lnSpc>
                          <a:spcPct val="90000"/>
                        </a:lnSpc>
                        <a:spcBef>
                          <a:spcPts val="8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5pPr>
                      <a:lvl6pPr marL="20113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6pPr>
                      <a:lvl7pPr marL="24685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7pPr>
                      <a:lvl8pPr marL="29257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8pPr>
                      <a:lvl9pPr marL="3382963" indent="-228600" eaLnBrk="0" fontAlgn="base" hangingPunct="0">
                        <a:lnSpc>
                          <a:spcPct val="9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Char char="§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400">
                          <a:solidFill>
                            <a:schemeClr val="tx2"/>
                          </a:solidFill>
                          <a:latin typeface="Corbel" panose="020B0503020204020204" pitchFamily="34" charset="0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50000"/>
                        </a:lnSpc>
                        <a:spcBef>
                          <a:spcPts val="1125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 Regular" charset="0"/>
                        </a:rPr>
                        <a:t>Physical</a:t>
                      </a:r>
                    </a:p>
                    <a:p>
                      <a:pPr algn="ctr" eaLnBrk="1" hangingPunct="1">
                        <a:lnSpc>
                          <a:spcPct val="50000"/>
                        </a:lnSpc>
                        <a:spcBef>
                          <a:spcPts val="1125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Noto Sans CJK SC Regular" charset="0"/>
                        </a:rPr>
                        <a:t>Hardware</a:t>
                      </a:r>
                    </a:p>
                  </p:txBody>
                </p:sp>
              </p:grpSp>
            </p:grpSp>
            <p:sp>
              <p:nvSpPr>
                <p:cNvPr id="31764" name="TextBox 72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-522516" y="5301342"/>
                  <a:ext cx="1600200" cy="381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n-US" altLang="en-US" b="1"/>
                    <a:t>Blade Server</a:t>
                  </a:r>
                </a:p>
              </p:txBody>
            </p:sp>
          </p:grpSp>
          <p:grpSp>
            <p:nvGrpSpPr>
              <p:cNvPr id="31759" name="Group 11"/>
              <p:cNvGrpSpPr>
                <a:grpSpLocks/>
              </p:cNvGrpSpPr>
              <p:nvPr/>
            </p:nvGrpSpPr>
            <p:grpSpPr bwMode="auto">
              <a:xfrm>
                <a:off x="408434" y="3627472"/>
                <a:ext cx="5543550" cy="646112"/>
                <a:chOff x="242" y="2348"/>
                <a:chExt cx="3492" cy="407"/>
              </a:xfrm>
            </p:grpSpPr>
            <p:sp>
              <p:nvSpPr>
                <p:cNvPr id="38" name="Rectangle 12"/>
                <p:cNvSpPr>
                  <a:spLocks noChangeArrowheads="1"/>
                </p:cNvSpPr>
                <p:nvPr/>
              </p:nvSpPr>
              <p:spPr bwMode="auto">
                <a:xfrm>
                  <a:off x="242" y="2348"/>
                  <a:ext cx="3492" cy="407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defRPr/>
                  </a:pPr>
                  <a:endParaRPr lang="en-US" altLang="en-US" smtClean="0"/>
                </a:p>
              </p:txBody>
            </p:sp>
            <p:sp>
              <p:nvSpPr>
                <p:cNvPr id="3176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011" y="2426"/>
                  <a:ext cx="2091" cy="2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 Machine Monitor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(Hypervisor)</a:t>
                  </a:r>
                </a:p>
              </p:txBody>
            </p:sp>
          </p:grpSp>
        </p:grpSp>
        <p:grpSp>
          <p:nvGrpSpPr>
            <p:cNvPr id="31753" name="Group 1"/>
            <p:cNvGrpSpPr>
              <a:grpSpLocks/>
            </p:cNvGrpSpPr>
            <p:nvPr/>
          </p:nvGrpSpPr>
          <p:grpSpPr bwMode="auto">
            <a:xfrm>
              <a:off x="9968258" y="1902420"/>
              <a:ext cx="1967285" cy="1670596"/>
              <a:chOff x="8946852" y="2220192"/>
              <a:chExt cx="2619673" cy="2608703"/>
            </a:xfrm>
          </p:grpSpPr>
          <p:pic>
            <p:nvPicPr>
              <p:cNvPr id="31754" name="Picture 4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77591" y="2220192"/>
                <a:ext cx="2209800" cy="2143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7" name="TextBox 66"/>
              <p:cNvSpPr txBox="1"/>
              <p:nvPr/>
            </p:nvSpPr>
            <p:spPr>
              <a:xfrm>
                <a:off x="8947888" y="4347127"/>
                <a:ext cx="2619415" cy="48091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IN" sz="1400" b="1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Microservices</a:t>
                </a:r>
                <a:endParaRPr lang="en-IN" sz="1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2349500"/>
            <a:ext cx="6083300" cy="422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2349500"/>
            <a:ext cx="4799013" cy="422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07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1" name="Title 1"/>
          <p:cNvSpPr txBox="1">
            <a:spLocks/>
          </p:cNvSpPr>
          <p:nvPr/>
        </p:nvSpPr>
        <p:spPr bwMode="auto">
          <a:xfrm>
            <a:off x="152400" y="-596900"/>
            <a:ext cx="10133013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3400">
                <a:solidFill>
                  <a:srgbClr val="1D243C"/>
                </a:solidFill>
                <a:latin typeface="Corbel" panose="020B0503020204020204" pitchFamily="34" charset="0"/>
              </a:rPr>
              <a:t>Unikernel for Microservices</a:t>
            </a:r>
          </a:p>
        </p:txBody>
      </p:sp>
      <p:sp>
        <p:nvSpPr>
          <p:cNvPr id="32772" name="Rectangle 1"/>
          <p:cNvSpPr>
            <a:spLocks noChangeArrowheads="1"/>
          </p:cNvSpPr>
          <p:nvPr/>
        </p:nvSpPr>
        <p:spPr bwMode="auto">
          <a:xfrm>
            <a:off x="119063" y="765175"/>
            <a:ext cx="11682412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altLang="en-US" sz="2400">
                <a:solidFill>
                  <a:srgbClr val="000000"/>
                </a:solidFill>
                <a:latin typeface="LiberationSans_v_2"/>
              </a:rPr>
              <a:t>Unikernels are specialized, </a:t>
            </a:r>
            <a:r>
              <a:rPr lang="en-US" altLang="en-US" sz="2400">
                <a:solidFill>
                  <a:srgbClr val="000000"/>
                </a:solidFill>
                <a:latin typeface="LiberationSans-Bold_13_2"/>
              </a:rPr>
              <a:t>single address space machine images constructed by library operating systems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500">
              <a:solidFill>
                <a:srgbClr val="000000"/>
              </a:solidFill>
              <a:latin typeface="LiberationSans-Bold_13_2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n-US" sz="500">
              <a:solidFill>
                <a:srgbClr val="000000"/>
              </a:solidFill>
              <a:latin typeface="LiberationSans-Bold_13_2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>
                <a:solidFill>
                  <a:srgbClr val="000000"/>
                </a:solidFill>
                <a:latin typeface="LiberationSans-Bold_13_2"/>
              </a:rPr>
              <a:t>Similar to One VM for One Service</a:t>
            </a:r>
            <a:r>
              <a:rPr lang="en-US" altLang="en-US"/>
              <a:t/>
            </a:r>
            <a:br>
              <a:rPr lang="en-US" altLang="en-US"/>
            </a:br>
            <a:endParaRPr lang="en-IN" altLang="en-US"/>
          </a:p>
        </p:txBody>
      </p:sp>
      <p:pic>
        <p:nvPicPr>
          <p:cNvPr id="3277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2349500"/>
            <a:ext cx="6083300" cy="422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2349500"/>
            <a:ext cx="4797425" cy="422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Rectangle 67"/>
          <p:cNvSpPr/>
          <p:nvPr/>
        </p:nvSpPr>
        <p:spPr>
          <a:xfrm>
            <a:off x="6672263" y="3146425"/>
            <a:ext cx="5472112" cy="27384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  <a:defRPr/>
            </a:pPr>
            <a:r>
              <a:rPr lang="en-US" sz="2400" dirty="0">
                <a:solidFill>
                  <a:srgbClr val="000000"/>
                </a:solidFill>
                <a:latin typeface="LiberationSans_v_2"/>
              </a:rPr>
              <a:t>Advantages</a:t>
            </a:r>
          </a:p>
          <a:p>
            <a:pPr marL="342900" indent="-342900">
              <a:buFont typeface="Wingdings" panose="05000000000000000000" pitchFamily="2" charset="2"/>
              <a:buChar char="q"/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marL="342900" indent="-342900">
              <a:buFont typeface="Wingdings" panose="05000000000000000000" pitchFamily="2" charset="2"/>
              <a:buChar char="q"/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0000"/>
                </a:solidFill>
                <a:latin typeface="LiberationSans_v_2"/>
              </a:rPr>
              <a:t>Few kilobytes in size, so very fast to boot.</a:t>
            </a: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0000"/>
                </a:solidFill>
                <a:latin typeface="LiberationSans_v_2"/>
              </a:rPr>
              <a:t>No context switch</a:t>
            </a:r>
          </a:p>
          <a:p>
            <a:pPr lvl="1"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lvl="1"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0000"/>
                </a:solidFill>
                <a:latin typeface="LiberationSans_v_2"/>
              </a:rPr>
              <a:t>Runs on hypervisor, container or bare metal</a:t>
            </a: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endParaRPr lang="en-US" sz="500" dirty="0">
              <a:solidFill>
                <a:srgbClr val="000000"/>
              </a:solidFill>
              <a:latin typeface="LiberationSans_v_2"/>
            </a:endParaRP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0000"/>
                </a:solidFill>
                <a:latin typeface="LiberationSans_v_2"/>
              </a:rPr>
              <a:t>Small attack surface</a:t>
            </a:r>
          </a:p>
          <a:p>
            <a:pPr lvl="1">
              <a:defRPr/>
            </a:pP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209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795" name="Title 1"/>
          <p:cNvSpPr txBox="1">
            <a:spLocks/>
          </p:cNvSpPr>
          <p:nvPr/>
        </p:nvSpPr>
        <p:spPr bwMode="auto">
          <a:xfrm>
            <a:off x="152400" y="-596900"/>
            <a:ext cx="10133013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3400">
                <a:solidFill>
                  <a:srgbClr val="1D243C"/>
                </a:solidFill>
                <a:latin typeface="Corbel" panose="020B0503020204020204" pitchFamily="34" charset="0"/>
              </a:rPr>
              <a:t>VM vs Container vs Unikernel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125538"/>
            <a:ext cx="11180763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280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-24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2039600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Thank You for Listening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054843" y="3005736"/>
            <a:ext cx="35413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Questions?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2174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19097</TotalTime>
  <Words>813</Words>
  <Application>Microsoft Office PowerPoint</Application>
  <PresentationFormat>Widescreen</PresentationFormat>
  <Paragraphs>136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arial, sans-serif</vt:lpstr>
      <vt:lpstr>Clarity City</vt:lpstr>
      <vt:lpstr>Corbel</vt:lpstr>
      <vt:lpstr>Euphemia</vt:lpstr>
      <vt:lpstr>LiberationSans_v_2</vt:lpstr>
      <vt:lpstr>LiberationSans-Bold_13_2</vt:lpstr>
      <vt:lpstr>Noto Sans CJK SC Regular</vt:lpstr>
      <vt:lpstr>Times New Roman</vt:lpstr>
      <vt:lpstr>Wingdings</vt:lpstr>
      <vt:lpstr>Banded Design Blue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Sunirmal Khatua</dc:creator>
  <cp:lastModifiedBy>Microsoft account</cp:lastModifiedBy>
  <cp:revision>239</cp:revision>
  <dcterms:created xsi:type="dcterms:W3CDTF">2018-05-13T16:49:43Z</dcterms:created>
  <dcterms:modified xsi:type="dcterms:W3CDTF">2025-12-04T06:38:58Z</dcterms:modified>
</cp:coreProperties>
</file>