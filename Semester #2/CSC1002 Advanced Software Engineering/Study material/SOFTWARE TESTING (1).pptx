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58" r:id="rId3"/>
    <p:sldId id="259" r:id="rId4"/>
    <p:sldId id="316" r:id="rId5"/>
    <p:sldId id="318" r:id="rId6"/>
    <p:sldId id="320" r:id="rId7"/>
    <p:sldId id="257" r:id="rId8"/>
    <p:sldId id="326" r:id="rId9"/>
    <p:sldId id="327" r:id="rId10"/>
    <p:sldId id="328" r:id="rId1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3D57ADC0-0B09-A3BA-04B2-2A1CBB73E46A}"/>
            </a:ext>
          </a:extLst>
        </p:cNvPr>
        <p:cNvGrpSpPr/>
        <p:nvPr/>
      </p:nvGrpSpPr>
      <p:grpSpPr>
        <a:xfrm>
          <a:off x="0" y="0"/>
          <a:ext cx="0" cy="0"/>
          <a:chOff x="0" y="0"/>
          <a:chExt cx="0" cy="0"/>
        </a:xfrm>
      </p:grpSpPr>
      <p:sp>
        <p:nvSpPr>
          <p:cNvPr id="94" name="Google Shape;94;p2:notes">
            <a:extLst>
              <a:ext uri="{FF2B5EF4-FFF2-40B4-BE49-F238E27FC236}">
                <a16:creationId xmlns:a16="http://schemas.microsoft.com/office/drawing/2014/main" id="{AC888841-BA9F-44E9-2D0B-71D91D41F2F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a:extLst>
              <a:ext uri="{FF2B5EF4-FFF2-40B4-BE49-F238E27FC236}">
                <a16:creationId xmlns:a16="http://schemas.microsoft.com/office/drawing/2014/main" id="{912FE11E-2842-1E09-1AD3-17DC438380E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2369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marR="0" lvl="0" algn="ctr" rtl="0">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9" name="Google Shape;1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600"/>
              </a:spcBef>
              <a:spcAft>
                <a:spcPts val="0"/>
              </a:spcAft>
              <a:buClr>
                <a:srgbClr val="46424D"/>
              </a:buClr>
              <a:buSzPts val="2400"/>
              <a:buFont typeface="Noto Sans Symbols"/>
              <a:buChar char="✧"/>
              <a:defRPr sz="2400" b="0" i="0" u="none" strike="noStrike" cap="none">
                <a:solidFill>
                  <a:srgbClr val="46424D"/>
                </a:solidFill>
                <a:latin typeface="Arial"/>
                <a:ea typeface="Arial"/>
                <a:cs typeface="Arial"/>
                <a:sym typeface="Arial"/>
              </a:defRPr>
            </a:lvl1pPr>
            <a:lvl2pPr marL="914400" marR="0" lvl="1" indent="-355600" algn="l" rtl="0">
              <a:spcBef>
                <a:spcPts val="600"/>
              </a:spcBef>
              <a:spcAft>
                <a:spcPts val="0"/>
              </a:spcAft>
              <a:buClr>
                <a:srgbClr val="46424D"/>
              </a:buClr>
              <a:buSzPts val="2000"/>
              <a:buFont typeface="Noto Sans Symbols"/>
              <a:buChar char="▪"/>
              <a:defRPr sz="2000" b="0" i="0" u="none" strike="noStrike" cap="none">
                <a:solidFill>
                  <a:srgbClr val="46424D"/>
                </a:solidFill>
                <a:latin typeface="Arial"/>
                <a:ea typeface="Arial"/>
                <a:cs typeface="Arial"/>
                <a:sym typeface="Arial"/>
              </a:defRPr>
            </a:lvl2pPr>
            <a:lvl3pPr marL="1371600" marR="0" lvl="2" indent="-342900" algn="l" rtl="0">
              <a:spcBef>
                <a:spcPts val="360"/>
              </a:spcBef>
              <a:spcAft>
                <a:spcPts val="0"/>
              </a:spcAft>
              <a:buClr>
                <a:srgbClr val="46424D"/>
              </a:buClr>
              <a:buSzPts val="1800"/>
              <a:buFont typeface="Arial"/>
              <a:buChar char="•"/>
              <a:defRPr sz="1800" b="0" i="0" u="none" strike="noStrike" cap="none">
                <a:solidFill>
                  <a:srgbClr val="46424D"/>
                </a:solidFill>
                <a:latin typeface="Arial"/>
                <a:ea typeface="Arial"/>
                <a:cs typeface="Arial"/>
                <a:sym typeface="Arial"/>
              </a:defRPr>
            </a:lvl3pPr>
            <a:lvl4pPr marL="1828800" marR="0" lvl="3" indent="-342900" algn="l" rtl="0">
              <a:spcBef>
                <a:spcPts val="360"/>
              </a:spcBef>
              <a:spcAft>
                <a:spcPts val="0"/>
              </a:spcAft>
              <a:buClr>
                <a:srgbClr val="46424D"/>
              </a:buClr>
              <a:buSzPts val="1800"/>
              <a:buFont typeface="Arial"/>
              <a:buChar char="–"/>
              <a:defRPr sz="1800" b="0" i="0" u="none" strike="noStrike" cap="none">
                <a:solidFill>
                  <a:srgbClr val="46424D"/>
                </a:solidFill>
                <a:latin typeface="Arial"/>
                <a:ea typeface="Arial"/>
                <a:cs typeface="Arial"/>
                <a:sym typeface="Arial"/>
              </a:defRPr>
            </a:lvl4pPr>
            <a:lvl5pPr marL="2286000" marR="0" lvl="4" indent="-342900" algn="l" rtl="0">
              <a:spcBef>
                <a:spcPts val="360"/>
              </a:spcBef>
              <a:spcAft>
                <a:spcPts val="0"/>
              </a:spcAft>
              <a:buClr>
                <a:srgbClr val="46424D"/>
              </a:buClr>
              <a:buSzPts val="1800"/>
              <a:buFont typeface="Arial"/>
              <a:buChar char="»"/>
              <a:defRPr sz="1800" b="0" i="0" u="none" strike="noStrike" cap="none">
                <a:solidFill>
                  <a:srgbClr val="46424D"/>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0" name="Google Shape;30;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1" name="Google Shape;31;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228600" algn="l" rtl="0">
              <a:spcBef>
                <a:spcPts val="480"/>
              </a:spcBef>
              <a:spcAft>
                <a:spcPts val="0"/>
              </a:spcAft>
              <a:buSzPts val="1400"/>
              <a:buNone/>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228600" algn="l" rtl="0">
              <a:spcBef>
                <a:spcPts val="480"/>
              </a:spcBef>
              <a:spcAft>
                <a:spcPts val="0"/>
              </a:spcAft>
              <a:buSzPts val="1400"/>
              <a:buNone/>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SzPts val="1400"/>
              <a:buNone/>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SzPts val="1400"/>
              <a:buNone/>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 name="Google Shape;5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1" name="Google Shape;61;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228600" algn="l" rtl="0">
              <a:spcBef>
                <a:spcPts val="560"/>
              </a:spcBef>
              <a:spcAft>
                <a:spcPts val="0"/>
              </a:spcAft>
              <a:buSzPts val="1400"/>
              <a:buNone/>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10"/>
          <p:cNvSpPr>
            <a:spLocks noGrp="1"/>
          </p:cNvSpPr>
          <p:nvPr>
            <p:ph type="pic" idx="2"/>
          </p:nvPr>
        </p:nvSpPr>
        <p:spPr>
          <a:xfrm>
            <a:off x="1792288" y="612775"/>
            <a:ext cx="5486400" cy="4114800"/>
          </a:xfrm>
          <a:prstGeom prst="rect">
            <a:avLst/>
          </a:prstGeom>
          <a:noFill/>
          <a:ln>
            <a:noFill/>
          </a:ln>
        </p:spPr>
      </p:sp>
      <p:sp>
        <p:nvSpPr>
          <p:cNvPr id="69" name="Google Shape;69;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5" name="Google Shape;75;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228600" algn="l" rtl="0">
              <a:spcBef>
                <a:spcPts val="560"/>
              </a:spcBef>
              <a:spcAft>
                <a:spcPts val="0"/>
              </a:spcAft>
              <a:buSzPts val="1400"/>
              <a:buNone/>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228600" algn="l" rtl="0">
              <a:spcBef>
                <a:spcPts val="560"/>
              </a:spcBef>
              <a:spcAft>
                <a:spcPts val="0"/>
              </a:spcAft>
              <a:buSzPts val="1400"/>
              <a:buNone/>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049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400" b="1" i="0" u="none" strike="noStrike" cap="none">
                <a:solidFill>
                  <a:srgbClr val="46424D"/>
                </a:solidFill>
                <a:latin typeface="Arial"/>
                <a:ea typeface="Arial"/>
                <a:cs typeface="Arial"/>
                <a:sym typeface="Arial"/>
              </a:defRPr>
            </a:lvl1pPr>
            <a:lvl2pPr marR="0" lvl="1"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1" descr="Cover.jpg"/>
          <p:cNvPicPr preferRelativeResize="0"/>
          <p:nvPr/>
        </p:nvPicPr>
        <p:blipFill rotWithShape="1">
          <a:blip r:embed="rId14">
            <a:alphaModFix/>
          </a:blip>
          <a:srcRect/>
          <a:stretch/>
        </p:blipFill>
        <p:spPr>
          <a:xfrm>
            <a:off x="7750432" y="287213"/>
            <a:ext cx="923795" cy="1143000"/>
          </a:xfrm>
          <a:prstGeom prst="rect">
            <a:avLst/>
          </a:prstGeom>
          <a:noFill/>
          <a:ln>
            <a:noFill/>
          </a:ln>
        </p:spPr>
      </p:pic>
      <p:cxnSp>
        <p:nvCxnSpPr>
          <p:cNvPr id="15" name="Google Shape;15;p1"/>
          <p:cNvCxnSpPr/>
          <p:nvPr/>
        </p:nvCxnSpPr>
        <p:spPr>
          <a:xfrm>
            <a:off x="457200" y="1419226"/>
            <a:ext cx="7305805" cy="1588"/>
          </a:xfrm>
          <a:prstGeom prst="straightConnector1">
            <a:avLst/>
          </a:prstGeom>
          <a:noFill/>
          <a:ln w="25400" cap="flat" cmpd="sng">
            <a:solidFill>
              <a:srgbClr val="3F3F3F"/>
            </a:solidFill>
            <a:prstDash val="solid"/>
            <a:round/>
            <a:headEnd type="none" w="sm" len="sm"/>
            <a:tailEnd type="none" w="sm" len="sm"/>
          </a:ln>
          <a:effectLst>
            <a:outerShdw blurRad="40000" dist="20000" dir="5400000" rotWithShape="0">
              <a:srgbClr val="000000">
                <a:alpha val="38039"/>
              </a:srgbClr>
            </a:outerShdw>
          </a:effectLst>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2"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Chapter 8 – Software Testing</a:t>
            </a:r>
            <a:endParaRPr/>
          </a:p>
        </p:txBody>
      </p:sp>
      <p:sp>
        <p:nvSpPr>
          <p:cNvPr id="91" name="Google Shape;91;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92" name="Google Shape;92;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8 Software testing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Program testing</a:t>
            </a:r>
            <a:endParaRPr/>
          </a:p>
        </p:txBody>
      </p:sp>
      <p:sp>
        <p:nvSpPr>
          <p:cNvPr id="106" name="Google Shape;106;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200"/>
              <a:buFont typeface="Noto Sans Symbols"/>
              <a:buChar char="✧"/>
            </a:pPr>
            <a:r>
              <a:rPr lang="en-US" sz="2200" dirty="0"/>
              <a:t>Testing is intended to show that a program does what it is intended to do and to discover program defects before it is put into use. </a:t>
            </a:r>
            <a:endParaRPr dirty="0"/>
          </a:p>
          <a:p>
            <a:pPr marL="342900" lvl="0" indent="-342900" algn="l" rtl="0">
              <a:spcBef>
                <a:spcPts val="1200"/>
              </a:spcBef>
              <a:spcAft>
                <a:spcPts val="0"/>
              </a:spcAft>
              <a:buClr>
                <a:srgbClr val="46424D"/>
              </a:buClr>
              <a:buSzPts val="2200"/>
              <a:buFont typeface="Noto Sans Symbols"/>
              <a:buChar char="✧"/>
            </a:pPr>
            <a:r>
              <a:rPr lang="en-US" sz="2200" dirty="0"/>
              <a:t>When you test software, you execute a program using artificial data. </a:t>
            </a:r>
            <a:endParaRPr dirty="0"/>
          </a:p>
          <a:p>
            <a:pPr marL="342900" lvl="0" indent="-342900" algn="l" rtl="0">
              <a:spcBef>
                <a:spcPts val="1200"/>
              </a:spcBef>
              <a:spcAft>
                <a:spcPts val="0"/>
              </a:spcAft>
              <a:buClr>
                <a:srgbClr val="46424D"/>
              </a:buClr>
              <a:buSzPts val="2200"/>
              <a:buFont typeface="Noto Sans Symbols"/>
              <a:buChar char="✧"/>
            </a:pPr>
            <a:r>
              <a:rPr lang="en-US" sz="2200" dirty="0"/>
              <a:t>You check the results of the test run for errors, anomalies or information about the program’s non-functional attributes. </a:t>
            </a:r>
            <a:endParaRPr dirty="0"/>
          </a:p>
          <a:p>
            <a:pPr marL="342900" lvl="0" indent="-342900" algn="l" rtl="0">
              <a:spcBef>
                <a:spcPts val="1200"/>
              </a:spcBef>
              <a:spcAft>
                <a:spcPts val="0"/>
              </a:spcAft>
              <a:buClr>
                <a:srgbClr val="46424D"/>
              </a:buClr>
              <a:buSzPts val="2200"/>
              <a:buFont typeface="Noto Sans Symbols"/>
              <a:buChar char="✧"/>
            </a:pPr>
            <a:r>
              <a:rPr lang="en-US" sz="2200" dirty="0"/>
              <a:t>Can reveal the presence of errors, NOT their absence.</a:t>
            </a:r>
            <a:endParaRPr dirty="0"/>
          </a:p>
          <a:p>
            <a:pPr marL="342900" lvl="0" indent="-342900" algn="l" rtl="0">
              <a:spcBef>
                <a:spcPts val="1200"/>
              </a:spcBef>
              <a:spcAft>
                <a:spcPts val="0"/>
              </a:spcAft>
              <a:buClr>
                <a:srgbClr val="46424D"/>
              </a:buClr>
              <a:buSzPts val="2200"/>
              <a:buFont typeface="Noto Sans Symbols"/>
              <a:buChar char="✧"/>
            </a:pPr>
            <a:r>
              <a:rPr lang="en-US" sz="2200" dirty="0"/>
              <a:t>Testing is part of a more general verification and validation process, which also includes static validation techniques.</a:t>
            </a:r>
            <a:endParaRPr sz="2200" i="1" dirty="0"/>
          </a:p>
          <a:p>
            <a:pPr marL="342900" lvl="0" indent="-190500" algn="l" rtl="0">
              <a:spcBef>
                <a:spcPts val="1200"/>
              </a:spcBef>
              <a:spcAft>
                <a:spcPts val="0"/>
              </a:spcAft>
              <a:buClr>
                <a:srgbClr val="46424D"/>
              </a:buClr>
              <a:buSzPts val="2400"/>
              <a:buFont typeface="Noto Sans Symbols"/>
              <a:buNone/>
            </a:pPr>
            <a:endParaRPr dirty="0"/>
          </a:p>
        </p:txBody>
      </p:sp>
      <p:sp>
        <p:nvSpPr>
          <p:cNvPr id="107" name="Google Shape;107;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8 Software testing</a:t>
            </a:r>
            <a:endParaRPr/>
          </a:p>
        </p:txBody>
      </p:sp>
      <p:sp>
        <p:nvSpPr>
          <p:cNvPr id="108" name="Google Shape;108;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Program testing goals</a:t>
            </a:r>
            <a:endParaRPr/>
          </a:p>
        </p:txBody>
      </p:sp>
      <p:sp>
        <p:nvSpPr>
          <p:cNvPr id="114" name="Google Shape;114;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dirty="0"/>
              <a:t>To demonstrate to the developer and the customer that the software meets its requirements. </a:t>
            </a:r>
            <a:endParaRPr dirty="0"/>
          </a:p>
          <a:p>
            <a:pPr marL="742950" lvl="1" indent="-285750" algn="l" rtl="0">
              <a:spcBef>
                <a:spcPts val="900"/>
              </a:spcBef>
              <a:spcAft>
                <a:spcPts val="0"/>
              </a:spcAft>
              <a:buClr>
                <a:srgbClr val="46424D"/>
              </a:buClr>
              <a:buSzPts val="2000"/>
              <a:buChar char="▪"/>
            </a:pPr>
            <a:r>
              <a:rPr lang="en-US" dirty="0"/>
              <a:t>For custom software, this means that there should be at least one test for every requirement in the requirements document. For generic software products, it means that there should be tests for all the system features, plus combinations of these features, that will be incorporated in the product release.  </a:t>
            </a:r>
            <a:endParaRPr dirty="0"/>
          </a:p>
          <a:p>
            <a:pPr marL="342900" lvl="0" indent="-342900" algn="l" rtl="0">
              <a:spcBef>
                <a:spcPts val="900"/>
              </a:spcBef>
              <a:spcAft>
                <a:spcPts val="0"/>
              </a:spcAft>
              <a:buClr>
                <a:srgbClr val="46424D"/>
              </a:buClr>
              <a:buSzPts val="2400"/>
              <a:buFont typeface="Noto Sans Symbols"/>
              <a:buChar char="✧"/>
            </a:pPr>
            <a:r>
              <a:rPr lang="en-US" dirty="0"/>
              <a:t>To discover situations in which the behavior of the software is incorrect, undesirable or does not conform to its specification. </a:t>
            </a:r>
            <a:endParaRPr dirty="0"/>
          </a:p>
          <a:p>
            <a:pPr marL="742950" lvl="1" indent="-285750" algn="l" rtl="0">
              <a:spcBef>
                <a:spcPts val="900"/>
              </a:spcBef>
              <a:spcAft>
                <a:spcPts val="0"/>
              </a:spcAft>
              <a:buClr>
                <a:srgbClr val="46424D"/>
              </a:buClr>
              <a:buSzPts val="2000"/>
              <a:buChar char="▪"/>
            </a:pPr>
            <a:r>
              <a:rPr lang="en-US" dirty="0"/>
              <a:t>Defect testing is concerned with rooting out undesirable system behavior such as system crashes, unwanted interactions with other systems, incorrect computations and data corruption.</a:t>
            </a:r>
            <a:endParaRPr dirty="0"/>
          </a:p>
          <a:p>
            <a:pPr marL="342900" lvl="0" indent="-190500" algn="l" rtl="0">
              <a:spcBef>
                <a:spcPts val="900"/>
              </a:spcBef>
              <a:spcAft>
                <a:spcPts val="0"/>
              </a:spcAft>
              <a:buClr>
                <a:srgbClr val="46424D"/>
              </a:buClr>
              <a:buSzPts val="2400"/>
              <a:buFont typeface="Noto Sans Symbols"/>
              <a:buNone/>
            </a:pPr>
            <a:endParaRPr dirty="0"/>
          </a:p>
        </p:txBody>
      </p:sp>
      <p:sp>
        <p:nvSpPr>
          <p:cNvPr id="115" name="Google Shape;115;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16" name="Google Shape;116;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8 Software testing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4B96A188-B57E-A3FE-5713-A1936B8320ED}"/>
            </a:ext>
          </a:extLst>
        </p:cNvPr>
        <p:cNvGrpSpPr/>
        <p:nvPr/>
      </p:nvGrpSpPr>
      <p:grpSpPr>
        <a:xfrm>
          <a:off x="0" y="0"/>
          <a:ext cx="0" cy="0"/>
          <a:chOff x="0" y="0"/>
          <a:chExt cx="0" cy="0"/>
        </a:xfrm>
      </p:grpSpPr>
      <p:sp>
        <p:nvSpPr>
          <p:cNvPr id="97" name="Google Shape;97;p14">
            <a:extLst>
              <a:ext uri="{FF2B5EF4-FFF2-40B4-BE49-F238E27FC236}">
                <a16:creationId xmlns:a16="http://schemas.microsoft.com/office/drawing/2014/main" id="{0D24F02E-8CB8-B27F-AEEE-9E1388B0C5F9}"/>
              </a:ext>
            </a:extLst>
          </p:cNvPr>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fontAlgn="base"/>
            <a:r>
              <a:rPr lang="en-US" dirty="0"/>
              <a:t>Bug vs Defect vs Error vs Fault vs Failure</a:t>
            </a:r>
          </a:p>
        </p:txBody>
      </p:sp>
      <p:sp>
        <p:nvSpPr>
          <p:cNvPr id="99" name="Google Shape;99;p14">
            <a:extLst>
              <a:ext uri="{FF2B5EF4-FFF2-40B4-BE49-F238E27FC236}">
                <a16:creationId xmlns:a16="http://schemas.microsoft.com/office/drawing/2014/main" id="{CE9EE5CB-440C-AF80-EB6C-4EC3670452A3}"/>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00" name="Google Shape;100;p14">
            <a:extLst>
              <a:ext uri="{FF2B5EF4-FFF2-40B4-BE49-F238E27FC236}">
                <a16:creationId xmlns:a16="http://schemas.microsoft.com/office/drawing/2014/main" id="{09788178-7912-28D2-CAF5-40420F538D78}"/>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8 Software testing</a:t>
            </a:r>
            <a:endParaRPr/>
          </a:p>
        </p:txBody>
      </p:sp>
      <p:pic>
        <p:nvPicPr>
          <p:cNvPr id="4" name="Picture 3">
            <a:extLst>
              <a:ext uri="{FF2B5EF4-FFF2-40B4-BE49-F238E27FC236}">
                <a16:creationId xmlns:a16="http://schemas.microsoft.com/office/drawing/2014/main" id="{1BA73C62-6751-E882-7B42-F5306639EE2F}"/>
              </a:ext>
            </a:extLst>
          </p:cNvPr>
          <p:cNvPicPr>
            <a:picLocks noChangeAspect="1"/>
          </p:cNvPicPr>
          <p:nvPr/>
        </p:nvPicPr>
        <p:blipFill>
          <a:blip r:embed="rId3"/>
          <a:stretch>
            <a:fillRect/>
          </a:stretch>
        </p:blipFill>
        <p:spPr>
          <a:xfrm>
            <a:off x="29753" y="1530903"/>
            <a:ext cx="9084494" cy="5008009"/>
          </a:xfrm>
          <a:prstGeom prst="rect">
            <a:avLst/>
          </a:prstGeom>
        </p:spPr>
      </p:pic>
    </p:spTree>
    <p:extLst>
      <p:ext uri="{BB962C8B-B14F-4D97-AF65-F5344CB8AC3E}">
        <p14:creationId xmlns:p14="http://schemas.microsoft.com/office/powerpoint/2010/main" val="3345558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882" y="429624"/>
            <a:ext cx="6435205" cy="633937"/>
          </a:xfrm>
          <a:prstGeom prst="rect">
            <a:avLst/>
          </a:prstGeom>
        </p:spPr>
        <p:txBody>
          <a:bodyPr spcFirstLastPara="1" vert="horz" wrap="square" lIns="0" tIns="249346" rIns="0" bIns="0" rtlCol="0" anchor="ctr" anchorCtr="0">
            <a:spAutoFit/>
          </a:bodyPr>
          <a:lstStyle/>
          <a:p>
            <a:pPr marL="382141">
              <a:spcBef>
                <a:spcPts val="88"/>
              </a:spcBef>
            </a:pPr>
            <a:r>
              <a:rPr dirty="0"/>
              <a:t>Software</a:t>
            </a:r>
            <a:r>
              <a:rPr spc="-146" dirty="0"/>
              <a:t> </a:t>
            </a:r>
            <a:r>
              <a:rPr spc="-35" dirty="0"/>
              <a:t>Testing</a:t>
            </a:r>
            <a:r>
              <a:rPr spc="-180" dirty="0"/>
              <a:t> </a:t>
            </a:r>
            <a:r>
              <a:rPr spc="-9" dirty="0"/>
              <a:t>Strategies</a:t>
            </a:r>
          </a:p>
        </p:txBody>
      </p:sp>
      <p:sp>
        <p:nvSpPr>
          <p:cNvPr id="3" name="object 3"/>
          <p:cNvSpPr txBox="1">
            <a:spLocks noGrp="1"/>
          </p:cNvSpPr>
          <p:nvPr>
            <p:ph type="body" idx="1"/>
          </p:nvPr>
        </p:nvSpPr>
        <p:spPr>
          <a:xfrm>
            <a:off x="537882" y="1657747"/>
            <a:ext cx="7261412" cy="3241257"/>
          </a:xfrm>
          <a:prstGeom prst="rect">
            <a:avLst/>
          </a:prstGeom>
        </p:spPr>
        <p:txBody>
          <a:bodyPr spcFirstLastPara="1" vert="horz" wrap="square" lIns="0" tIns="42022" rIns="0" bIns="0" rtlCol="0" anchor="t" anchorCtr="0">
            <a:spAutoFit/>
          </a:bodyPr>
          <a:lstStyle/>
          <a:p>
            <a:pPr marL="414079" marR="978886" indent="-403433">
              <a:lnSpc>
                <a:spcPts val="1906"/>
              </a:lnSpc>
              <a:spcBef>
                <a:spcPts val="331"/>
              </a:spcBef>
              <a:buAutoNum type="arabicPeriod"/>
              <a:tabLst>
                <a:tab pos="414079" algn="l"/>
                <a:tab pos="415199" algn="l"/>
              </a:tabLst>
            </a:pPr>
            <a:r>
              <a:rPr sz="1765" dirty="0"/>
              <a:t>	</a:t>
            </a:r>
            <a:r>
              <a:rPr sz="1765" spc="-9" dirty="0"/>
              <a:t>Before</a:t>
            </a:r>
            <a:r>
              <a:rPr sz="1765" spc="-40" dirty="0"/>
              <a:t> </a:t>
            </a:r>
            <a:r>
              <a:rPr sz="1765" dirty="0"/>
              <a:t>testing</a:t>
            </a:r>
            <a:r>
              <a:rPr sz="1765" spc="-71" dirty="0"/>
              <a:t> </a:t>
            </a:r>
            <a:r>
              <a:rPr sz="1765" dirty="0"/>
              <a:t>starts,</a:t>
            </a:r>
            <a:r>
              <a:rPr sz="1765" spc="-62" dirty="0"/>
              <a:t> </a:t>
            </a:r>
            <a:r>
              <a:rPr sz="1765" dirty="0"/>
              <a:t>it’s</a:t>
            </a:r>
            <a:r>
              <a:rPr sz="1765" spc="-62" dirty="0"/>
              <a:t> </a:t>
            </a:r>
            <a:r>
              <a:rPr sz="1765" dirty="0"/>
              <a:t>necessary</a:t>
            </a:r>
            <a:r>
              <a:rPr sz="1765" spc="-40" dirty="0"/>
              <a:t> </a:t>
            </a:r>
            <a:r>
              <a:rPr sz="1765" dirty="0"/>
              <a:t>to</a:t>
            </a:r>
            <a:r>
              <a:rPr sz="1765" spc="-31" dirty="0"/>
              <a:t> </a:t>
            </a:r>
            <a:r>
              <a:rPr sz="1765" dirty="0"/>
              <a:t>identify</a:t>
            </a:r>
            <a:r>
              <a:rPr sz="1765" spc="-71" dirty="0"/>
              <a:t> </a:t>
            </a:r>
            <a:r>
              <a:rPr sz="1765" dirty="0"/>
              <a:t>and</a:t>
            </a:r>
            <a:r>
              <a:rPr sz="1765" spc="-40" dirty="0"/>
              <a:t> </a:t>
            </a:r>
            <a:r>
              <a:rPr sz="1765" dirty="0"/>
              <a:t>specify</a:t>
            </a:r>
            <a:r>
              <a:rPr sz="1765" spc="-71" dirty="0"/>
              <a:t> </a:t>
            </a:r>
            <a:r>
              <a:rPr sz="1765" spc="-22" dirty="0"/>
              <a:t>the </a:t>
            </a:r>
            <a:r>
              <a:rPr sz="1765" spc="-9" dirty="0"/>
              <a:t>requirements </a:t>
            </a:r>
            <a:r>
              <a:rPr sz="1765" dirty="0"/>
              <a:t>of</a:t>
            </a:r>
            <a:r>
              <a:rPr sz="1765" spc="-40" dirty="0"/>
              <a:t> </a:t>
            </a:r>
            <a:r>
              <a:rPr sz="1765" dirty="0"/>
              <a:t>the</a:t>
            </a:r>
            <a:r>
              <a:rPr sz="1765" spc="-18" dirty="0"/>
              <a:t> </a:t>
            </a:r>
            <a:r>
              <a:rPr sz="1765" dirty="0"/>
              <a:t>product</a:t>
            </a:r>
            <a:r>
              <a:rPr sz="1765" spc="-35" dirty="0"/>
              <a:t> </a:t>
            </a:r>
            <a:r>
              <a:rPr sz="1765" dirty="0"/>
              <a:t>in</a:t>
            </a:r>
            <a:r>
              <a:rPr sz="1765" spc="-22" dirty="0"/>
              <a:t> </a:t>
            </a:r>
            <a:r>
              <a:rPr sz="1765" dirty="0"/>
              <a:t>a</a:t>
            </a:r>
            <a:r>
              <a:rPr sz="1765" spc="-18" dirty="0"/>
              <a:t> </a:t>
            </a:r>
            <a:r>
              <a:rPr sz="1765" dirty="0"/>
              <a:t>quantifiable</a:t>
            </a:r>
            <a:r>
              <a:rPr sz="1765" spc="-53" dirty="0"/>
              <a:t> </a:t>
            </a:r>
            <a:r>
              <a:rPr sz="1765" spc="-9" dirty="0"/>
              <a:t>manner.</a:t>
            </a:r>
            <a:endParaRPr sz="1765" dirty="0">
              <a:latin typeface="Calibri"/>
              <a:cs typeface="Calibri"/>
            </a:endParaRPr>
          </a:p>
          <a:p>
            <a:pPr marL="437612" indent="-426406">
              <a:buAutoNum type="arabicPeriod" startAt="2"/>
              <a:tabLst>
                <a:tab pos="437612" algn="l"/>
              </a:tabLst>
            </a:pPr>
            <a:r>
              <a:rPr sz="1765" dirty="0"/>
              <a:t>Specifying</a:t>
            </a:r>
            <a:r>
              <a:rPr sz="1765" spc="-49" dirty="0"/>
              <a:t> </a:t>
            </a:r>
            <a:r>
              <a:rPr sz="1765" dirty="0"/>
              <a:t>the</a:t>
            </a:r>
            <a:r>
              <a:rPr sz="1765" spc="-26" dirty="0"/>
              <a:t> </a:t>
            </a:r>
            <a:r>
              <a:rPr sz="1765" dirty="0"/>
              <a:t>objectives</a:t>
            </a:r>
            <a:r>
              <a:rPr sz="1765" spc="-35" dirty="0"/>
              <a:t> </a:t>
            </a:r>
            <a:r>
              <a:rPr sz="1765" dirty="0"/>
              <a:t>of</a:t>
            </a:r>
            <a:r>
              <a:rPr sz="1765" spc="-35" dirty="0"/>
              <a:t> </a:t>
            </a:r>
            <a:r>
              <a:rPr sz="1765" dirty="0"/>
              <a:t>testing</a:t>
            </a:r>
            <a:r>
              <a:rPr sz="1765" spc="-44" dirty="0"/>
              <a:t> </a:t>
            </a:r>
            <a:r>
              <a:rPr sz="1765" dirty="0"/>
              <a:t>in</a:t>
            </a:r>
            <a:r>
              <a:rPr sz="1765" spc="-31" dirty="0"/>
              <a:t> </a:t>
            </a:r>
            <a:r>
              <a:rPr sz="1765" dirty="0"/>
              <a:t>a</a:t>
            </a:r>
            <a:r>
              <a:rPr sz="1765" spc="-49" dirty="0"/>
              <a:t> </a:t>
            </a:r>
            <a:r>
              <a:rPr sz="1765" dirty="0"/>
              <a:t>clear</a:t>
            </a:r>
            <a:r>
              <a:rPr sz="1765" spc="-31" dirty="0"/>
              <a:t> </a:t>
            </a:r>
            <a:r>
              <a:rPr sz="1765" dirty="0"/>
              <a:t>and</a:t>
            </a:r>
            <a:r>
              <a:rPr sz="1765" spc="-31" dirty="0"/>
              <a:t> </a:t>
            </a:r>
            <a:r>
              <a:rPr sz="1765" dirty="0"/>
              <a:t>detailed</a:t>
            </a:r>
            <a:r>
              <a:rPr sz="1765" spc="-35" dirty="0"/>
              <a:t> </a:t>
            </a:r>
            <a:r>
              <a:rPr sz="1765" spc="-9" dirty="0"/>
              <a:t>manner.</a:t>
            </a:r>
            <a:endParaRPr lang="en-IN" sz="1765" spc="-9" dirty="0"/>
          </a:p>
          <a:p>
            <a:pPr marL="437612" indent="-426406">
              <a:buAutoNum type="arabicPeriod" startAt="2"/>
              <a:tabLst>
                <a:tab pos="437612" algn="l"/>
              </a:tabLst>
            </a:pPr>
            <a:endParaRPr lang="en-IN" sz="1765" spc="-9" dirty="0"/>
          </a:p>
          <a:p>
            <a:pPr marL="414079" marR="590581" indent="-403433">
              <a:spcBef>
                <a:spcPts val="93"/>
              </a:spcBef>
              <a:buAutoNum type="arabicPeriod" startAt="3"/>
              <a:tabLst>
                <a:tab pos="414079" algn="l"/>
                <a:tab pos="415199" algn="l"/>
              </a:tabLst>
            </a:pPr>
            <a:r>
              <a:rPr lang="en-US" sz="1765" b="1" dirty="0">
                <a:latin typeface="Calibri"/>
                <a:cs typeface="Calibri"/>
              </a:rPr>
              <a:t>	For</a:t>
            </a:r>
            <a:r>
              <a:rPr lang="en-US" sz="1765" b="1" spc="-53" dirty="0">
                <a:latin typeface="Calibri"/>
                <a:cs typeface="Calibri"/>
              </a:rPr>
              <a:t> </a:t>
            </a:r>
            <a:r>
              <a:rPr lang="en-US" sz="1765" b="1" dirty="0">
                <a:latin typeface="Calibri"/>
                <a:cs typeface="Calibri"/>
              </a:rPr>
              <a:t>the</a:t>
            </a:r>
            <a:r>
              <a:rPr lang="en-US" sz="1765" b="1" spc="-44" dirty="0">
                <a:latin typeface="Calibri"/>
                <a:cs typeface="Calibri"/>
              </a:rPr>
              <a:t> </a:t>
            </a:r>
            <a:r>
              <a:rPr lang="en-US" sz="1765" b="1" spc="-9" dirty="0">
                <a:latin typeface="Calibri"/>
                <a:cs typeface="Calibri"/>
              </a:rPr>
              <a:t>software,</a:t>
            </a:r>
            <a:r>
              <a:rPr lang="en-US" sz="1765" b="1" spc="-35" dirty="0">
                <a:latin typeface="Calibri"/>
                <a:cs typeface="Calibri"/>
              </a:rPr>
              <a:t> </a:t>
            </a:r>
            <a:r>
              <a:rPr lang="en-US" sz="1765" b="1" dirty="0">
                <a:latin typeface="Calibri"/>
                <a:cs typeface="Calibri"/>
              </a:rPr>
              <a:t>identifying</a:t>
            </a:r>
            <a:r>
              <a:rPr lang="en-US" sz="1765" b="1" spc="-44" dirty="0">
                <a:latin typeface="Calibri"/>
                <a:cs typeface="Calibri"/>
              </a:rPr>
              <a:t> </a:t>
            </a:r>
            <a:r>
              <a:rPr lang="en-US" sz="1765" b="1" dirty="0">
                <a:latin typeface="Calibri"/>
                <a:cs typeface="Calibri"/>
              </a:rPr>
              <a:t>the</a:t>
            </a:r>
            <a:r>
              <a:rPr lang="en-US" sz="1765" b="1" spc="-44" dirty="0">
                <a:latin typeface="Calibri"/>
                <a:cs typeface="Calibri"/>
              </a:rPr>
              <a:t> </a:t>
            </a:r>
            <a:r>
              <a:rPr lang="en-US" sz="1765" b="1" dirty="0">
                <a:latin typeface="Calibri"/>
                <a:cs typeface="Calibri"/>
              </a:rPr>
              <a:t>user’s</a:t>
            </a:r>
            <a:r>
              <a:rPr lang="en-US" sz="1765" b="1" spc="-53" dirty="0">
                <a:latin typeface="Calibri"/>
                <a:cs typeface="Calibri"/>
              </a:rPr>
              <a:t> </a:t>
            </a:r>
            <a:r>
              <a:rPr lang="en-US" sz="1765" b="1" spc="-9" dirty="0">
                <a:latin typeface="Calibri"/>
                <a:cs typeface="Calibri"/>
              </a:rPr>
              <a:t>category</a:t>
            </a:r>
            <a:r>
              <a:rPr lang="en-US" sz="1765" b="1" spc="-31" dirty="0">
                <a:latin typeface="Calibri"/>
                <a:cs typeface="Calibri"/>
              </a:rPr>
              <a:t> </a:t>
            </a:r>
            <a:r>
              <a:rPr lang="en-US" sz="1765" b="1" dirty="0">
                <a:latin typeface="Calibri"/>
                <a:cs typeface="Calibri"/>
              </a:rPr>
              <a:t>and</a:t>
            </a:r>
            <a:r>
              <a:rPr lang="en-US" sz="1765" b="1" spc="-31" dirty="0">
                <a:latin typeface="Calibri"/>
                <a:cs typeface="Calibri"/>
              </a:rPr>
              <a:t> </a:t>
            </a:r>
            <a:r>
              <a:rPr lang="en-US" sz="1765" b="1" dirty="0">
                <a:latin typeface="Calibri"/>
                <a:cs typeface="Calibri"/>
              </a:rPr>
              <a:t>developing</a:t>
            </a:r>
            <a:r>
              <a:rPr lang="en-US" sz="1765" b="1" spc="-31" dirty="0">
                <a:latin typeface="Calibri"/>
                <a:cs typeface="Calibri"/>
              </a:rPr>
              <a:t> </a:t>
            </a:r>
            <a:r>
              <a:rPr lang="en-US" sz="1765" b="1" spc="-44" dirty="0">
                <a:latin typeface="Calibri"/>
                <a:cs typeface="Calibri"/>
              </a:rPr>
              <a:t>a </a:t>
            </a:r>
            <a:r>
              <a:rPr lang="en-US" sz="1765" b="1" dirty="0">
                <a:latin typeface="Calibri"/>
                <a:cs typeface="Calibri"/>
              </a:rPr>
              <a:t>profile</a:t>
            </a:r>
            <a:r>
              <a:rPr lang="en-US" sz="1765" b="1" spc="-57" dirty="0">
                <a:latin typeface="Calibri"/>
                <a:cs typeface="Calibri"/>
              </a:rPr>
              <a:t> </a:t>
            </a:r>
            <a:r>
              <a:rPr lang="en-US" sz="1765" b="1" dirty="0">
                <a:latin typeface="Calibri"/>
                <a:cs typeface="Calibri"/>
              </a:rPr>
              <a:t>for</a:t>
            </a:r>
            <a:r>
              <a:rPr lang="en-US" sz="1765" b="1" spc="-49" dirty="0">
                <a:latin typeface="Calibri"/>
                <a:cs typeface="Calibri"/>
              </a:rPr>
              <a:t> </a:t>
            </a:r>
            <a:r>
              <a:rPr lang="en-US" sz="1765" b="1" dirty="0">
                <a:latin typeface="Calibri"/>
                <a:cs typeface="Calibri"/>
              </a:rPr>
              <a:t>each</a:t>
            </a:r>
            <a:r>
              <a:rPr lang="en-US" sz="1765" b="1" spc="-44" dirty="0">
                <a:latin typeface="Calibri"/>
                <a:cs typeface="Calibri"/>
              </a:rPr>
              <a:t> </a:t>
            </a:r>
            <a:r>
              <a:rPr lang="en-US" sz="1765" b="1" spc="-18" dirty="0">
                <a:latin typeface="Calibri"/>
                <a:cs typeface="Calibri"/>
              </a:rPr>
              <a:t>user.</a:t>
            </a:r>
            <a:endParaRPr lang="en-US" sz="1765" dirty="0">
              <a:latin typeface="Calibri"/>
              <a:cs typeface="Calibri"/>
            </a:endParaRPr>
          </a:p>
          <a:p>
            <a:pPr>
              <a:spcBef>
                <a:spcPts val="807"/>
              </a:spcBef>
            </a:pPr>
            <a:endParaRPr lang="en-US" sz="1765" dirty="0">
              <a:latin typeface="Calibri"/>
              <a:cs typeface="Calibri"/>
            </a:endParaRPr>
          </a:p>
          <a:p>
            <a:pPr marL="413519" indent="-402313" algn="just">
              <a:buAutoNum type="arabicPeriod" startAt="4"/>
              <a:tabLst>
                <a:tab pos="413519" algn="l"/>
              </a:tabLst>
            </a:pPr>
            <a:r>
              <a:rPr lang="en-US" sz="1765" b="1" dirty="0">
                <a:latin typeface="Calibri"/>
                <a:cs typeface="Calibri"/>
              </a:rPr>
              <a:t>Developing</a:t>
            </a:r>
            <a:r>
              <a:rPr lang="en-US" sz="1765" b="1" spc="-31" dirty="0">
                <a:latin typeface="Calibri"/>
                <a:cs typeface="Calibri"/>
              </a:rPr>
              <a:t> </a:t>
            </a:r>
            <a:r>
              <a:rPr lang="en-US" sz="1765" b="1" dirty="0">
                <a:latin typeface="Calibri"/>
                <a:cs typeface="Calibri"/>
              </a:rPr>
              <a:t>a</a:t>
            </a:r>
            <a:r>
              <a:rPr lang="en-US" sz="1765" b="1" spc="-31" dirty="0">
                <a:latin typeface="Calibri"/>
                <a:cs typeface="Calibri"/>
              </a:rPr>
              <a:t> </a:t>
            </a:r>
            <a:r>
              <a:rPr lang="en-US" sz="1765" b="1" dirty="0">
                <a:latin typeface="Calibri"/>
                <a:cs typeface="Calibri"/>
              </a:rPr>
              <a:t>test</a:t>
            </a:r>
            <a:r>
              <a:rPr lang="en-US" sz="1765" b="1" spc="-31" dirty="0">
                <a:latin typeface="Calibri"/>
                <a:cs typeface="Calibri"/>
              </a:rPr>
              <a:t> </a:t>
            </a:r>
            <a:r>
              <a:rPr lang="en-US" sz="1765" b="1" dirty="0">
                <a:latin typeface="Calibri"/>
                <a:cs typeface="Calibri"/>
              </a:rPr>
              <a:t>plan</a:t>
            </a:r>
            <a:r>
              <a:rPr lang="en-US" sz="1765" b="1" spc="-35" dirty="0">
                <a:latin typeface="Calibri"/>
                <a:cs typeface="Calibri"/>
              </a:rPr>
              <a:t> </a:t>
            </a:r>
            <a:r>
              <a:rPr lang="en-US" sz="1765" b="1" dirty="0">
                <a:latin typeface="Calibri"/>
                <a:cs typeface="Calibri"/>
              </a:rPr>
              <a:t>to</a:t>
            </a:r>
            <a:r>
              <a:rPr lang="en-US" sz="1765" b="1" spc="-35" dirty="0">
                <a:latin typeface="Calibri"/>
                <a:cs typeface="Calibri"/>
              </a:rPr>
              <a:t> </a:t>
            </a:r>
            <a:r>
              <a:rPr lang="en-US" sz="1765" b="1" dirty="0">
                <a:latin typeface="Calibri"/>
                <a:cs typeface="Calibri"/>
              </a:rPr>
              <a:t>give</a:t>
            </a:r>
            <a:r>
              <a:rPr lang="en-US" sz="1765" b="1" spc="-26" dirty="0">
                <a:latin typeface="Calibri"/>
                <a:cs typeface="Calibri"/>
              </a:rPr>
              <a:t> </a:t>
            </a:r>
            <a:r>
              <a:rPr lang="en-US" sz="1765" b="1" dirty="0">
                <a:latin typeface="Calibri"/>
                <a:cs typeface="Calibri"/>
              </a:rPr>
              <a:t>value</a:t>
            </a:r>
            <a:r>
              <a:rPr lang="en-US" sz="1765" b="1" spc="-49" dirty="0">
                <a:latin typeface="Calibri"/>
                <a:cs typeface="Calibri"/>
              </a:rPr>
              <a:t> </a:t>
            </a:r>
            <a:r>
              <a:rPr lang="en-US" sz="1765" b="1" dirty="0">
                <a:latin typeface="Calibri"/>
                <a:cs typeface="Calibri"/>
              </a:rPr>
              <a:t>and</a:t>
            </a:r>
            <a:r>
              <a:rPr lang="en-US" sz="1765" b="1" spc="-31" dirty="0">
                <a:latin typeface="Calibri"/>
                <a:cs typeface="Calibri"/>
              </a:rPr>
              <a:t> </a:t>
            </a:r>
            <a:r>
              <a:rPr lang="en-US" sz="1765" b="1" dirty="0">
                <a:latin typeface="Calibri"/>
                <a:cs typeface="Calibri"/>
              </a:rPr>
              <a:t>focus</a:t>
            </a:r>
            <a:r>
              <a:rPr lang="en-US" sz="1765" b="1" spc="-40" dirty="0">
                <a:latin typeface="Calibri"/>
                <a:cs typeface="Calibri"/>
              </a:rPr>
              <a:t> </a:t>
            </a:r>
            <a:r>
              <a:rPr lang="en-US" sz="1765" b="1" dirty="0">
                <a:latin typeface="Calibri"/>
                <a:cs typeface="Calibri"/>
              </a:rPr>
              <a:t>on</a:t>
            </a:r>
            <a:r>
              <a:rPr lang="en-US" sz="1765" b="1" spc="-49" dirty="0">
                <a:latin typeface="Calibri"/>
                <a:cs typeface="Calibri"/>
              </a:rPr>
              <a:t> </a:t>
            </a:r>
            <a:r>
              <a:rPr lang="en-US" sz="1765" b="1" spc="-18" dirty="0">
                <a:latin typeface="Calibri"/>
                <a:cs typeface="Calibri"/>
              </a:rPr>
              <a:t>rapid-</a:t>
            </a:r>
            <a:r>
              <a:rPr lang="en-US" sz="1765" b="1" dirty="0">
                <a:latin typeface="Calibri"/>
                <a:cs typeface="Calibri"/>
              </a:rPr>
              <a:t>cycle</a:t>
            </a:r>
            <a:r>
              <a:rPr lang="en-US" sz="1765" b="1" spc="-44" dirty="0">
                <a:latin typeface="Calibri"/>
                <a:cs typeface="Calibri"/>
              </a:rPr>
              <a:t> </a:t>
            </a:r>
            <a:r>
              <a:rPr lang="en-US" sz="1765" b="1" spc="-9" dirty="0">
                <a:latin typeface="Calibri"/>
                <a:cs typeface="Calibri"/>
              </a:rPr>
              <a:t>testing.</a:t>
            </a:r>
            <a:endParaRPr lang="en-US" sz="1765" dirty="0">
              <a:latin typeface="Calibri"/>
              <a:cs typeface="Calibri"/>
            </a:endParaRPr>
          </a:p>
          <a:p>
            <a:pPr marL="437612" indent="-426406">
              <a:buAutoNum type="arabicPeriod" startAt="2"/>
              <a:tabLst>
                <a:tab pos="437612" algn="l"/>
              </a:tabLst>
            </a:pPr>
            <a:endParaRPr lang="en-IN" sz="1765" spc="-9" dirty="0"/>
          </a:p>
          <a:p>
            <a:pPr marL="437612" indent="-426406">
              <a:buAutoNum type="arabicPeriod" startAt="2"/>
              <a:tabLst>
                <a:tab pos="437612" algn="l"/>
              </a:tabLst>
            </a:pPr>
            <a:endParaRPr sz="176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882" y="429624"/>
            <a:ext cx="6435205" cy="633937"/>
          </a:xfrm>
          <a:prstGeom prst="rect">
            <a:avLst/>
          </a:prstGeom>
        </p:spPr>
        <p:txBody>
          <a:bodyPr spcFirstLastPara="1" vert="horz" wrap="square" lIns="0" tIns="249346" rIns="0" bIns="0" rtlCol="0" anchor="ctr" anchorCtr="0">
            <a:spAutoFit/>
          </a:bodyPr>
          <a:lstStyle/>
          <a:p>
            <a:pPr marL="382141">
              <a:spcBef>
                <a:spcPts val="88"/>
              </a:spcBef>
            </a:pPr>
            <a:r>
              <a:rPr dirty="0"/>
              <a:t>Software</a:t>
            </a:r>
            <a:r>
              <a:rPr spc="-146" dirty="0"/>
              <a:t> </a:t>
            </a:r>
            <a:r>
              <a:rPr spc="-35" dirty="0"/>
              <a:t>Testing</a:t>
            </a:r>
            <a:r>
              <a:rPr spc="-180" dirty="0"/>
              <a:t> </a:t>
            </a:r>
            <a:r>
              <a:rPr spc="-9" dirty="0"/>
              <a:t>Strategies</a:t>
            </a:r>
          </a:p>
        </p:txBody>
      </p:sp>
      <p:sp>
        <p:nvSpPr>
          <p:cNvPr id="3" name="object 3"/>
          <p:cNvSpPr txBox="1"/>
          <p:nvPr/>
        </p:nvSpPr>
        <p:spPr>
          <a:xfrm>
            <a:off x="1010782" y="1776506"/>
            <a:ext cx="7047940" cy="879902"/>
          </a:xfrm>
          <a:prstGeom prst="rect">
            <a:avLst/>
          </a:prstGeom>
        </p:spPr>
        <p:txBody>
          <a:bodyPr vert="horz" wrap="square" lIns="0" tIns="64434" rIns="0" bIns="0" rtlCol="0">
            <a:spAutoFit/>
          </a:bodyPr>
          <a:lstStyle/>
          <a:p>
            <a:pPr marL="415199" indent="-403993">
              <a:spcBef>
                <a:spcPts val="507"/>
              </a:spcBef>
              <a:buAutoNum type="arabicPeriod" startAt="5"/>
              <a:tabLst>
                <a:tab pos="415199" algn="l"/>
              </a:tabLst>
            </a:pPr>
            <a:r>
              <a:rPr sz="1765" b="1" dirty="0">
                <a:latin typeface="Calibri"/>
                <a:cs typeface="Calibri"/>
              </a:rPr>
              <a:t>Robust</a:t>
            </a:r>
            <a:r>
              <a:rPr sz="1765" b="1" spc="-79" dirty="0">
                <a:latin typeface="Calibri"/>
                <a:cs typeface="Calibri"/>
              </a:rPr>
              <a:t> </a:t>
            </a:r>
            <a:r>
              <a:rPr sz="1765" b="1" dirty="0">
                <a:latin typeface="Calibri"/>
                <a:cs typeface="Calibri"/>
              </a:rPr>
              <a:t>software</a:t>
            </a:r>
            <a:r>
              <a:rPr sz="1765" b="1" spc="-40" dirty="0">
                <a:latin typeface="Calibri"/>
                <a:cs typeface="Calibri"/>
              </a:rPr>
              <a:t> </a:t>
            </a:r>
            <a:r>
              <a:rPr sz="1765" b="1" dirty="0">
                <a:latin typeface="Calibri"/>
                <a:cs typeface="Calibri"/>
              </a:rPr>
              <a:t>is</a:t>
            </a:r>
            <a:r>
              <a:rPr sz="1765" b="1" spc="-62" dirty="0">
                <a:latin typeface="Calibri"/>
                <a:cs typeface="Calibri"/>
              </a:rPr>
              <a:t> </a:t>
            </a:r>
            <a:r>
              <a:rPr sz="1765" b="1" dirty="0">
                <a:latin typeface="Calibri"/>
                <a:cs typeface="Calibri"/>
              </a:rPr>
              <a:t>developed</a:t>
            </a:r>
            <a:r>
              <a:rPr sz="1765" b="1" spc="-26" dirty="0">
                <a:latin typeface="Calibri"/>
                <a:cs typeface="Calibri"/>
              </a:rPr>
              <a:t> </a:t>
            </a:r>
            <a:r>
              <a:rPr sz="1765" b="1" dirty="0">
                <a:latin typeface="Calibri"/>
                <a:cs typeface="Calibri"/>
              </a:rPr>
              <a:t>that</a:t>
            </a:r>
            <a:r>
              <a:rPr sz="1765" b="1" spc="-44" dirty="0">
                <a:latin typeface="Calibri"/>
                <a:cs typeface="Calibri"/>
              </a:rPr>
              <a:t> </a:t>
            </a:r>
            <a:r>
              <a:rPr sz="1765" b="1" dirty="0">
                <a:latin typeface="Calibri"/>
                <a:cs typeface="Calibri"/>
              </a:rPr>
              <a:t>is</a:t>
            </a:r>
            <a:r>
              <a:rPr sz="1765" b="1" spc="-49" dirty="0">
                <a:latin typeface="Calibri"/>
                <a:cs typeface="Calibri"/>
              </a:rPr>
              <a:t> </a:t>
            </a:r>
            <a:r>
              <a:rPr sz="1765" b="1" dirty="0">
                <a:latin typeface="Calibri"/>
                <a:cs typeface="Calibri"/>
              </a:rPr>
              <a:t>designed</a:t>
            </a:r>
            <a:r>
              <a:rPr sz="1765" b="1" spc="-44" dirty="0">
                <a:latin typeface="Calibri"/>
                <a:cs typeface="Calibri"/>
              </a:rPr>
              <a:t> </a:t>
            </a:r>
            <a:r>
              <a:rPr sz="1765" b="1" dirty="0">
                <a:latin typeface="Calibri"/>
                <a:cs typeface="Calibri"/>
              </a:rPr>
              <a:t>to</a:t>
            </a:r>
            <a:r>
              <a:rPr sz="1765" b="1" spc="-49" dirty="0">
                <a:latin typeface="Calibri"/>
                <a:cs typeface="Calibri"/>
              </a:rPr>
              <a:t> </a:t>
            </a:r>
            <a:r>
              <a:rPr sz="1765" b="1" dirty="0">
                <a:latin typeface="Calibri"/>
                <a:cs typeface="Calibri"/>
              </a:rPr>
              <a:t>test</a:t>
            </a:r>
            <a:r>
              <a:rPr sz="1765" b="1" spc="-57" dirty="0">
                <a:latin typeface="Calibri"/>
                <a:cs typeface="Calibri"/>
              </a:rPr>
              <a:t> </a:t>
            </a:r>
            <a:r>
              <a:rPr sz="1765" b="1" spc="-9" dirty="0">
                <a:latin typeface="Calibri"/>
                <a:cs typeface="Calibri"/>
              </a:rPr>
              <a:t>itself.</a:t>
            </a:r>
            <a:endParaRPr sz="1765" dirty="0">
              <a:latin typeface="Calibri"/>
              <a:cs typeface="Calibri"/>
            </a:endParaRPr>
          </a:p>
          <a:p>
            <a:pPr marL="415199" indent="-403993">
              <a:buAutoNum type="arabicPeriod" startAt="6"/>
              <a:tabLst>
                <a:tab pos="415199" algn="l"/>
              </a:tabLst>
            </a:pPr>
            <a:endParaRPr lang="en-IN" sz="1765" b="1" spc="-9" dirty="0">
              <a:latin typeface="Calibri"/>
              <a:cs typeface="Calibri"/>
            </a:endParaRPr>
          </a:p>
          <a:p>
            <a:pPr marL="415199" indent="-403993">
              <a:buAutoNum type="arabicPeriod" startAt="6"/>
              <a:tabLst>
                <a:tab pos="415199" algn="l"/>
              </a:tabLst>
            </a:pPr>
            <a:r>
              <a:rPr sz="1765" b="1" spc="-9" dirty="0">
                <a:latin typeface="Calibri"/>
                <a:cs typeface="Calibri"/>
              </a:rPr>
              <a:t>Before</a:t>
            </a:r>
            <a:r>
              <a:rPr sz="1765" b="1" spc="-40" dirty="0">
                <a:latin typeface="Calibri"/>
                <a:cs typeface="Calibri"/>
              </a:rPr>
              <a:t> </a:t>
            </a:r>
            <a:r>
              <a:rPr sz="1765" b="1" dirty="0">
                <a:latin typeface="Calibri"/>
                <a:cs typeface="Calibri"/>
              </a:rPr>
              <a:t>testing,</a:t>
            </a:r>
            <a:r>
              <a:rPr sz="1765" b="1" spc="-57" dirty="0">
                <a:latin typeface="Calibri"/>
                <a:cs typeface="Calibri"/>
              </a:rPr>
              <a:t> </a:t>
            </a:r>
            <a:r>
              <a:rPr sz="1765" b="1" dirty="0">
                <a:latin typeface="Calibri"/>
                <a:cs typeface="Calibri"/>
              </a:rPr>
              <a:t>using</a:t>
            </a:r>
            <a:r>
              <a:rPr sz="1765" b="1" spc="-53" dirty="0">
                <a:latin typeface="Calibri"/>
                <a:cs typeface="Calibri"/>
              </a:rPr>
              <a:t> </a:t>
            </a:r>
            <a:r>
              <a:rPr sz="1765" b="1" spc="-9" dirty="0">
                <a:latin typeface="Calibri"/>
                <a:cs typeface="Calibri"/>
              </a:rPr>
              <a:t>effective</a:t>
            </a:r>
            <a:r>
              <a:rPr sz="1765" b="1" spc="-35" dirty="0">
                <a:latin typeface="Calibri"/>
                <a:cs typeface="Calibri"/>
              </a:rPr>
              <a:t> </a:t>
            </a:r>
            <a:r>
              <a:rPr sz="1765" b="1" dirty="0">
                <a:latin typeface="Calibri"/>
                <a:cs typeface="Calibri"/>
              </a:rPr>
              <a:t>formal</a:t>
            </a:r>
            <a:r>
              <a:rPr sz="1765" b="1" spc="-26" dirty="0">
                <a:latin typeface="Calibri"/>
                <a:cs typeface="Calibri"/>
              </a:rPr>
              <a:t> </a:t>
            </a:r>
            <a:r>
              <a:rPr sz="1765" b="1" spc="-9" dirty="0">
                <a:latin typeface="Calibri"/>
                <a:cs typeface="Calibri"/>
              </a:rPr>
              <a:t>reviews</a:t>
            </a:r>
            <a:r>
              <a:rPr sz="1765" b="1" spc="-26" dirty="0">
                <a:latin typeface="Calibri"/>
                <a:cs typeface="Calibri"/>
              </a:rPr>
              <a:t> </a:t>
            </a:r>
            <a:r>
              <a:rPr sz="1765" b="1" dirty="0">
                <a:latin typeface="Calibri"/>
                <a:cs typeface="Calibri"/>
              </a:rPr>
              <a:t>as</a:t>
            </a:r>
            <a:r>
              <a:rPr sz="1765" b="1" spc="-31" dirty="0">
                <a:latin typeface="Calibri"/>
                <a:cs typeface="Calibri"/>
              </a:rPr>
              <a:t> </a:t>
            </a:r>
            <a:r>
              <a:rPr sz="1765" b="1" dirty="0">
                <a:latin typeface="Calibri"/>
                <a:cs typeface="Calibri"/>
              </a:rPr>
              <a:t>a</a:t>
            </a:r>
            <a:r>
              <a:rPr sz="1765" b="1" spc="-49" dirty="0">
                <a:latin typeface="Calibri"/>
                <a:cs typeface="Calibri"/>
              </a:rPr>
              <a:t> </a:t>
            </a:r>
            <a:r>
              <a:rPr sz="1765" b="1" spc="-9" dirty="0">
                <a:latin typeface="Calibri"/>
                <a:cs typeface="Calibri"/>
              </a:rPr>
              <a:t>filter.</a:t>
            </a:r>
            <a:endParaRPr sz="1765" dirty="0">
              <a:latin typeface="Calibri"/>
              <a:cs typeface="Calibri"/>
            </a:endParaRPr>
          </a:p>
        </p:txBody>
      </p:sp>
      <p:sp>
        <p:nvSpPr>
          <p:cNvPr id="4" name="object 3"/>
          <p:cNvSpPr txBox="1"/>
          <p:nvPr/>
        </p:nvSpPr>
        <p:spPr>
          <a:xfrm>
            <a:off x="941956" y="3206247"/>
            <a:ext cx="6893859" cy="1472537"/>
          </a:xfrm>
          <a:prstGeom prst="rect">
            <a:avLst/>
          </a:prstGeom>
        </p:spPr>
        <p:txBody>
          <a:bodyPr vert="horz" wrap="square" lIns="0" tIns="11766" rIns="0" bIns="0" rtlCol="0">
            <a:spAutoFit/>
          </a:bodyPr>
          <a:lstStyle/>
          <a:p>
            <a:pPr marL="414079" marR="253827" indent="-403433">
              <a:spcBef>
                <a:spcPts val="93"/>
              </a:spcBef>
              <a:buAutoNum type="arabicPeriod" startAt="7"/>
              <a:tabLst>
                <a:tab pos="414079" algn="l"/>
                <a:tab pos="415199" algn="l"/>
              </a:tabLst>
            </a:pPr>
            <a:r>
              <a:rPr sz="1765" b="1" dirty="0">
                <a:latin typeface="Calibri"/>
                <a:cs typeface="Calibri"/>
              </a:rPr>
              <a:t>	Conduct</a:t>
            </a:r>
            <a:r>
              <a:rPr sz="1765" b="1" spc="-62" dirty="0">
                <a:latin typeface="Calibri"/>
                <a:cs typeface="Calibri"/>
              </a:rPr>
              <a:t> </a:t>
            </a:r>
            <a:r>
              <a:rPr sz="1765" b="1" dirty="0">
                <a:latin typeface="Calibri"/>
                <a:cs typeface="Calibri"/>
              </a:rPr>
              <a:t>formal</a:t>
            </a:r>
            <a:r>
              <a:rPr sz="1765" b="1" spc="-31" dirty="0">
                <a:latin typeface="Calibri"/>
                <a:cs typeface="Calibri"/>
              </a:rPr>
              <a:t> </a:t>
            </a:r>
            <a:r>
              <a:rPr sz="1765" b="1" dirty="0">
                <a:latin typeface="Calibri"/>
                <a:cs typeface="Calibri"/>
              </a:rPr>
              <a:t>technical</a:t>
            </a:r>
            <a:r>
              <a:rPr sz="1765" b="1" spc="-62" dirty="0">
                <a:latin typeface="Calibri"/>
                <a:cs typeface="Calibri"/>
              </a:rPr>
              <a:t> </a:t>
            </a:r>
            <a:r>
              <a:rPr sz="1765" b="1" spc="-9" dirty="0">
                <a:latin typeface="Calibri"/>
                <a:cs typeface="Calibri"/>
              </a:rPr>
              <a:t>reviews</a:t>
            </a:r>
            <a:r>
              <a:rPr sz="1765" b="1" spc="-31" dirty="0">
                <a:latin typeface="Calibri"/>
                <a:cs typeface="Calibri"/>
              </a:rPr>
              <a:t> </a:t>
            </a:r>
            <a:r>
              <a:rPr sz="1765" b="1" dirty="0">
                <a:latin typeface="Calibri"/>
                <a:cs typeface="Calibri"/>
              </a:rPr>
              <a:t>to</a:t>
            </a:r>
            <a:r>
              <a:rPr sz="1765" b="1" spc="-49" dirty="0">
                <a:latin typeface="Calibri"/>
                <a:cs typeface="Calibri"/>
              </a:rPr>
              <a:t> </a:t>
            </a:r>
            <a:r>
              <a:rPr sz="1765" b="1" spc="-9" dirty="0">
                <a:latin typeface="Calibri"/>
                <a:cs typeface="Calibri"/>
              </a:rPr>
              <a:t>evaluate</a:t>
            </a:r>
            <a:r>
              <a:rPr sz="1765" b="1" spc="-44" dirty="0">
                <a:latin typeface="Calibri"/>
                <a:cs typeface="Calibri"/>
              </a:rPr>
              <a:t> </a:t>
            </a:r>
            <a:r>
              <a:rPr sz="1765" b="1" dirty="0">
                <a:latin typeface="Calibri"/>
                <a:cs typeface="Calibri"/>
              </a:rPr>
              <a:t>the</a:t>
            </a:r>
            <a:r>
              <a:rPr sz="1765" b="1" spc="-40" dirty="0">
                <a:latin typeface="Calibri"/>
                <a:cs typeface="Calibri"/>
              </a:rPr>
              <a:t> </a:t>
            </a:r>
            <a:r>
              <a:rPr sz="1765" b="1" dirty="0">
                <a:latin typeface="Calibri"/>
                <a:cs typeface="Calibri"/>
              </a:rPr>
              <a:t>nature,</a:t>
            </a:r>
            <a:r>
              <a:rPr sz="1765" b="1" spc="-49" dirty="0">
                <a:latin typeface="Calibri"/>
                <a:cs typeface="Calibri"/>
              </a:rPr>
              <a:t> </a:t>
            </a:r>
            <a:r>
              <a:rPr sz="1765" b="1" dirty="0">
                <a:latin typeface="Calibri"/>
                <a:cs typeface="Calibri"/>
              </a:rPr>
              <a:t>quality</a:t>
            </a:r>
            <a:r>
              <a:rPr sz="1765" b="1" spc="-57" dirty="0">
                <a:latin typeface="Calibri"/>
                <a:cs typeface="Calibri"/>
              </a:rPr>
              <a:t> </a:t>
            </a:r>
            <a:r>
              <a:rPr sz="1765" b="1" spc="-22" dirty="0">
                <a:latin typeface="Calibri"/>
                <a:cs typeface="Calibri"/>
              </a:rPr>
              <a:t>or </a:t>
            </a:r>
            <a:r>
              <a:rPr sz="1765" b="1" dirty="0">
                <a:latin typeface="Calibri"/>
                <a:cs typeface="Calibri"/>
              </a:rPr>
              <a:t>ability</a:t>
            </a:r>
            <a:r>
              <a:rPr sz="1765" b="1" spc="-44" dirty="0">
                <a:latin typeface="Calibri"/>
                <a:cs typeface="Calibri"/>
              </a:rPr>
              <a:t> </a:t>
            </a:r>
            <a:r>
              <a:rPr sz="1765" b="1" dirty="0">
                <a:latin typeface="Calibri"/>
                <a:cs typeface="Calibri"/>
              </a:rPr>
              <a:t>of</a:t>
            </a:r>
            <a:r>
              <a:rPr sz="1765" b="1" spc="-31" dirty="0">
                <a:latin typeface="Calibri"/>
                <a:cs typeface="Calibri"/>
              </a:rPr>
              <a:t> </a:t>
            </a:r>
            <a:r>
              <a:rPr sz="1765" b="1" dirty="0">
                <a:latin typeface="Calibri"/>
                <a:cs typeface="Calibri"/>
              </a:rPr>
              <a:t>the</a:t>
            </a:r>
            <a:r>
              <a:rPr sz="1765" b="1" spc="-44" dirty="0">
                <a:latin typeface="Calibri"/>
                <a:cs typeface="Calibri"/>
              </a:rPr>
              <a:t> </a:t>
            </a:r>
            <a:r>
              <a:rPr sz="1765" b="1" dirty="0">
                <a:latin typeface="Calibri"/>
                <a:cs typeface="Calibri"/>
              </a:rPr>
              <a:t>test</a:t>
            </a:r>
            <a:r>
              <a:rPr sz="1765" b="1" spc="-49" dirty="0">
                <a:latin typeface="Calibri"/>
                <a:cs typeface="Calibri"/>
              </a:rPr>
              <a:t> </a:t>
            </a:r>
            <a:r>
              <a:rPr sz="1765" b="1" spc="-9" dirty="0">
                <a:latin typeface="Calibri"/>
                <a:cs typeface="Calibri"/>
              </a:rPr>
              <a:t>strategy</a:t>
            </a:r>
            <a:r>
              <a:rPr sz="1765" b="1" spc="-26" dirty="0">
                <a:latin typeface="Calibri"/>
                <a:cs typeface="Calibri"/>
              </a:rPr>
              <a:t> </a:t>
            </a:r>
            <a:r>
              <a:rPr sz="1765" b="1" dirty="0">
                <a:latin typeface="Calibri"/>
                <a:cs typeface="Calibri"/>
              </a:rPr>
              <a:t>and</a:t>
            </a:r>
            <a:r>
              <a:rPr sz="1765" b="1" spc="-31" dirty="0">
                <a:latin typeface="Calibri"/>
                <a:cs typeface="Calibri"/>
              </a:rPr>
              <a:t> </a:t>
            </a:r>
            <a:r>
              <a:rPr sz="1765" b="1" dirty="0">
                <a:latin typeface="Calibri"/>
                <a:cs typeface="Calibri"/>
              </a:rPr>
              <a:t>test</a:t>
            </a:r>
            <a:r>
              <a:rPr sz="1765" b="1" spc="-49" dirty="0">
                <a:latin typeface="Calibri"/>
                <a:cs typeface="Calibri"/>
              </a:rPr>
              <a:t> </a:t>
            </a:r>
            <a:r>
              <a:rPr sz="1765" b="1" spc="-9" dirty="0">
                <a:latin typeface="Calibri"/>
                <a:cs typeface="Calibri"/>
              </a:rPr>
              <a:t>cases.</a:t>
            </a:r>
            <a:endParaRPr sz="1765" dirty="0">
              <a:latin typeface="Calibri"/>
              <a:cs typeface="Calibri"/>
            </a:endParaRPr>
          </a:p>
          <a:p>
            <a:pPr>
              <a:spcBef>
                <a:spcPts val="807"/>
              </a:spcBef>
            </a:pPr>
            <a:endParaRPr sz="1765" dirty="0">
              <a:latin typeface="Calibri"/>
              <a:cs typeface="Calibri"/>
            </a:endParaRPr>
          </a:p>
          <a:p>
            <a:pPr marL="414079" marR="381020" indent="-403433">
              <a:buAutoNum type="arabicPeriod" startAt="8"/>
              <a:tabLst>
                <a:tab pos="414079" algn="l"/>
                <a:tab pos="415199" algn="l"/>
              </a:tabLst>
            </a:pPr>
            <a:r>
              <a:rPr sz="1765" b="1" dirty="0">
                <a:latin typeface="Calibri"/>
                <a:cs typeface="Calibri"/>
              </a:rPr>
              <a:t>	For</a:t>
            </a:r>
            <a:r>
              <a:rPr sz="1765" b="1" spc="-53" dirty="0">
                <a:latin typeface="Calibri"/>
                <a:cs typeface="Calibri"/>
              </a:rPr>
              <a:t> </a:t>
            </a:r>
            <a:r>
              <a:rPr sz="1765" b="1" dirty="0">
                <a:latin typeface="Calibri"/>
                <a:cs typeface="Calibri"/>
              </a:rPr>
              <a:t>the</a:t>
            </a:r>
            <a:r>
              <a:rPr sz="1765" b="1" spc="-49" dirty="0">
                <a:latin typeface="Calibri"/>
                <a:cs typeface="Calibri"/>
              </a:rPr>
              <a:t> </a:t>
            </a:r>
            <a:r>
              <a:rPr sz="1765" b="1" dirty="0">
                <a:latin typeface="Calibri"/>
                <a:cs typeface="Calibri"/>
              </a:rPr>
              <a:t>testing</a:t>
            </a:r>
            <a:r>
              <a:rPr sz="1765" b="1" spc="-49" dirty="0">
                <a:latin typeface="Calibri"/>
                <a:cs typeface="Calibri"/>
              </a:rPr>
              <a:t> </a:t>
            </a:r>
            <a:r>
              <a:rPr sz="1765" b="1" dirty="0">
                <a:latin typeface="Calibri"/>
                <a:cs typeface="Calibri"/>
              </a:rPr>
              <a:t>process,</a:t>
            </a:r>
            <a:r>
              <a:rPr sz="1765" b="1" spc="-57" dirty="0">
                <a:latin typeface="Calibri"/>
                <a:cs typeface="Calibri"/>
              </a:rPr>
              <a:t> </a:t>
            </a:r>
            <a:r>
              <a:rPr sz="1765" b="1" dirty="0">
                <a:latin typeface="Calibri"/>
                <a:cs typeface="Calibri"/>
              </a:rPr>
              <a:t>developing</a:t>
            </a:r>
            <a:r>
              <a:rPr sz="1765" b="1" spc="-49" dirty="0">
                <a:latin typeface="Calibri"/>
                <a:cs typeface="Calibri"/>
              </a:rPr>
              <a:t> </a:t>
            </a:r>
            <a:r>
              <a:rPr sz="1765" b="1" dirty="0">
                <a:latin typeface="Calibri"/>
                <a:cs typeface="Calibri"/>
              </a:rPr>
              <a:t>a</a:t>
            </a:r>
            <a:r>
              <a:rPr sz="1765" b="1" spc="-35" dirty="0">
                <a:latin typeface="Calibri"/>
                <a:cs typeface="Calibri"/>
              </a:rPr>
              <a:t> </a:t>
            </a:r>
            <a:r>
              <a:rPr sz="1765" b="1" dirty="0">
                <a:latin typeface="Calibri"/>
                <a:cs typeface="Calibri"/>
              </a:rPr>
              <a:t>approach</a:t>
            </a:r>
            <a:r>
              <a:rPr sz="1765" b="1" spc="-53" dirty="0">
                <a:latin typeface="Calibri"/>
                <a:cs typeface="Calibri"/>
              </a:rPr>
              <a:t> </a:t>
            </a:r>
            <a:r>
              <a:rPr sz="1765" b="1" dirty="0">
                <a:latin typeface="Calibri"/>
                <a:cs typeface="Calibri"/>
              </a:rPr>
              <a:t>for</a:t>
            </a:r>
            <a:r>
              <a:rPr sz="1765" b="1" spc="-35" dirty="0">
                <a:latin typeface="Calibri"/>
                <a:cs typeface="Calibri"/>
              </a:rPr>
              <a:t> </a:t>
            </a:r>
            <a:r>
              <a:rPr sz="1765" b="1" dirty="0">
                <a:latin typeface="Calibri"/>
                <a:cs typeface="Calibri"/>
              </a:rPr>
              <a:t>the</a:t>
            </a:r>
            <a:r>
              <a:rPr sz="1765" b="1" spc="-49" dirty="0">
                <a:latin typeface="Calibri"/>
                <a:cs typeface="Calibri"/>
              </a:rPr>
              <a:t> </a:t>
            </a:r>
            <a:r>
              <a:rPr sz="1765" b="1" spc="-9" dirty="0">
                <a:latin typeface="Calibri"/>
                <a:cs typeface="Calibri"/>
              </a:rPr>
              <a:t>continuous development.</a:t>
            </a:r>
            <a:endParaRPr sz="1765" dirty="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3" name="Picture 2">
            <a:extLst>
              <a:ext uri="{FF2B5EF4-FFF2-40B4-BE49-F238E27FC236}">
                <a16:creationId xmlns:a16="http://schemas.microsoft.com/office/drawing/2014/main" id="{CDF6617C-12D4-E849-625D-140543BDE781}"/>
              </a:ext>
            </a:extLst>
          </p:cNvPr>
          <p:cNvPicPr>
            <a:picLocks noChangeAspect="1"/>
          </p:cNvPicPr>
          <p:nvPr/>
        </p:nvPicPr>
        <p:blipFill>
          <a:blip r:embed="rId3"/>
          <a:stretch>
            <a:fillRect/>
          </a:stretch>
        </p:blipFill>
        <p:spPr>
          <a:xfrm>
            <a:off x="-141402" y="7374"/>
            <a:ext cx="9426804"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742950"/>
            <a:ext cx="8229600" cy="548640"/>
          </a:xfrm>
          <a:prstGeom prst="rect">
            <a:avLst/>
          </a:prstGeom>
          <a:noFill/>
          <a:ln/>
        </p:spPr>
        <p:txBody>
          <a:bodyPr wrap="square" rtlCol="0" anchor="ctr"/>
          <a:lstStyle/>
          <a:p>
            <a:r>
              <a:rPr lang="en-US" sz="2800" b="1" dirty="0">
                <a:solidFill>
                  <a:srgbClr val="1A2B4A"/>
                </a:solidFill>
                <a:latin typeface="Georgia" pitchFamily="34" charset="0"/>
                <a:ea typeface="Georgia" pitchFamily="34" charset="-122"/>
                <a:cs typeface="Georgia" pitchFamily="34" charset="-120"/>
              </a:rPr>
              <a:t>Overview</a:t>
            </a:r>
            <a:endParaRPr lang="en-US" sz="2800" dirty="0"/>
          </a:p>
        </p:txBody>
      </p:sp>
      <p:sp>
        <p:nvSpPr>
          <p:cNvPr id="3" name="Text 1"/>
          <p:cNvSpPr/>
          <p:nvPr/>
        </p:nvSpPr>
        <p:spPr>
          <a:xfrm>
            <a:off x="457200" y="1725930"/>
            <a:ext cx="8229600" cy="365760"/>
          </a:xfrm>
          <a:prstGeom prst="rect">
            <a:avLst/>
          </a:prstGeom>
          <a:noFill/>
          <a:ln/>
        </p:spPr>
        <p:txBody>
          <a:bodyPr wrap="square" rtlCol="0" anchor="ctr"/>
          <a:lstStyle/>
          <a:p>
            <a:r>
              <a:rPr lang="en-US" dirty="0">
                <a:solidFill>
                  <a:srgbClr val="64748B"/>
                </a:solidFill>
                <a:latin typeface="Calibri" pitchFamily="34" charset="0"/>
                <a:ea typeface="Calibri" pitchFamily="34" charset="-122"/>
                <a:cs typeface="Calibri" pitchFamily="34" charset="-120"/>
              </a:rPr>
              <a:t>Software Testing is categorized into two main branches:</a:t>
            </a:r>
            <a:endParaRPr lang="en-US" dirty="0"/>
          </a:p>
        </p:txBody>
      </p:sp>
      <p:sp>
        <p:nvSpPr>
          <p:cNvPr id="4" name="Shape 2"/>
          <p:cNvSpPr/>
          <p:nvPr/>
        </p:nvSpPr>
        <p:spPr>
          <a:xfrm>
            <a:off x="365760" y="2228850"/>
            <a:ext cx="3931920" cy="3200400"/>
          </a:xfrm>
          <a:prstGeom prst="rect">
            <a:avLst/>
          </a:prstGeom>
          <a:solidFill>
            <a:srgbClr val="1A2B4A"/>
          </a:solidFill>
          <a:ln w="12700">
            <a:solidFill>
              <a:srgbClr val="1A2B4A"/>
            </a:solidFill>
            <a:prstDash val="solid"/>
          </a:ln>
        </p:spPr>
        <p:txBody>
          <a:bodyPr/>
          <a:lstStyle/>
          <a:p>
            <a:endParaRPr lang="en-IN"/>
          </a:p>
        </p:txBody>
      </p:sp>
      <p:sp>
        <p:nvSpPr>
          <p:cNvPr id="5" name="Text 3"/>
          <p:cNvSpPr/>
          <p:nvPr/>
        </p:nvSpPr>
        <p:spPr>
          <a:xfrm>
            <a:off x="365760" y="2274570"/>
            <a:ext cx="3931920" cy="548640"/>
          </a:xfrm>
          <a:prstGeom prst="rect">
            <a:avLst/>
          </a:prstGeom>
          <a:noFill/>
          <a:ln/>
        </p:spPr>
        <p:txBody>
          <a:bodyPr wrap="square" rtlCol="0" anchor="ctr"/>
          <a:lstStyle/>
          <a:p>
            <a:pPr algn="ctr"/>
            <a:r>
              <a:rPr lang="en-US" sz="2800" b="1" dirty="0">
                <a:solidFill>
                  <a:srgbClr val="0D7377"/>
                </a:solidFill>
                <a:latin typeface="Georgia" pitchFamily="34" charset="0"/>
                <a:ea typeface="Georgia" pitchFamily="34" charset="-122"/>
                <a:cs typeface="Georgia" pitchFamily="34" charset="-120"/>
              </a:rPr>
              <a:t>01</a:t>
            </a:r>
            <a:endParaRPr lang="en-US" sz="2800" dirty="0"/>
          </a:p>
        </p:txBody>
      </p:sp>
      <p:sp>
        <p:nvSpPr>
          <p:cNvPr id="6" name="Text 4"/>
          <p:cNvSpPr/>
          <p:nvPr/>
        </p:nvSpPr>
        <p:spPr>
          <a:xfrm>
            <a:off x="365760" y="2777490"/>
            <a:ext cx="3931920" cy="457200"/>
          </a:xfrm>
          <a:prstGeom prst="rect">
            <a:avLst/>
          </a:prstGeom>
          <a:noFill/>
          <a:ln/>
        </p:spPr>
        <p:txBody>
          <a:bodyPr wrap="square" rtlCol="0" anchor="ctr"/>
          <a:lstStyle/>
          <a:p>
            <a:pPr algn="ctr"/>
            <a:r>
              <a:rPr lang="en-US" sz="2000" b="1" dirty="0">
                <a:solidFill>
                  <a:srgbClr val="FFFFFF"/>
                </a:solidFill>
                <a:latin typeface="Georgia" pitchFamily="34" charset="0"/>
                <a:ea typeface="Georgia" pitchFamily="34" charset="-122"/>
                <a:cs typeface="Georgia" pitchFamily="34" charset="-120"/>
              </a:rPr>
              <a:t>Manual Testing</a:t>
            </a:r>
            <a:endParaRPr lang="en-US" sz="2000" dirty="0"/>
          </a:p>
        </p:txBody>
      </p:sp>
      <p:sp>
        <p:nvSpPr>
          <p:cNvPr id="7" name="Text 5"/>
          <p:cNvSpPr/>
          <p:nvPr/>
        </p:nvSpPr>
        <p:spPr>
          <a:xfrm>
            <a:off x="548640" y="3371850"/>
            <a:ext cx="3566160" cy="1828800"/>
          </a:xfrm>
          <a:prstGeom prst="rect">
            <a:avLst/>
          </a:prstGeom>
          <a:noFill/>
          <a:ln/>
        </p:spPr>
        <p:txBody>
          <a:bodyPr wrap="square" rtlCol="0" anchor="ctr"/>
          <a:lstStyle/>
          <a:p>
            <a:r>
              <a:rPr lang="en-US" sz="1300" dirty="0">
                <a:solidFill>
                  <a:srgbClr val="E2EAF4"/>
                </a:solidFill>
                <a:latin typeface="Calibri" pitchFamily="34" charset="0"/>
                <a:ea typeface="Calibri" pitchFamily="34" charset="-122"/>
                <a:cs typeface="Calibri" pitchFamily="34" charset="-120"/>
              </a:rPr>
              <a:t>✓ Fast visual feedback</a:t>
            </a:r>
            <a:endParaRPr lang="en-US" sz="1300" dirty="0"/>
          </a:p>
          <a:p>
            <a:r>
              <a:rPr lang="en-US" sz="1300" dirty="0">
                <a:solidFill>
                  <a:srgbClr val="E2EAF4"/>
                </a:solidFill>
                <a:latin typeface="Calibri" pitchFamily="34" charset="0"/>
                <a:ea typeface="Calibri" pitchFamily="34" charset="-122"/>
                <a:cs typeface="Calibri" pitchFamily="34" charset="-120"/>
              </a:rPr>
              <a:t>✓ Less expensive</a:t>
            </a:r>
            <a:endParaRPr lang="en-US" sz="1300" dirty="0"/>
          </a:p>
          <a:p>
            <a:r>
              <a:rPr lang="en-US" sz="1300" dirty="0">
                <a:solidFill>
                  <a:srgbClr val="E2EAF4"/>
                </a:solidFill>
                <a:latin typeface="Calibri" pitchFamily="34" charset="0"/>
                <a:ea typeface="Calibri" pitchFamily="34" charset="-122"/>
                <a:cs typeface="Calibri" pitchFamily="34" charset="-120"/>
              </a:rPr>
              <a:t>✓ No coding required</a:t>
            </a:r>
            <a:endParaRPr lang="en-US" sz="1300" dirty="0"/>
          </a:p>
          <a:p>
            <a:r>
              <a:rPr lang="en-US" sz="1300" dirty="0">
                <a:solidFill>
                  <a:srgbClr val="E2EAF4"/>
                </a:solidFill>
                <a:latin typeface="Calibri" pitchFamily="34" charset="0"/>
                <a:ea typeface="Calibri" pitchFamily="34" charset="-122"/>
                <a:cs typeface="Calibri" pitchFamily="34" charset="-120"/>
              </a:rPr>
              <a:t>✓ Great for unplanned changes</a:t>
            </a:r>
            <a:endParaRPr lang="en-US" sz="1300" dirty="0"/>
          </a:p>
          <a:p>
            <a:r>
              <a:rPr lang="en-US" sz="1300" dirty="0">
                <a:solidFill>
                  <a:srgbClr val="E2EAF4"/>
                </a:solidFill>
                <a:latin typeface="Calibri" pitchFamily="34" charset="0"/>
                <a:ea typeface="Calibri" pitchFamily="34" charset="-122"/>
                <a:cs typeface="Calibri" pitchFamily="34" charset="-120"/>
              </a:rPr>
              <a:t>✓ Human intuition &amp; judgment</a:t>
            </a:r>
            <a:endParaRPr lang="en-US" sz="1300" dirty="0"/>
          </a:p>
        </p:txBody>
      </p:sp>
      <p:sp>
        <p:nvSpPr>
          <p:cNvPr id="8" name="Shape 6"/>
          <p:cNvSpPr/>
          <p:nvPr/>
        </p:nvSpPr>
        <p:spPr>
          <a:xfrm>
            <a:off x="4663440" y="2228850"/>
            <a:ext cx="3931920" cy="3200400"/>
          </a:xfrm>
          <a:prstGeom prst="rect">
            <a:avLst/>
          </a:prstGeom>
          <a:solidFill>
            <a:srgbClr val="0D7377"/>
          </a:solidFill>
          <a:ln w="12700">
            <a:solidFill>
              <a:srgbClr val="0D7377"/>
            </a:solidFill>
            <a:prstDash val="solid"/>
          </a:ln>
        </p:spPr>
        <p:txBody>
          <a:bodyPr/>
          <a:lstStyle/>
          <a:p>
            <a:endParaRPr lang="en-IN"/>
          </a:p>
        </p:txBody>
      </p:sp>
      <p:sp>
        <p:nvSpPr>
          <p:cNvPr id="9" name="Text 7"/>
          <p:cNvSpPr/>
          <p:nvPr/>
        </p:nvSpPr>
        <p:spPr>
          <a:xfrm>
            <a:off x="4663440" y="2274570"/>
            <a:ext cx="3931920" cy="548640"/>
          </a:xfrm>
          <a:prstGeom prst="rect">
            <a:avLst/>
          </a:prstGeom>
          <a:noFill/>
          <a:ln/>
        </p:spPr>
        <p:txBody>
          <a:bodyPr wrap="square" rtlCol="0" anchor="ctr"/>
          <a:lstStyle/>
          <a:p>
            <a:pPr algn="ctr"/>
            <a:r>
              <a:rPr lang="en-US" sz="2800" b="1" dirty="0">
                <a:solidFill>
                  <a:srgbClr val="F5A623"/>
                </a:solidFill>
                <a:latin typeface="Georgia" pitchFamily="34" charset="0"/>
                <a:ea typeface="Georgia" pitchFamily="34" charset="-122"/>
                <a:cs typeface="Georgia" pitchFamily="34" charset="-120"/>
              </a:rPr>
              <a:t>02</a:t>
            </a:r>
            <a:endParaRPr lang="en-US" sz="2800" dirty="0"/>
          </a:p>
        </p:txBody>
      </p:sp>
      <p:sp>
        <p:nvSpPr>
          <p:cNvPr id="10" name="Text 8"/>
          <p:cNvSpPr/>
          <p:nvPr/>
        </p:nvSpPr>
        <p:spPr>
          <a:xfrm>
            <a:off x="4663440" y="2777490"/>
            <a:ext cx="3931920" cy="457200"/>
          </a:xfrm>
          <a:prstGeom prst="rect">
            <a:avLst/>
          </a:prstGeom>
          <a:noFill/>
          <a:ln/>
        </p:spPr>
        <p:txBody>
          <a:bodyPr wrap="square" rtlCol="0" anchor="ctr"/>
          <a:lstStyle/>
          <a:p>
            <a:pPr algn="ctr"/>
            <a:r>
              <a:rPr lang="en-US" sz="2000" b="1" dirty="0">
                <a:solidFill>
                  <a:srgbClr val="FFFFFF"/>
                </a:solidFill>
                <a:latin typeface="Georgia" pitchFamily="34" charset="0"/>
                <a:ea typeface="Georgia" pitchFamily="34" charset="-122"/>
                <a:cs typeface="Georgia" pitchFamily="34" charset="-120"/>
              </a:rPr>
              <a:t>Automation Testing</a:t>
            </a:r>
            <a:endParaRPr lang="en-US" sz="2000" dirty="0"/>
          </a:p>
        </p:txBody>
      </p:sp>
      <p:sp>
        <p:nvSpPr>
          <p:cNvPr id="11" name="Text 9"/>
          <p:cNvSpPr/>
          <p:nvPr/>
        </p:nvSpPr>
        <p:spPr>
          <a:xfrm>
            <a:off x="4846320" y="3371850"/>
            <a:ext cx="3566160" cy="1828800"/>
          </a:xfrm>
          <a:prstGeom prst="rect">
            <a:avLst/>
          </a:prstGeom>
          <a:noFill/>
          <a:ln/>
        </p:spPr>
        <p:txBody>
          <a:bodyPr wrap="square" rtlCol="0" anchor="ctr"/>
          <a:lstStyle/>
          <a:p>
            <a:r>
              <a:rPr lang="en-US" sz="1300" dirty="0">
                <a:solidFill>
                  <a:srgbClr val="E2EAF4"/>
                </a:solidFill>
                <a:latin typeface="Calibri" pitchFamily="34" charset="0"/>
                <a:ea typeface="Calibri" pitchFamily="34" charset="-122"/>
                <a:cs typeface="Calibri" pitchFamily="34" charset="-120"/>
              </a:rPr>
              <a:t>✓ Simplifies test execution</a:t>
            </a:r>
            <a:endParaRPr lang="en-US" sz="1300" dirty="0"/>
          </a:p>
          <a:p>
            <a:r>
              <a:rPr lang="en-US" sz="1300" dirty="0">
                <a:solidFill>
                  <a:srgbClr val="E2EAF4"/>
                </a:solidFill>
                <a:latin typeface="Calibri" pitchFamily="34" charset="0"/>
                <a:ea typeface="Calibri" pitchFamily="34" charset="-122"/>
                <a:cs typeface="Calibri" pitchFamily="34" charset="-120"/>
              </a:rPr>
              <a:t>✓ Improves test reliability</a:t>
            </a:r>
            <a:endParaRPr lang="en-US" sz="1300" dirty="0"/>
          </a:p>
          <a:p>
            <a:r>
              <a:rPr lang="en-US" sz="1300" dirty="0">
                <a:solidFill>
                  <a:srgbClr val="E2EAF4"/>
                </a:solidFill>
                <a:latin typeface="Calibri" pitchFamily="34" charset="0"/>
                <a:ea typeface="Calibri" pitchFamily="34" charset="-122"/>
                <a:cs typeface="Calibri" pitchFamily="34" charset="-120"/>
              </a:rPr>
              <a:t>✓ Higher test coverage</a:t>
            </a:r>
            <a:endParaRPr lang="en-US" sz="1300" dirty="0"/>
          </a:p>
          <a:p>
            <a:r>
              <a:rPr lang="en-US" sz="1300" dirty="0">
                <a:solidFill>
                  <a:srgbClr val="E2EAF4"/>
                </a:solidFill>
                <a:latin typeface="Calibri" pitchFamily="34" charset="0"/>
                <a:ea typeface="Calibri" pitchFamily="34" charset="-122"/>
                <a:cs typeface="Calibri" pitchFamily="34" charset="-120"/>
              </a:rPr>
              <a:t>✓ Minimizes human error</a:t>
            </a:r>
            <a:endParaRPr lang="en-US" sz="1300" dirty="0"/>
          </a:p>
          <a:p>
            <a:r>
              <a:rPr lang="en-US" sz="1300" dirty="0">
                <a:solidFill>
                  <a:srgbClr val="E2EAF4"/>
                </a:solidFill>
                <a:latin typeface="Calibri" pitchFamily="34" charset="0"/>
                <a:ea typeface="Calibri" pitchFamily="34" charset="-122"/>
                <a:cs typeface="Calibri" pitchFamily="34" charset="-120"/>
              </a:rPr>
              <a:t>✓ Runs repetitive tasks easily</a:t>
            </a:r>
            <a:endParaRPr lang="en-US" sz="1300" dirty="0"/>
          </a:p>
        </p:txBody>
      </p:sp>
      <p:sp>
        <p:nvSpPr>
          <p:cNvPr id="12" name="Shape 10"/>
          <p:cNvSpPr/>
          <p:nvPr/>
        </p:nvSpPr>
        <p:spPr>
          <a:xfrm>
            <a:off x="0" y="5703570"/>
            <a:ext cx="9144000" cy="297180"/>
          </a:xfrm>
          <a:prstGeom prst="rect">
            <a:avLst/>
          </a:prstGeom>
          <a:solidFill>
            <a:srgbClr val="1A2B4A"/>
          </a:solidFill>
          <a:ln w="12700">
            <a:solidFill>
              <a:srgbClr val="1A2B4A"/>
            </a:solidFill>
            <a:prstDash val="solid"/>
          </a:ln>
        </p:spPr>
        <p:txBody>
          <a:bodyPr/>
          <a:lstStyle/>
          <a:p>
            <a:endParaRPr lang="en-IN"/>
          </a:p>
        </p:txBody>
      </p:sp>
      <p:sp>
        <p:nvSpPr>
          <p:cNvPr id="13" name="Text 11"/>
          <p:cNvSpPr/>
          <p:nvPr/>
        </p:nvSpPr>
        <p:spPr>
          <a:xfrm>
            <a:off x="0" y="5703570"/>
            <a:ext cx="9144000" cy="297180"/>
          </a:xfrm>
          <a:prstGeom prst="rect">
            <a:avLst/>
          </a:prstGeom>
          <a:noFill/>
          <a:ln/>
        </p:spPr>
        <p:txBody>
          <a:bodyPr wrap="square" rtlCol="0" anchor="ctr"/>
          <a:lstStyle/>
          <a:p>
            <a:pPr algn="ctr"/>
            <a:r>
              <a:rPr lang="en-US" sz="1200" dirty="0">
                <a:solidFill>
                  <a:srgbClr val="FFFFFF"/>
                </a:solidFill>
                <a:latin typeface="Calibri" pitchFamily="34" charset="0"/>
                <a:ea typeface="Calibri" pitchFamily="34" charset="-122"/>
                <a:cs typeface="Calibri" pitchFamily="34" charset="-120"/>
              </a:rPr>
              <a:t>Further subdivided into: White Box • Black Box • Grey Box Testing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331470"/>
            <a:ext cx="7551174" cy="1005840"/>
          </a:xfrm>
          <a:prstGeom prst="rect">
            <a:avLst/>
          </a:prstGeom>
          <a:solidFill>
            <a:srgbClr val="1A2B4A"/>
          </a:solidFill>
          <a:ln w="12700">
            <a:solidFill>
              <a:srgbClr val="1A2B4A"/>
            </a:solidFill>
            <a:prstDash val="solid"/>
          </a:ln>
        </p:spPr>
        <p:txBody>
          <a:bodyPr/>
          <a:lstStyle/>
          <a:p>
            <a:endParaRPr lang="en-IN"/>
          </a:p>
        </p:txBody>
      </p:sp>
      <p:sp>
        <p:nvSpPr>
          <p:cNvPr id="3" name="Text 1"/>
          <p:cNvSpPr/>
          <p:nvPr/>
        </p:nvSpPr>
        <p:spPr>
          <a:xfrm>
            <a:off x="320040" y="491490"/>
            <a:ext cx="8229600" cy="685800"/>
          </a:xfrm>
          <a:prstGeom prst="rect">
            <a:avLst/>
          </a:prstGeom>
          <a:noFill/>
          <a:ln/>
        </p:spPr>
        <p:txBody>
          <a:bodyPr wrap="square" rtlCol="0" anchor="ctr"/>
          <a:lstStyle/>
          <a:p>
            <a:r>
              <a:rPr lang="en-US" sz="3000" b="1" dirty="0">
                <a:solidFill>
                  <a:srgbClr val="FFFFFF"/>
                </a:solidFill>
                <a:latin typeface="Georgia" pitchFamily="34" charset="0"/>
                <a:ea typeface="Georgia" pitchFamily="34" charset="-122"/>
                <a:cs typeface="Georgia" pitchFamily="34" charset="-120"/>
              </a:rPr>
              <a:t>Types of Manual Testing</a:t>
            </a:r>
            <a:endParaRPr lang="en-US" sz="3000" dirty="0"/>
          </a:p>
        </p:txBody>
      </p:sp>
      <p:sp>
        <p:nvSpPr>
          <p:cNvPr id="4" name="Shape 2"/>
          <p:cNvSpPr/>
          <p:nvPr/>
        </p:nvSpPr>
        <p:spPr>
          <a:xfrm>
            <a:off x="320040" y="2045970"/>
            <a:ext cx="2743200" cy="64008"/>
          </a:xfrm>
          <a:prstGeom prst="rect">
            <a:avLst/>
          </a:prstGeom>
          <a:solidFill>
            <a:srgbClr val="0D7377"/>
          </a:solidFill>
          <a:ln w="12700">
            <a:solidFill>
              <a:srgbClr val="0D7377"/>
            </a:solidFill>
            <a:prstDash val="solid"/>
          </a:ln>
        </p:spPr>
        <p:txBody>
          <a:bodyPr/>
          <a:lstStyle/>
          <a:p>
            <a:endParaRPr lang="en-IN"/>
          </a:p>
        </p:txBody>
      </p:sp>
      <p:sp>
        <p:nvSpPr>
          <p:cNvPr id="5" name="Shape 3"/>
          <p:cNvSpPr/>
          <p:nvPr/>
        </p:nvSpPr>
        <p:spPr>
          <a:xfrm>
            <a:off x="320040" y="2109978"/>
            <a:ext cx="2743200" cy="3383280"/>
          </a:xfrm>
          <a:prstGeom prst="rect">
            <a:avLst/>
          </a:prstGeom>
          <a:solidFill>
            <a:srgbClr val="FFFFFF"/>
          </a:solidFill>
          <a:ln w="12700">
            <a:solidFill>
              <a:srgbClr val="E2EAF4"/>
            </a:solidFill>
            <a:prstDash val="solid"/>
          </a:ln>
        </p:spPr>
        <p:txBody>
          <a:bodyPr/>
          <a:lstStyle/>
          <a:p>
            <a:endParaRPr lang="en-IN"/>
          </a:p>
        </p:txBody>
      </p:sp>
      <p:sp>
        <p:nvSpPr>
          <p:cNvPr id="6" name="Text 4"/>
          <p:cNvSpPr/>
          <p:nvPr/>
        </p:nvSpPr>
        <p:spPr>
          <a:xfrm>
            <a:off x="457200" y="2228850"/>
            <a:ext cx="2468880" cy="594360"/>
          </a:xfrm>
          <a:prstGeom prst="rect">
            <a:avLst/>
          </a:prstGeom>
          <a:noFill/>
          <a:ln/>
        </p:spPr>
        <p:txBody>
          <a:bodyPr wrap="square" rtlCol="0" anchor="ctr"/>
          <a:lstStyle/>
          <a:p>
            <a:r>
              <a:rPr lang="en-US" sz="1500" b="1" dirty="0">
                <a:solidFill>
                  <a:srgbClr val="0D7377"/>
                </a:solidFill>
                <a:latin typeface="Georgia" pitchFamily="34" charset="0"/>
                <a:ea typeface="Georgia" pitchFamily="34" charset="-122"/>
                <a:cs typeface="Georgia" pitchFamily="34" charset="-120"/>
              </a:rPr>
              <a:t>White Box Testing</a:t>
            </a:r>
            <a:endParaRPr lang="en-US" sz="1500" dirty="0"/>
          </a:p>
        </p:txBody>
      </p:sp>
      <p:sp>
        <p:nvSpPr>
          <p:cNvPr id="7" name="Text 5"/>
          <p:cNvSpPr/>
          <p:nvPr/>
        </p:nvSpPr>
        <p:spPr>
          <a:xfrm>
            <a:off x="457200" y="2868930"/>
            <a:ext cx="2468880" cy="1371600"/>
          </a:xfrm>
          <a:prstGeom prst="rect">
            <a:avLst/>
          </a:prstGeom>
          <a:noFill/>
          <a:ln/>
        </p:spPr>
        <p:txBody>
          <a:bodyPr wrap="square" rtlCol="0" anchor="ctr"/>
          <a:lstStyle/>
          <a:p>
            <a:r>
              <a:rPr lang="en-US" sz="1200" dirty="0">
                <a:solidFill>
                  <a:srgbClr val="334155"/>
                </a:solidFill>
                <a:latin typeface="Calibri" pitchFamily="34" charset="0"/>
                <a:ea typeface="Calibri" pitchFamily="34" charset="-122"/>
                <a:cs typeface="Calibri" pitchFamily="34" charset="-120"/>
              </a:rPr>
              <a:t>Tests internal code structure. Tester has full source code access. Focuses on paths, loops, and logic.</a:t>
            </a:r>
            <a:endParaRPr lang="en-US" sz="1200" dirty="0"/>
          </a:p>
        </p:txBody>
      </p:sp>
      <p:sp>
        <p:nvSpPr>
          <p:cNvPr id="8" name="Shape 6"/>
          <p:cNvSpPr/>
          <p:nvPr/>
        </p:nvSpPr>
        <p:spPr>
          <a:xfrm>
            <a:off x="3246120" y="2045970"/>
            <a:ext cx="2743200" cy="64008"/>
          </a:xfrm>
          <a:prstGeom prst="rect">
            <a:avLst/>
          </a:prstGeom>
          <a:solidFill>
            <a:srgbClr val="1A2B4A"/>
          </a:solidFill>
          <a:ln w="12700">
            <a:solidFill>
              <a:srgbClr val="1A2B4A"/>
            </a:solidFill>
            <a:prstDash val="solid"/>
          </a:ln>
        </p:spPr>
        <p:txBody>
          <a:bodyPr/>
          <a:lstStyle/>
          <a:p>
            <a:endParaRPr lang="en-IN"/>
          </a:p>
        </p:txBody>
      </p:sp>
      <p:sp>
        <p:nvSpPr>
          <p:cNvPr id="9" name="Shape 7"/>
          <p:cNvSpPr/>
          <p:nvPr/>
        </p:nvSpPr>
        <p:spPr>
          <a:xfrm>
            <a:off x="3246120" y="2109978"/>
            <a:ext cx="2743200" cy="3383280"/>
          </a:xfrm>
          <a:prstGeom prst="rect">
            <a:avLst/>
          </a:prstGeom>
          <a:solidFill>
            <a:srgbClr val="FFFFFF"/>
          </a:solidFill>
          <a:ln w="12700">
            <a:solidFill>
              <a:srgbClr val="E2EAF4"/>
            </a:solidFill>
            <a:prstDash val="solid"/>
          </a:ln>
        </p:spPr>
        <p:txBody>
          <a:bodyPr/>
          <a:lstStyle/>
          <a:p>
            <a:endParaRPr lang="en-IN"/>
          </a:p>
        </p:txBody>
      </p:sp>
      <p:sp>
        <p:nvSpPr>
          <p:cNvPr id="10" name="Text 8"/>
          <p:cNvSpPr/>
          <p:nvPr/>
        </p:nvSpPr>
        <p:spPr>
          <a:xfrm>
            <a:off x="3383280" y="2228850"/>
            <a:ext cx="2468880" cy="594360"/>
          </a:xfrm>
          <a:prstGeom prst="rect">
            <a:avLst/>
          </a:prstGeom>
          <a:noFill/>
          <a:ln/>
        </p:spPr>
        <p:txBody>
          <a:bodyPr wrap="square" rtlCol="0" anchor="ctr"/>
          <a:lstStyle/>
          <a:p>
            <a:r>
              <a:rPr lang="en-US" sz="1500" b="1" dirty="0">
                <a:solidFill>
                  <a:srgbClr val="1A2B4A"/>
                </a:solidFill>
                <a:latin typeface="Georgia" pitchFamily="34" charset="0"/>
                <a:ea typeface="Georgia" pitchFamily="34" charset="-122"/>
                <a:cs typeface="Georgia" pitchFamily="34" charset="-120"/>
              </a:rPr>
              <a:t>Black Box Testing</a:t>
            </a:r>
            <a:endParaRPr lang="en-US" sz="1500" dirty="0"/>
          </a:p>
        </p:txBody>
      </p:sp>
      <p:sp>
        <p:nvSpPr>
          <p:cNvPr id="11" name="Text 9"/>
          <p:cNvSpPr/>
          <p:nvPr/>
        </p:nvSpPr>
        <p:spPr>
          <a:xfrm>
            <a:off x="3383280" y="2868930"/>
            <a:ext cx="2468880" cy="1371600"/>
          </a:xfrm>
          <a:prstGeom prst="rect">
            <a:avLst/>
          </a:prstGeom>
          <a:noFill/>
          <a:ln/>
        </p:spPr>
        <p:txBody>
          <a:bodyPr wrap="square" rtlCol="0" anchor="ctr"/>
          <a:lstStyle/>
          <a:p>
            <a:r>
              <a:rPr lang="en-US" sz="1200" dirty="0">
                <a:solidFill>
                  <a:srgbClr val="334155"/>
                </a:solidFill>
                <a:latin typeface="Calibri" pitchFamily="34" charset="0"/>
                <a:ea typeface="Calibri" pitchFamily="34" charset="-122"/>
                <a:cs typeface="Calibri" pitchFamily="34" charset="-120"/>
              </a:rPr>
              <a:t>Tests functionality without knowledge of internals. Based on specs/requirements from user perspective.</a:t>
            </a:r>
            <a:endParaRPr lang="en-US" sz="1200" dirty="0"/>
          </a:p>
        </p:txBody>
      </p:sp>
      <p:sp>
        <p:nvSpPr>
          <p:cNvPr id="12" name="Shape 10"/>
          <p:cNvSpPr/>
          <p:nvPr/>
        </p:nvSpPr>
        <p:spPr>
          <a:xfrm>
            <a:off x="6172200" y="2045970"/>
            <a:ext cx="2743200" cy="64008"/>
          </a:xfrm>
          <a:prstGeom prst="rect">
            <a:avLst/>
          </a:prstGeom>
          <a:solidFill>
            <a:srgbClr val="8B5CF6"/>
          </a:solidFill>
          <a:ln w="12700">
            <a:solidFill>
              <a:srgbClr val="8B5CF6"/>
            </a:solidFill>
            <a:prstDash val="solid"/>
          </a:ln>
        </p:spPr>
        <p:txBody>
          <a:bodyPr/>
          <a:lstStyle/>
          <a:p>
            <a:endParaRPr lang="en-IN"/>
          </a:p>
        </p:txBody>
      </p:sp>
      <p:sp>
        <p:nvSpPr>
          <p:cNvPr id="13" name="Shape 11"/>
          <p:cNvSpPr/>
          <p:nvPr/>
        </p:nvSpPr>
        <p:spPr>
          <a:xfrm>
            <a:off x="6172200" y="2109978"/>
            <a:ext cx="2743200" cy="3383280"/>
          </a:xfrm>
          <a:prstGeom prst="rect">
            <a:avLst/>
          </a:prstGeom>
          <a:solidFill>
            <a:srgbClr val="FFFFFF"/>
          </a:solidFill>
          <a:ln w="12700">
            <a:solidFill>
              <a:srgbClr val="E2EAF4"/>
            </a:solidFill>
            <a:prstDash val="solid"/>
          </a:ln>
        </p:spPr>
        <p:txBody>
          <a:bodyPr/>
          <a:lstStyle/>
          <a:p>
            <a:endParaRPr lang="en-IN"/>
          </a:p>
        </p:txBody>
      </p:sp>
      <p:sp>
        <p:nvSpPr>
          <p:cNvPr id="14" name="Text 12"/>
          <p:cNvSpPr/>
          <p:nvPr/>
        </p:nvSpPr>
        <p:spPr>
          <a:xfrm>
            <a:off x="6309360" y="2228850"/>
            <a:ext cx="2468880" cy="594360"/>
          </a:xfrm>
          <a:prstGeom prst="rect">
            <a:avLst/>
          </a:prstGeom>
          <a:noFill/>
          <a:ln/>
        </p:spPr>
        <p:txBody>
          <a:bodyPr wrap="square" rtlCol="0" anchor="ctr"/>
          <a:lstStyle/>
          <a:p>
            <a:r>
              <a:rPr lang="en-US" sz="1500" b="1" dirty="0">
                <a:solidFill>
                  <a:srgbClr val="8B5CF6"/>
                </a:solidFill>
                <a:latin typeface="Georgia" pitchFamily="34" charset="0"/>
                <a:ea typeface="Georgia" pitchFamily="34" charset="-122"/>
                <a:cs typeface="Georgia" pitchFamily="34" charset="-120"/>
              </a:rPr>
              <a:t>Grey Box Testing</a:t>
            </a:r>
            <a:endParaRPr lang="en-US" sz="1500" dirty="0"/>
          </a:p>
        </p:txBody>
      </p:sp>
      <p:sp>
        <p:nvSpPr>
          <p:cNvPr id="15" name="Text 13"/>
          <p:cNvSpPr/>
          <p:nvPr/>
        </p:nvSpPr>
        <p:spPr>
          <a:xfrm>
            <a:off x="6309360" y="2868930"/>
            <a:ext cx="2468880" cy="1371600"/>
          </a:xfrm>
          <a:prstGeom prst="rect">
            <a:avLst/>
          </a:prstGeom>
          <a:noFill/>
          <a:ln/>
        </p:spPr>
        <p:txBody>
          <a:bodyPr wrap="square" rtlCol="0" anchor="ctr"/>
          <a:lstStyle/>
          <a:p>
            <a:r>
              <a:rPr lang="en-US" sz="1200" dirty="0">
                <a:solidFill>
                  <a:srgbClr val="334155"/>
                </a:solidFill>
                <a:latin typeface="Calibri" pitchFamily="34" charset="0"/>
                <a:ea typeface="Calibri" pitchFamily="34" charset="-122"/>
                <a:cs typeface="Calibri" pitchFamily="34" charset="-120"/>
              </a:rPr>
              <a:t>Hybrid approach — partial internal knowledge. Tests both logic and user experience simultaneously.</a:t>
            </a:r>
            <a:endParaRPr lang="en-US" sz="1200" dirty="0"/>
          </a:p>
        </p:txBody>
      </p:sp>
      <p:sp>
        <p:nvSpPr>
          <p:cNvPr id="16" name="Text 14"/>
          <p:cNvSpPr/>
          <p:nvPr/>
        </p:nvSpPr>
        <p:spPr>
          <a:xfrm>
            <a:off x="429768" y="3737610"/>
            <a:ext cx="2514600" cy="1691640"/>
          </a:xfrm>
          <a:prstGeom prst="rect">
            <a:avLst/>
          </a:prstGeom>
          <a:noFill/>
          <a:ln/>
        </p:spPr>
        <p:txBody>
          <a:bodyPr wrap="square" rtlCol="0" anchor="ctr"/>
          <a:lstStyle/>
          <a:p>
            <a:r>
              <a:rPr lang="en-US" sz="1100" dirty="0">
                <a:solidFill>
                  <a:srgbClr val="64748B"/>
                </a:solidFill>
                <a:latin typeface="Calibri" pitchFamily="34" charset="0"/>
                <a:ea typeface="Calibri" pitchFamily="34" charset="-122"/>
                <a:cs typeface="Calibri" pitchFamily="34" charset="-120"/>
              </a:rPr>
              <a:t>• Thorough code testing</a:t>
            </a:r>
            <a:endParaRPr lang="en-US" sz="1100" dirty="0"/>
          </a:p>
          <a:p>
            <a:r>
              <a:rPr lang="en-US" sz="1100" dirty="0">
                <a:solidFill>
                  <a:srgbClr val="64748B"/>
                </a:solidFill>
                <a:latin typeface="Calibri" pitchFamily="34" charset="0"/>
                <a:ea typeface="Calibri" pitchFamily="34" charset="-122"/>
                <a:cs typeface="Calibri" pitchFamily="34" charset="-120"/>
              </a:rPr>
              <a:t>• Code optimization</a:t>
            </a:r>
            <a:endParaRPr lang="en-US" sz="1100" dirty="0"/>
          </a:p>
          <a:p>
            <a:r>
              <a:rPr lang="en-US" sz="1100" dirty="0">
                <a:solidFill>
                  <a:srgbClr val="64748B"/>
                </a:solidFill>
                <a:latin typeface="Calibri" pitchFamily="34" charset="0"/>
                <a:ea typeface="Calibri" pitchFamily="34" charset="-122"/>
                <a:cs typeface="Calibri" pitchFamily="34" charset="-120"/>
              </a:rPr>
              <a:t>• Early defect detection</a:t>
            </a:r>
            <a:endParaRPr lang="en-US" sz="1100" dirty="0"/>
          </a:p>
          <a:p>
            <a:r>
              <a:rPr lang="en-US" sz="1100" dirty="0">
                <a:solidFill>
                  <a:srgbClr val="64748B"/>
                </a:solidFill>
                <a:latin typeface="Calibri" pitchFamily="34" charset="0"/>
                <a:ea typeface="Calibri" pitchFamily="34" charset="-122"/>
                <a:cs typeface="Calibri" pitchFamily="34" charset="-120"/>
              </a:rPr>
              <a:t>• Integration with SDLC</a:t>
            </a:r>
            <a:endParaRPr lang="en-US" sz="1100" dirty="0"/>
          </a:p>
        </p:txBody>
      </p:sp>
      <p:sp>
        <p:nvSpPr>
          <p:cNvPr id="17" name="Text 15"/>
          <p:cNvSpPr/>
          <p:nvPr/>
        </p:nvSpPr>
        <p:spPr>
          <a:xfrm>
            <a:off x="3355848" y="3737610"/>
            <a:ext cx="2514600" cy="1691640"/>
          </a:xfrm>
          <a:prstGeom prst="rect">
            <a:avLst/>
          </a:prstGeom>
          <a:noFill/>
          <a:ln/>
        </p:spPr>
        <p:txBody>
          <a:bodyPr wrap="square" rtlCol="0" anchor="ctr"/>
          <a:lstStyle/>
          <a:p>
            <a:r>
              <a:rPr lang="en-US" sz="1100" dirty="0">
                <a:solidFill>
                  <a:srgbClr val="64748B"/>
                </a:solidFill>
                <a:latin typeface="Calibri" pitchFamily="34" charset="0"/>
                <a:ea typeface="Calibri" pitchFamily="34" charset="-122"/>
                <a:cs typeface="Calibri" pitchFamily="34" charset="-120"/>
              </a:rPr>
              <a:t>• No coding skills needed</a:t>
            </a:r>
            <a:endParaRPr lang="en-US" sz="1100" dirty="0"/>
          </a:p>
          <a:p>
            <a:r>
              <a:rPr lang="en-US" sz="1100" dirty="0">
                <a:solidFill>
                  <a:srgbClr val="64748B"/>
                </a:solidFill>
                <a:latin typeface="Calibri" pitchFamily="34" charset="0"/>
                <a:ea typeface="Calibri" pitchFamily="34" charset="-122"/>
                <a:cs typeface="Calibri" pitchFamily="34" charset="-120"/>
              </a:rPr>
              <a:t>• Efficient for large systems</a:t>
            </a:r>
            <a:endParaRPr lang="en-US" sz="1100" dirty="0"/>
          </a:p>
          <a:p>
            <a:r>
              <a:rPr lang="en-US" sz="1100" dirty="0">
                <a:solidFill>
                  <a:srgbClr val="64748B"/>
                </a:solidFill>
                <a:latin typeface="Calibri" pitchFamily="34" charset="0"/>
                <a:ea typeface="Calibri" pitchFamily="34" charset="-122"/>
                <a:cs typeface="Calibri" pitchFamily="34" charset="-120"/>
              </a:rPr>
              <a:t>• User perspective testing</a:t>
            </a:r>
            <a:endParaRPr lang="en-US" sz="1100" dirty="0"/>
          </a:p>
          <a:p>
            <a:r>
              <a:rPr lang="en-US" sz="1100" dirty="0">
                <a:solidFill>
                  <a:srgbClr val="64748B"/>
                </a:solidFill>
                <a:latin typeface="Calibri" pitchFamily="34" charset="0"/>
                <a:ea typeface="Calibri" pitchFamily="34" charset="-122"/>
                <a:cs typeface="Calibri" pitchFamily="34" charset="-120"/>
              </a:rPr>
              <a:t>• Cases easily reproducible</a:t>
            </a:r>
            <a:endParaRPr lang="en-US" sz="1100" dirty="0"/>
          </a:p>
        </p:txBody>
      </p:sp>
      <p:sp>
        <p:nvSpPr>
          <p:cNvPr id="18" name="Text 16"/>
          <p:cNvSpPr/>
          <p:nvPr/>
        </p:nvSpPr>
        <p:spPr>
          <a:xfrm>
            <a:off x="6281928" y="3737610"/>
            <a:ext cx="2514600" cy="1691640"/>
          </a:xfrm>
          <a:prstGeom prst="rect">
            <a:avLst/>
          </a:prstGeom>
          <a:noFill/>
          <a:ln/>
        </p:spPr>
        <p:txBody>
          <a:bodyPr wrap="square" rtlCol="0" anchor="ctr"/>
          <a:lstStyle/>
          <a:p>
            <a:r>
              <a:rPr lang="en-US" sz="1100" dirty="0">
                <a:solidFill>
                  <a:srgbClr val="64748B"/>
                </a:solidFill>
                <a:latin typeface="Calibri" pitchFamily="34" charset="0"/>
                <a:ea typeface="Calibri" pitchFamily="34" charset="-122"/>
                <a:cs typeface="Calibri" pitchFamily="34" charset="-120"/>
              </a:rPr>
              <a:t>• Clear goals for all</a:t>
            </a:r>
            <a:endParaRPr lang="en-US" sz="1100" dirty="0"/>
          </a:p>
          <a:p>
            <a:r>
              <a:rPr lang="en-US" sz="1100" dirty="0">
                <a:solidFill>
                  <a:srgbClr val="64748B"/>
                </a:solidFill>
                <a:latin typeface="Calibri" pitchFamily="34" charset="0"/>
                <a:ea typeface="Calibri" pitchFamily="34" charset="-122"/>
                <a:cs typeface="Calibri" pitchFamily="34" charset="-120"/>
              </a:rPr>
              <a:t>• User-centric approach</a:t>
            </a:r>
            <a:endParaRPr lang="en-US" sz="1100" dirty="0"/>
          </a:p>
          <a:p>
            <a:r>
              <a:rPr lang="en-US" sz="1100" dirty="0">
                <a:solidFill>
                  <a:srgbClr val="64748B"/>
                </a:solidFill>
                <a:latin typeface="Calibri" pitchFamily="34" charset="0"/>
                <a:ea typeface="Calibri" pitchFamily="34" charset="-122"/>
                <a:cs typeface="Calibri" pitchFamily="34" charset="-120"/>
              </a:rPr>
              <a:t>• Non-intrusive testing</a:t>
            </a:r>
            <a:endParaRPr lang="en-US" sz="1100" dirty="0"/>
          </a:p>
          <a:p>
            <a:r>
              <a:rPr lang="en-US" sz="1100" dirty="0">
                <a:solidFill>
                  <a:srgbClr val="64748B"/>
                </a:solidFill>
                <a:latin typeface="Calibri" pitchFamily="34" charset="0"/>
                <a:ea typeface="Calibri" pitchFamily="34" charset="-122"/>
                <a:cs typeface="Calibri" pitchFamily="34" charset="-120"/>
              </a:rPr>
              <a:t>• Improved product quality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28600" y="276606"/>
            <a:ext cx="6037006" cy="1005840"/>
          </a:xfrm>
          <a:prstGeom prst="rect">
            <a:avLst/>
          </a:prstGeom>
          <a:solidFill>
            <a:srgbClr val="0D7377"/>
          </a:solidFill>
          <a:ln w="12700">
            <a:solidFill>
              <a:srgbClr val="0D7377"/>
            </a:solidFill>
            <a:prstDash val="solid"/>
          </a:ln>
        </p:spPr>
        <p:txBody>
          <a:bodyPr/>
          <a:lstStyle/>
          <a:p>
            <a:endParaRPr lang="en-IN"/>
          </a:p>
        </p:txBody>
      </p:sp>
      <p:sp>
        <p:nvSpPr>
          <p:cNvPr id="3" name="Text 1"/>
          <p:cNvSpPr/>
          <p:nvPr/>
        </p:nvSpPr>
        <p:spPr>
          <a:xfrm>
            <a:off x="365760" y="325814"/>
            <a:ext cx="8229600" cy="685800"/>
          </a:xfrm>
          <a:prstGeom prst="rect">
            <a:avLst/>
          </a:prstGeom>
          <a:noFill/>
          <a:ln/>
        </p:spPr>
        <p:txBody>
          <a:bodyPr wrap="square" rtlCol="0" anchor="ctr"/>
          <a:lstStyle/>
          <a:p>
            <a:r>
              <a:rPr lang="en-US" sz="3000" b="1" dirty="0">
                <a:solidFill>
                  <a:srgbClr val="FFFFFF"/>
                </a:solidFill>
                <a:latin typeface="Georgia" pitchFamily="34" charset="0"/>
                <a:ea typeface="Georgia" pitchFamily="34" charset="-122"/>
                <a:cs typeface="Georgia" pitchFamily="34" charset="-120"/>
              </a:rPr>
              <a:t>Functional Testing</a:t>
            </a:r>
            <a:endParaRPr lang="en-US" sz="3000" dirty="0"/>
          </a:p>
        </p:txBody>
      </p:sp>
      <p:sp>
        <p:nvSpPr>
          <p:cNvPr id="4" name="Text 2"/>
          <p:cNvSpPr/>
          <p:nvPr/>
        </p:nvSpPr>
        <p:spPr>
          <a:xfrm>
            <a:off x="365760" y="901886"/>
            <a:ext cx="8229600" cy="256032"/>
          </a:xfrm>
          <a:prstGeom prst="rect">
            <a:avLst/>
          </a:prstGeom>
          <a:noFill/>
          <a:ln/>
        </p:spPr>
        <p:txBody>
          <a:bodyPr wrap="square" rtlCol="0" anchor="ctr"/>
          <a:lstStyle/>
          <a:p>
            <a:r>
              <a:rPr lang="en-US" sz="1200" dirty="0">
                <a:solidFill>
                  <a:srgbClr val="E2EAF4"/>
                </a:solidFill>
                <a:latin typeface="Calibri" pitchFamily="34" charset="0"/>
                <a:ea typeface="Calibri" pitchFamily="34" charset="-122"/>
                <a:cs typeface="Calibri" pitchFamily="34" charset="-120"/>
              </a:rPr>
              <a:t>Under Black Box Testing</a:t>
            </a:r>
            <a:endParaRPr lang="en-US" sz="1200" dirty="0"/>
          </a:p>
        </p:txBody>
      </p:sp>
      <p:sp>
        <p:nvSpPr>
          <p:cNvPr id="5" name="Shape 3"/>
          <p:cNvSpPr/>
          <p:nvPr/>
        </p:nvSpPr>
        <p:spPr>
          <a:xfrm>
            <a:off x="137160" y="1954530"/>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6" name="Shape 4"/>
          <p:cNvSpPr/>
          <p:nvPr/>
        </p:nvSpPr>
        <p:spPr>
          <a:xfrm>
            <a:off x="137160" y="1954530"/>
            <a:ext cx="2057400" cy="54864"/>
          </a:xfrm>
          <a:prstGeom prst="rect">
            <a:avLst/>
          </a:prstGeom>
          <a:solidFill>
            <a:srgbClr val="0D7377"/>
          </a:solidFill>
          <a:ln w="12700">
            <a:solidFill>
              <a:srgbClr val="0D7377"/>
            </a:solidFill>
            <a:prstDash val="solid"/>
          </a:ln>
        </p:spPr>
        <p:txBody>
          <a:bodyPr/>
          <a:lstStyle/>
          <a:p>
            <a:endParaRPr lang="en-IN"/>
          </a:p>
        </p:txBody>
      </p:sp>
      <p:sp>
        <p:nvSpPr>
          <p:cNvPr id="7" name="Text 5"/>
          <p:cNvSpPr/>
          <p:nvPr/>
        </p:nvSpPr>
        <p:spPr>
          <a:xfrm>
            <a:off x="228600" y="2064258"/>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Unit Testing</a:t>
            </a:r>
            <a:endParaRPr lang="en-US" sz="1200" dirty="0"/>
          </a:p>
        </p:txBody>
      </p:sp>
      <p:sp>
        <p:nvSpPr>
          <p:cNvPr id="8" name="Text 6"/>
          <p:cNvSpPr/>
          <p:nvPr/>
        </p:nvSpPr>
        <p:spPr>
          <a:xfrm>
            <a:off x="228600" y="2503170"/>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Tests individual functions/methods in isolation. Done by developers early in SDLC.</a:t>
            </a:r>
            <a:endParaRPr lang="en-US" sz="1050" dirty="0"/>
          </a:p>
        </p:txBody>
      </p:sp>
      <p:sp>
        <p:nvSpPr>
          <p:cNvPr id="9" name="Shape 7"/>
          <p:cNvSpPr/>
          <p:nvPr/>
        </p:nvSpPr>
        <p:spPr>
          <a:xfrm>
            <a:off x="2286000" y="1954530"/>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10" name="Shape 8"/>
          <p:cNvSpPr/>
          <p:nvPr/>
        </p:nvSpPr>
        <p:spPr>
          <a:xfrm>
            <a:off x="2286000" y="1954530"/>
            <a:ext cx="2057400" cy="54864"/>
          </a:xfrm>
          <a:prstGeom prst="rect">
            <a:avLst/>
          </a:prstGeom>
          <a:solidFill>
            <a:srgbClr val="0D7377"/>
          </a:solidFill>
          <a:ln w="12700">
            <a:solidFill>
              <a:srgbClr val="0D7377"/>
            </a:solidFill>
            <a:prstDash val="solid"/>
          </a:ln>
        </p:spPr>
        <p:txBody>
          <a:bodyPr/>
          <a:lstStyle/>
          <a:p>
            <a:endParaRPr lang="en-IN"/>
          </a:p>
        </p:txBody>
      </p:sp>
      <p:sp>
        <p:nvSpPr>
          <p:cNvPr id="11" name="Text 9"/>
          <p:cNvSpPr/>
          <p:nvPr/>
        </p:nvSpPr>
        <p:spPr>
          <a:xfrm>
            <a:off x="2377440" y="2064258"/>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Integration Testing</a:t>
            </a:r>
            <a:endParaRPr lang="en-US" sz="1200" dirty="0"/>
          </a:p>
        </p:txBody>
      </p:sp>
      <p:sp>
        <p:nvSpPr>
          <p:cNvPr id="12" name="Text 10"/>
          <p:cNvSpPr/>
          <p:nvPr/>
        </p:nvSpPr>
        <p:spPr>
          <a:xfrm>
            <a:off x="2377440" y="2503170"/>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Verifies that different modules work together. Includes Top-down, Bottom-up, Big-Bang.</a:t>
            </a:r>
            <a:endParaRPr lang="en-US" sz="1050" dirty="0"/>
          </a:p>
        </p:txBody>
      </p:sp>
      <p:sp>
        <p:nvSpPr>
          <p:cNvPr id="13" name="Shape 11"/>
          <p:cNvSpPr/>
          <p:nvPr/>
        </p:nvSpPr>
        <p:spPr>
          <a:xfrm>
            <a:off x="4434840" y="1954530"/>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14" name="Shape 12"/>
          <p:cNvSpPr/>
          <p:nvPr/>
        </p:nvSpPr>
        <p:spPr>
          <a:xfrm>
            <a:off x="4434840" y="1954530"/>
            <a:ext cx="2057400" cy="54864"/>
          </a:xfrm>
          <a:prstGeom prst="rect">
            <a:avLst/>
          </a:prstGeom>
          <a:solidFill>
            <a:srgbClr val="0D7377"/>
          </a:solidFill>
          <a:ln w="12700">
            <a:solidFill>
              <a:srgbClr val="0D7377"/>
            </a:solidFill>
            <a:prstDash val="solid"/>
          </a:ln>
        </p:spPr>
        <p:txBody>
          <a:bodyPr/>
          <a:lstStyle/>
          <a:p>
            <a:endParaRPr lang="en-IN"/>
          </a:p>
        </p:txBody>
      </p:sp>
      <p:sp>
        <p:nvSpPr>
          <p:cNvPr id="15" name="Text 13"/>
          <p:cNvSpPr/>
          <p:nvPr/>
        </p:nvSpPr>
        <p:spPr>
          <a:xfrm>
            <a:off x="4526280" y="2064258"/>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System Testing</a:t>
            </a:r>
            <a:endParaRPr lang="en-US" sz="1200" dirty="0"/>
          </a:p>
        </p:txBody>
      </p:sp>
      <p:sp>
        <p:nvSpPr>
          <p:cNvPr id="16" name="Text 14"/>
          <p:cNvSpPr/>
          <p:nvPr/>
        </p:nvSpPr>
        <p:spPr>
          <a:xfrm>
            <a:off x="4526280" y="2503170"/>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Tests the fully integrated system against requirements before acceptance testing.</a:t>
            </a:r>
            <a:endParaRPr lang="en-US" sz="1050" dirty="0"/>
          </a:p>
        </p:txBody>
      </p:sp>
      <p:sp>
        <p:nvSpPr>
          <p:cNvPr id="17" name="Shape 15"/>
          <p:cNvSpPr/>
          <p:nvPr/>
        </p:nvSpPr>
        <p:spPr>
          <a:xfrm>
            <a:off x="6583680" y="1954530"/>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18" name="Shape 16"/>
          <p:cNvSpPr/>
          <p:nvPr/>
        </p:nvSpPr>
        <p:spPr>
          <a:xfrm>
            <a:off x="6583680" y="1954530"/>
            <a:ext cx="2057400" cy="54864"/>
          </a:xfrm>
          <a:prstGeom prst="rect">
            <a:avLst/>
          </a:prstGeom>
          <a:solidFill>
            <a:srgbClr val="0D7377"/>
          </a:solidFill>
          <a:ln w="12700">
            <a:solidFill>
              <a:srgbClr val="0D7377"/>
            </a:solidFill>
            <a:prstDash val="solid"/>
          </a:ln>
        </p:spPr>
        <p:txBody>
          <a:bodyPr/>
          <a:lstStyle/>
          <a:p>
            <a:endParaRPr lang="en-IN"/>
          </a:p>
        </p:txBody>
      </p:sp>
      <p:sp>
        <p:nvSpPr>
          <p:cNvPr id="19" name="Text 17"/>
          <p:cNvSpPr/>
          <p:nvPr/>
        </p:nvSpPr>
        <p:spPr>
          <a:xfrm>
            <a:off x="6675120" y="2064258"/>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UAT</a:t>
            </a:r>
            <a:endParaRPr lang="en-US" sz="1200" dirty="0"/>
          </a:p>
        </p:txBody>
      </p:sp>
      <p:sp>
        <p:nvSpPr>
          <p:cNvPr id="20" name="Text 18"/>
          <p:cNvSpPr/>
          <p:nvPr/>
        </p:nvSpPr>
        <p:spPr>
          <a:xfrm>
            <a:off x="6675120" y="2503170"/>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User Acceptance Testing — validates software meets business needs in real-world conditions.</a:t>
            </a:r>
            <a:endParaRPr lang="en-US" sz="1050" dirty="0"/>
          </a:p>
        </p:txBody>
      </p:sp>
      <p:sp>
        <p:nvSpPr>
          <p:cNvPr id="21" name="Shape 19"/>
          <p:cNvSpPr/>
          <p:nvPr/>
        </p:nvSpPr>
        <p:spPr>
          <a:xfrm>
            <a:off x="137160" y="3618738"/>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22" name="Shape 20"/>
          <p:cNvSpPr/>
          <p:nvPr/>
        </p:nvSpPr>
        <p:spPr>
          <a:xfrm>
            <a:off x="137160" y="3618738"/>
            <a:ext cx="2057400" cy="54864"/>
          </a:xfrm>
          <a:prstGeom prst="rect">
            <a:avLst/>
          </a:prstGeom>
          <a:solidFill>
            <a:srgbClr val="0D7377"/>
          </a:solidFill>
          <a:ln w="12700">
            <a:solidFill>
              <a:srgbClr val="0D7377"/>
            </a:solidFill>
            <a:prstDash val="solid"/>
          </a:ln>
        </p:spPr>
        <p:txBody>
          <a:bodyPr/>
          <a:lstStyle/>
          <a:p>
            <a:endParaRPr lang="en-IN"/>
          </a:p>
        </p:txBody>
      </p:sp>
      <p:sp>
        <p:nvSpPr>
          <p:cNvPr id="23" name="Text 21"/>
          <p:cNvSpPr/>
          <p:nvPr/>
        </p:nvSpPr>
        <p:spPr>
          <a:xfrm>
            <a:off x="228600" y="3728466"/>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Regression Testing</a:t>
            </a:r>
            <a:endParaRPr lang="en-US" sz="1200" dirty="0"/>
          </a:p>
        </p:txBody>
      </p:sp>
      <p:sp>
        <p:nvSpPr>
          <p:cNvPr id="24" name="Text 22"/>
          <p:cNvSpPr/>
          <p:nvPr/>
        </p:nvSpPr>
        <p:spPr>
          <a:xfrm>
            <a:off x="228600" y="4167378"/>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Ensures new changes don't break existing functionality via retesting and comparison.</a:t>
            </a:r>
            <a:endParaRPr lang="en-US" sz="1050" dirty="0"/>
          </a:p>
        </p:txBody>
      </p:sp>
      <p:sp>
        <p:nvSpPr>
          <p:cNvPr id="25" name="Shape 23"/>
          <p:cNvSpPr/>
          <p:nvPr/>
        </p:nvSpPr>
        <p:spPr>
          <a:xfrm>
            <a:off x="2286000" y="3618738"/>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26" name="Shape 24"/>
          <p:cNvSpPr/>
          <p:nvPr/>
        </p:nvSpPr>
        <p:spPr>
          <a:xfrm>
            <a:off x="2286000" y="3618738"/>
            <a:ext cx="2057400" cy="54864"/>
          </a:xfrm>
          <a:prstGeom prst="rect">
            <a:avLst/>
          </a:prstGeom>
          <a:solidFill>
            <a:srgbClr val="0D7377"/>
          </a:solidFill>
          <a:ln w="12700">
            <a:solidFill>
              <a:srgbClr val="0D7377"/>
            </a:solidFill>
            <a:prstDash val="solid"/>
          </a:ln>
        </p:spPr>
        <p:txBody>
          <a:bodyPr/>
          <a:lstStyle/>
          <a:p>
            <a:endParaRPr lang="en-IN"/>
          </a:p>
        </p:txBody>
      </p:sp>
      <p:sp>
        <p:nvSpPr>
          <p:cNvPr id="27" name="Text 25"/>
          <p:cNvSpPr/>
          <p:nvPr/>
        </p:nvSpPr>
        <p:spPr>
          <a:xfrm>
            <a:off x="2377440" y="3728466"/>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Smoke Testing</a:t>
            </a:r>
            <a:endParaRPr lang="en-US" sz="1200" dirty="0"/>
          </a:p>
        </p:txBody>
      </p:sp>
      <p:sp>
        <p:nvSpPr>
          <p:cNvPr id="28" name="Text 26"/>
          <p:cNvSpPr/>
          <p:nvPr/>
        </p:nvSpPr>
        <p:spPr>
          <a:xfrm>
            <a:off x="2377440" y="4167378"/>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Minimum tests on each build to confirm basic stability before deeper testing.</a:t>
            </a:r>
            <a:endParaRPr lang="en-US" sz="1050" dirty="0"/>
          </a:p>
        </p:txBody>
      </p:sp>
      <p:sp>
        <p:nvSpPr>
          <p:cNvPr id="29" name="Shape 27"/>
          <p:cNvSpPr/>
          <p:nvPr/>
        </p:nvSpPr>
        <p:spPr>
          <a:xfrm>
            <a:off x="4434840" y="3618738"/>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30" name="Shape 28"/>
          <p:cNvSpPr/>
          <p:nvPr/>
        </p:nvSpPr>
        <p:spPr>
          <a:xfrm>
            <a:off x="4434840" y="3618738"/>
            <a:ext cx="2057400" cy="54864"/>
          </a:xfrm>
          <a:prstGeom prst="rect">
            <a:avLst/>
          </a:prstGeom>
          <a:solidFill>
            <a:srgbClr val="0D7377"/>
          </a:solidFill>
          <a:ln w="12700">
            <a:solidFill>
              <a:srgbClr val="0D7377"/>
            </a:solidFill>
            <a:prstDash val="solid"/>
          </a:ln>
        </p:spPr>
        <p:txBody>
          <a:bodyPr/>
          <a:lstStyle/>
          <a:p>
            <a:endParaRPr lang="en-IN"/>
          </a:p>
        </p:txBody>
      </p:sp>
      <p:sp>
        <p:nvSpPr>
          <p:cNvPr id="31" name="Text 29"/>
          <p:cNvSpPr/>
          <p:nvPr/>
        </p:nvSpPr>
        <p:spPr>
          <a:xfrm>
            <a:off x="4526280" y="3728466"/>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Sanity Testing</a:t>
            </a:r>
            <a:endParaRPr lang="en-US" sz="1200" dirty="0"/>
          </a:p>
        </p:txBody>
      </p:sp>
      <p:sp>
        <p:nvSpPr>
          <p:cNvPr id="32" name="Text 30"/>
          <p:cNvSpPr/>
          <p:nvPr/>
        </p:nvSpPr>
        <p:spPr>
          <a:xfrm>
            <a:off x="4526280" y="4167378"/>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Quick check post bug-fix to confirm core functionality; stops if basics fail.</a:t>
            </a:r>
            <a:endParaRPr lang="en-US" sz="1050" dirty="0"/>
          </a:p>
        </p:txBody>
      </p:sp>
      <p:sp>
        <p:nvSpPr>
          <p:cNvPr id="33" name="Shape 31"/>
          <p:cNvSpPr/>
          <p:nvPr/>
        </p:nvSpPr>
        <p:spPr>
          <a:xfrm>
            <a:off x="6583680" y="3618738"/>
            <a:ext cx="2057400" cy="1554480"/>
          </a:xfrm>
          <a:prstGeom prst="rect">
            <a:avLst/>
          </a:prstGeom>
          <a:solidFill>
            <a:srgbClr val="FFFFFF"/>
          </a:solidFill>
          <a:ln w="12700">
            <a:solidFill>
              <a:srgbClr val="E2EAF4"/>
            </a:solidFill>
            <a:prstDash val="solid"/>
          </a:ln>
          <a:effectLst>
            <a:outerShdw blurRad="50800" dist="25400" dir="8100000" algn="bl" rotWithShape="0">
              <a:srgbClr val="000000">
                <a:alpha val="8000"/>
              </a:srgbClr>
            </a:outerShdw>
          </a:effectLst>
        </p:spPr>
        <p:txBody>
          <a:bodyPr/>
          <a:lstStyle/>
          <a:p>
            <a:endParaRPr lang="en-IN"/>
          </a:p>
        </p:txBody>
      </p:sp>
      <p:sp>
        <p:nvSpPr>
          <p:cNvPr id="34" name="Shape 32"/>
          <p:cNvSpPr/>
          <p:nvPr/>
        </p:nvSpPr>
        <p:spPr>
          <a:xfrm>
            <a:off x="6583680" y="3618738"/>
            <a:ext cx="2057400" cy="54864"/>
          </a:xfrm>
          <a:prstGeom prst="rect">
            <a:avLst/>
          </a:prstGeom>
          <a:solidFill>
            <a:srgbClr val="0D7377"/>
          </a:solidFill>
          <a:ln w="12700">
            <a:solidFill>
              <a:srgbClr val="0D7377"/>
            </a:solidFill>
            <a:prstDash val="solid"/>
          </a:ln>
        </p:spPr>
        <p:txBody>
          <a:bodyPr/>
          <a:lstStyle/>
          <a:p>
            <a:endParaRPr lang="en-IN"/>
          </a:p>
        </p:txBody>
      </p:sp>
      <p:sp>
        <p:nvSpPr>
          <p:cNvPr id="35" name="Text 33"/>
          <p:cNvSpPr/>
          <p:nvPr/>
        </p:nvSpPr>
        <p:spPr>
          <a:xfrm>
            <a:off x="6675120" y="3728466"/>
            <a:ext cx="1874520" cy="411480"/>
          </a:xfrm>
          <a:prstGeom prst="rect">
            <a:avLst/>
          </a:prstGeom>
          <a:noFill/>
          <a:ln/>
        </p:spPr>
        <p:txBody>
          <a:bodyPr wrap="square" rtlCol="0" anchor="ctr"/>
          <a:lstStyle/>
          <a:p>
            <a:r>
              <a:rPr lang="en-US" sz="1200" b="1" dirty="0">
                <a:solidFill>
                  <a:srgbClr val="1A2B4A"/>
                </a:solidFill>
                <a:latin typeface="Calibri" pitchFamily="34" charset="0"/>
                <a:ea typeface="Calibri" pitchFamily="34" charset="-122"/>
                <a:cs typeface="Calibri" pitchFamily="34" charset="-120"/>
              </a:rPr>
              <a:t>🔁 End-to-End Testing</a:t>
            </a:r>
            <a:endParaRPr lang="en-US" sz="1200" dirty="0"/>
          </a:p>
        </p:txBody>
      </p:sp>
      <p:sp>
        <p:nvSpPr>
          <p:cNvPr id="36" name="Text 34"/>
          <p:cNvSpPr/>
          <p:nvPr/>
        </p:nvSpPr>
        <p:spPr>
          <a:xfrm>
            <a:off x="6675120" y="4167378"/>
            <a:ext cx="1874520" cy="91440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Tests entire software flow with all external interfaces and databases.</a:t>
            </a:r>
            <a:endParaRPr lang="en-US" sz="1050" dirty="0"/>
          </a:p>
        </p:txBody>
      </p:sp>
    </p:spTree>
  </p:cSld>
  <p:clrMapOvr>
    <a:masterClrMapping/>
  </p:clrMapOvr>
</p:sld>
</file>

<file path=ppt/theme/theme1.xml><?xml version="1.0" encoding="utf-8"?>
<a:theme xmlns:a="http://schemas.openxmlformats.org/drawingml/2006/main" name="SE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283</TotalTime>
  <Words>693</Words>
  <Application>Microsoft Office PowerPoint</Application>
  <PresentationFormat>On-screen Show (4:3)</PresentationFormat>
  <Paragraphs>92</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Georgia</vt:lpstr>
      <vt:lpstr>Noto Sans Symbols</vt:lpstr>
      <vt:lpstr>SE9</vt:lpstr>
      <vt:lpstr>Chapter 8 – Software Testing</vt:lpstr>
      <vt:lpstr>Program testing</vt:lpstr>
      <vt:lpstr>Program testing goals</vt:lpstr>
      <vt:lpstr>Bug vs Defect vs Error vs Fault vs Failure</vt:lpstr>
      <vt:lpstr>Software Testing Strategies</vt:lpstr>
      <vt:lpstr>Software Testing Strategies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Tirthankar Ghosh</cp:lastModifiedBy>
  <cp:revision>4</cp:revision>
  <dcterms:modified xsi:type="dcterms:W3CDTF">2026-04-27T18:24:33Z</dcterms:modified>
</cp:coreProperties>
</file>