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8" r:id="rId3"/>
    <p:sldId id="259" r:id="rId4"/>
    <p:sldId id="316" r:id="rId5"/>
    <p:sldId id="318" r:id="rId6"/>
    <p:sldId id="320" r:id="rId7"/>
    <p:sldId id="257" r:id="rId8"/>
    <p:sldId id="326" r:id="rId9"/>
    <p:sldId id="327" r:id="rId10"/>
    <p:sldId id="328" r:id="rId11"/>
    <p:sldId id="329" r:id="rId12"/>
    <p:sldId id="330" r:id="rId13"/>
    <p:sldId id="331" r:id="rId14"/>
    <p:sldId id="332" r:id="rId15"/>
    <p:sldId id="333"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3D57ADC0-0B09-A3BA-04B2-2A1CBB73E46A}"/>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AC888841-BA9F-44E9-2D0B-71D91D41F2F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912FE11E-2842-1E09-1AD3-17DC438380E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2369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600"/>
              </a:spcBef>
              <a:spcAft>
                <a:spcPts val="0"/>
              </a:spcAft>
              <a:buClr>
                <a:srgbClr val="46424D"/>
              </a:buClr>
              <a:buSzPts val="2400"/>
              <a:buFont typeface="Noto Sans Symbols"/>
              <a:buChar char="✧"/>
              <a:defRPr sz="2400" b="0" i="0" u="none" strike="noStrike" cap="none">
                <a:solidFill>
                  <a:srgbClr val="46424D"/>
                </a:solidFill>
                <a:latin typeface="Arial"/>
                <a:ea typeface="Arial"/>
                <a:cs typeface="Arial"/>
                <a:sym typeface="Arial"/>
              </a:defRPr>
            </a:lvl1pPr>
            <a:lvl2pPr marL="914400" marR="0" lvl="1" indent="-355600" algn="l" rtl="0">
              <a:spcBef>
                <a:spcPts val="600"/>
              </a:spcBef>
              <a:spcAft>
                <a:spcPts val="0"/>
              </a:spcAft>
              <a:buClr>
                <a:srgbClr val="46424D"/>
              </a:buClr>
              <a:buSzPts val="2000"/>
              <a:buFont typeface="Noto Sans Symbols"/>
              <a:buChar char="▪"/>
              <a:defRPr sz="2000" b="0" i="0" u="none" strike="noStrike" cap="none">
                <a:solidFill>
                  <a:srgbClr val="46424D"/>
                </a:solidFill>
                <a:latin typeface="Arial"/>
                <a:ea typeface="Arial"/>
                <a:cs typeface="Arial"/>
                <a:sym typeface="Arial"/>
              </a:defRPr>
            </a:lvl2pPr>
            <a:lvl3pPr marL="1371600" marR="0" lvl="2"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3pPr>
            <a:lvl4pPr marL="1828800" marR="0" lvl="3"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4pPr>
            <a:lvl5pPr marL="2286000" marR="0" lvl="4"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0"/>
          <p:cNvSpPr>
            <a:spLocks noGrp="1"/>
          </p:cNvSpPr>
          <p:nvPr>
            <p:ph type="pic" idx="2"/>
          </p:nvPr>
        </p:nvSpPr>
        <p:spPr>
          <a:xfrm>
            <a:off x="1792288" y="612775"/>
            <a:ext cx="5486400" cy="4114800"/>
          </a:xfrm>
          <a:prstGeom prst="rect">
            <a:avLst/>
          </a:prstGeom>
          <a:noFill/>
          <a:ln>
            <a:noFill/>
          </a:ln>
        </p:spPr>
      </p:sp>
      <p:sp>
        <p:nvSpPr>
          <p:cNvPr id="69" name="Google Shape;69;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049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rgbClr val="46424D"/>
                </a:solidFill>
                <a:latin typeface="Arial"/>
                <a:ea typeface="Arial"/>
                <a:cs typeface="Arial"/>
                <a:sym typeface="Arial"/>
              </a:defRPr>
            </a:lvl1pPr>
            <a:lvl2pPr marR="0" lvl="1"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1" descr="Cover.jpg"/>
          <p:cNvPicPr preferRelativeResize="0"/>
          <p:nvPr/>
        </p:nvPicPr>
        <p:blipFill rotWithShape="1">
          <a:blip r:embed="rId14">
            <a:alphaModFix/>
          </a:blip>
          <a:srcRect/>
          <a:stretch/>
        </p:blipFill>
        <p:spPr>
          <a:xfrm>
            <a:off x="7750432" y="287213"/>
            <a:ext cx="923795" cy="1143000"/>
          </a:xfrm>
          <a:prstGeom prst="rect">
            <a:avLst/>
          </a:prstGeom>
          <a:noFill/>
          <a:ln>
            <a:noFill/>
          </a:ln>
        </p:spPr>
      </p:pic>
      <p:cxnSp>
        <p:nvCxnSpPr>
          <p:cNvPr id="15" name="Google Shape;15;p1"/>
          <p:cNvCxnSpPr/>
          <p:nvPr/>
        </p:nvCxnSpPr>
        <p:spPr>
          <a:xfrm>
            <a:off x="457200" y="1419226"/>
            <a:ext cx="7305805" cy="1588"/>
          </a:xfrm>
          <a:prstGeom prst="straightConnector1">
            <a:avLst/>
          </a:prstGeom>
          <a:noFill/>
          <a:ln w="25400" cap="flat" cmpd="sng">
            <a:solidFill>
              <a:srgbClr val="3F3F3F"/>
            </a:solidFill>
            <a:prstDash val="solid"/>
            <a:round/>
            <a:headEnd type="none" w="sm" len="sm"/>
            <a:tailEnd type="none" w="sm" len="sm"/>
          </a:ln>
          <a:effectLst>
            <a:outerShdw blurRad="40000" dist="20000" dir="5400000" rotWithShape="0">
              <a:srgbClr val="000000">
                <a:alpha val="38039"/>
              </a:srgbClr>
            </a:outerShdw>
          </a:effectLst>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Chapter 8 – Software Testing</a:t>
            </a:r>
            <a:endParaRPr/>
          </a:p>
        </p:txBody>
      </p:sp>
      <p:sp>
        <p:nvSpPr>
          <p:cNvPr id="91" name="Google Shape;9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2" name="Google Shape;9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Program testing</a:t>
            </a:r>
            <a:endParaRPr/>
          </a:p>
        </p:txBody>
      </p:sp>
      <p:sp>
        <p:nvSpPr>
          <p:cNvPr id="106" name="Google Shape;106;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200"/>
              <a:buFont typeface="Noto Sans Symbols"/>
              <a:buChar char="✧"/>
            </a:pPr>
            <a:r>
              <a:rPr lang="en-US" sz="2200" dirty="0"/>
              <a:t>Testing is intended to show that a program does what it is intended to do and to discover program defects before it is put into use. </a:t>
            </a:r>
            <a:endParaRPr dirty="0"/>
          </a:p>
          <a:p>
            <a:pPr marL="342900" lvl="0" indent="-342900" algn="l" rtl="0">
              <a:spcBef>
                <a:spcPts val="1200"/>
              </a:spcBef>
              <a:spcAft>
                <a:spcPts val="0"/>
              </a:spcAft>
              <a:buClr>
                <a:srgbClr val="46424D"/>
              </a:buClr>
              <a:buSzPts val="2200"/>
              <a:buFont typeface="Noto Sans Symbols"/>
              <a:buChar char="✧"/>
            </a:pPr>
            <a:r>
              <a:rPr lang="en-US" sz="2200" dirty="0"/>
              <a:t>When you test software, you execute a program using artificial data. </a:t>
            </a:r>
            <a:endParaRPr dirty="0"/>
          </a:p>
          <a:p>
            <a:pPr marL="342900" lvl="0" indent="-342900" algn="l" rtl="0">
              <a:spcBef>
                <a:spcPts val="1200"/>
              </a:spcBef>
              <a:spcAft>
                <a:spcPts val="0"/>
              </a:spcAft>
              <a:buClr>
                <a:srgbClr val="46424D"/>
              </a:buClr>
              <a:buSzPts val="2200"/>
              <a:buFont typeface="Noto Sans Symbols"/>
              <a:buChar char="✧"/>
            </a:pPr>
            <a:r>
              <a:rPr lang="en-US" sz="2200" dirty="0"/>
              <a:t>You check the results of the test run for errors, anomalies or information about the program’s non-functional attributes. </a:t>
            </a:r>
            <a:endParaRPr dirty="0"/>
          </a:p>
          <a:p>
            <a:pPr marL="342900" lvl="0" indent="-342900" algn="l" rtl="0">
              <a:spcBef>
                <a:spcPts val="1200"/>
              </a:spcBef>
              <a:spcAft>
                <a:spcPts val="0"/>
              </a:spcAft>
              <a:buClr>
                <a:srgbClr val="46424D"/>
              </a:buClr>
              <a:buSzPts val="2200"/>
              <a:buFont typeface="Noto Sans Symbols"/>
              <a:buChar char="✧"/>
            </a:pPr>
            <a:r>
              <a:rPr lang="en-US" sz="2200" dirty="0"/>
              <a:t>Can reveal the presence of errors, NOT their absence.</a:t>
            </a:r>
            <a:endParaRPr dirty="0"/>
          </a:p>
          <a:p>
            <a:pPr marL="342900" lvl="0" indent="-342900" algn="l" rtl="0">
              <a:spcBef>
                <a:spcPts val="1200"/>
              </a:spcBef>
              <a:spcAft>
                <a:spcPts val="0"/>
              </a:spcAft>
              <a:buClr>
                <a:srgbClr val="46424D"/>
              </a:buClr>
              <a:buSzPts val="2200"/>
              <a:buFont typeface="Noto Sans Symbols"/>
              <a:buChar char="✧"/>
            </a:pPr>
            <a:r>
              <a:rPr lang="en-US" sz="2200" dirty="0"/>
              <a:t>Testing is part of a more general verification and validation process, which also includes static validation techniques.</a:t>
            </a:r>
            <a:endParaRPr sz="2200" i="1" dirty="0"/>
          </a:p>
          <a:p>
            <a:pPr marL="342900" lvl="0" indent="-190500" algn="l" rtl="0">
              <a:spcBef>
                <a:spcPts val="1200"/>
              </a:spcBef>
              <a:spcAft>
                <a:spcPts val="0"/>
              </a:spcAft>
              <a:buClr>
                <a:srgbClr val="46424D"/>
              </a:buClr>
              <a:buSzPts val="2400"/>
              <a:buFont typeface="Noto Sans Symbols"/>
              <a:buNone/>
            </a:pPr>
            <a:endParaRPr dirty="0"/>
          </a:p>
        </p:txBody>
      </p:sp>
      <p:sp>
        <p:nvSpPr>
          <p:cNvPr id="107" name="Google Shape;10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sp>
        <p:nvSpPr>
          <p:cNvPr id="108" name="Google Shape;10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Program testing goals</a:t>
            </a:r>
            <a:endParaRPr/>
          </a:p>
        </p:txBody>
      </p:sp>
      <p:sp>
        <p:nvSpPr>
          <p:cNvPr id="114" name="Google Shape;114;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To demonstrate to the developer and the customer that the software meets its requirements. </a:t>
            </a:r>
            <a:endParaRPr dirty="0"/>
          </a:p>
          <a:p>
            <a:pPr marL="742950" lvl="1" indent="-285750" algn="l" rtl="0">
              <a:spcBef>
                <a:spcPts val="900"/>
              </a:spcBef>
              <a:spcAft>
                <a:spcPts val="0"/>
              </a:spcAft>
              <a:buClr>
                <a:srgbClr val="46424D"/>
              </a:buClr>
              <a:buSzPts val="2000"/>
              <a:buChar char="▪"/>
            </a:pPr>
            <a:r>
              <a:rPr lang="en-US" dirty="0"/>
              <a:t>For custom software, this means that there should be at least one test for every requirement in the requirements document. For generic software products, it means that there should be tests for all the system features, plus combinations of these features, that will be incorporated in the product release.  </a:t>
            </a:r>
            <a:endParaRPr dirty="0"/>
          </a:p>
          <a:p>
            <a:pPr marL="342900" lvl="0" indent="-342900" algn="l" rtl="0">
              <a:spcBef>
                <a:spcPts val="900"/>
              </a:spcBef>
              <a:spcAft>
                <a:spcPts val="0"/>
              </a:spcAft>
              <a:buClr>
                <a:srgbClr val="46424D"/>
              </a:buClr>
              <a:buSzPts val="2400"/>
              <a:buFont typeface="Noto Sans Symbols"/>
              <a:buChar char="✧"/>
            </a:pPr>
            <a:r>
              <a:rPr lang="en-US" dirty="0"/>
              <a:t>To discover situations in which the behavior of the software is incorrect, undesirable or does not conform to its specification. </a:t>
            </a:r>
            <a:endParaRPr dirty="0"/>
          </a:p>
          <a:p>
            <a:pPr marL="742950" lvl="1" indent="-285750" algn="l" rtl="0">
              <a:spcBef>
                <a:spcPts val="900"/>
              </a:spcBef>
              <a:spcAft>
                <a:spcPts val="0"/>
              </a:spcAft>
              <a:buClr>
                <a:srgbClr val="46424D"/>
              </a:buClr>
              <a:buSzPts val="2000"/>
              <a:buChar char="▪"/>
            </a:pPr>
            <a:r>
              <a:rPr lang="en-US" dirty="0"/>
              <a:t>Defect testing is concerned with rooting out undesirable system behavior such as system crashes, unwanted interactions with other systems, incorrect computations and data corruption.</a:t>
            </a:r>
            <a:endParaRPr dirty="0"/>
          </a:p>
          <a:p>
            <a:pPr marL="342900" lvl="0" indent="-190500" algn="l" rtl="0">
              <a:spcBef>
                <a:spcPts val="900"/>
              </a:spcBef>
              <a:spcAft>
                <a:spcPts val="0"/>
              </a:spcAft>
              <a:buClr>
                <a:srgbClr val="46424D"/>
              </a:buClr>
              <a:buSzPts val="2400"/>
              <a:buFont typeface="Noto Sans Symbols"/>
              <a:buNone/>
            </a:pPr>
            <a:endParaRPr dirty="0"/>
          </a:p>
        </p:txBody>
      </p:sp>
      <p:sp>
        <p:nvSpPr>
          <p:cNvPr id="115" name="Google Shape;115;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16" name="Google Shape;11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4B96A188-B57E-A3FE-5713-A1936B8320ED}"/>
            </a:ext>
          </a:extLst>
        </p:cNvPr>
        <p:cNvGrpSpPr/>
        <p:nvPr/>
      </p:nvGrpSpPr>
      <p:grpSpPr>
        <a:xfrm>
          <a:off x="0" y="0"/>
          <a:ext cx="0" cy="0"/>
          <a:chOff x="0" y="0"/>
          <a:chExt cx="0" cy="0"/>
        </a:xfrm>
      </p:grpSpPr>
      <p:sp>
        <p:nvSpPr>
          <p:cNvPr id="97" name="Google Shape;97;p14">
            <a:extLst>
              <a:ext uri="{FF2B5EF4-FFF2-40B4-BE49-F238E27FC236}">
                <a16:creationId xmlns:a16="http://schemas.microsoft.com/office/drawing/2014/main" id="{0D24F02E-8CB8-B27F-AEEE-9E1388B0C5F9}"/>
              </a:ext>
            </a:extLst>
          </p:cNvPr>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fontAlgn="base"/>
            <a:r>
              <a:rPr lang="en-US" dirty="0"/>
              <a:t>Bug vs Defect vs Error vs Fault vs Failure</a:t>
            </a:r>
          </a:p>
        </p:txBody>
      </p:sp>
      <p:sp>
        <p:nvSpPr>
          <p:cNvPr id="99" name="Google Shape;99;p14">
            <a:extLst>
              <a:ext uri="{FF2B5EF4-FFF2-40B4-BE49-F238E27FC236}">
                <a16:creationId xmlns:a16="http://schemas.microsoft.com/office/drawing/2014/main" id="{CE9EE5CB-440C-AF80-EB6C-4EC3670452A3}"/>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00" name="Google Shape;100;p14">
            <a:extLst>
              <a:ext uri="{FF2B5EF4-FFF2-40B4-BE49-F238E27FC236}">
                <a16:creationId xmlns:a16="http://schemas.microsoft.com/office/drawing/2014/main" id="{09788178-7912-28D2-CAF5-40420F538D78}"/>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pic>
        <p:nvPicPr>
          <p:cNvPr id="4" name="Picture 3">
            <a:extLst>
              <a:ext uri="{FF2B5EF4-FFF2-40B4-BE49-F238E27FC236}">
                <a16:creationId xmlns:a16="http://schemas.microsoft.com/office/drawing/2014/main" id="{1BA73C62-6751-E882-7B42-F5306639EE2F}"/>
              </a:ext>
            </a:extLst>
          </p:cNvPr>
          <p:cNvPicPr>
            <a:picLocks noChangeAspect="1"/>
          </p:cNvPicPr>
          <p:nvPr/>
        </p:nvPicPr>
        <p:blipFill>
          <a:blip r:embed="rId3"/>
          <a:stretch>
            <a:fillRect/>
          </a:stretch>
        </p:blipFill>
        <p:spPr>
          <a:xfrm>
            <a:off x="29753" y="1530903"/>
            <a:ext cx="9084494" cy="5008009"/>
          </a:xfrm>
          <a:prstGeom prst="rect">
            <a:avLst/>
          </a:prstGeom>
        </p:spPr>
      </p:pic>
    </p:spTree>
    <p:extLst>
      <p:ext uri="{BB962C8B-B14F-4D97-AF65-F5344CB8AC3E}">
        <p14:creationId xmlns:p14="http://schemas.microsoft.com/office/powerpoint/2010/main" val="3345558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882" y="429624"/>
            <a:ext cx="6435205" cy="633937"/>
          </a:xfrm>
          <a:prstGeom prst="rect">
            <a:avLst/>
          </a:prstGeom>
        </p:spPr>
        <p:txBody>
          <a:bodyPr spcFirstLastPara="1" vert="horz" wrap="square" lIns="0" tIns="249346" rIns="0" bIns="0" rtlCol="0" anchor="ctr" anchorCtr="0">
            <a:spAutoFit/>
          </a:bodyPr>
          <a:lstStyle/>
          <a:p>
            <a:pPr marL="382141">
              <a:spcBef>
                <a:spcPts val="88"/>
              </a:spcBef>
            </a:pPr>
            <a:r>
              <a:rPr dirty="0"/>
              <a:t>Software</a:t>
            </a:r>
            <a:r>
              <a:rPr spc="-146" dirty="0"/>
              <a:t> </a:t>
            </a:r>
            <a:r>
              <a:rPr spc="-35" dirty="0"/>
              <a:t>Testing</a:t>
            </a:r>
            <a:r>
              <a:rPr spc="-180" dirty="0"/>
              <a:t> </a:t>
            </a:r>
            <a:r>
              <a:rPr spc="-9" dirty="0"/>
              <a:t>Strategies</a:t>
            </a:r>
          </a:p>
        </p:txBody>
      </p:sp>
      <p:sp>
        <p:nvSpPr>
          <p:cNvPr id="3" name="object 3"/>
          <p:cNvSpPr txBox="1">
            <a:spLocks noGrp="1"/>
          </p:cNvSpPr>
          <p:nvPr>
            <p:ph type="body" idx="1"/>
          </p:nvPr>
        </p:nvSpPr>
        <p:spPr>
          <a:xfrm>
            <a:off x="537882" y="1657747"/>
            <a:ext cx="7261412" cy="3241257"/>
          </a:xfrm>
          <a:prstGeom prst="rect">
            <a:avLst/>
          </a:prstGeom>
        </p:spPr>
        <p:txBody>
          <a:bodyPr spcFirstLastPara="1" vert="horz" wrap="square" lIns="0" tIns="42022" rIns="0" bIns="0" rtlCol="0" anchor="t" anchorCtr="0">
            <a:spAutoFit/>
          </a:bodyPr>
          <a:lstStyle/>
          <a:p>
            <a:pPr marL="414079" marR="978886" indent="-403433">
              <a:lnSpc>
                <a:spcPts val="1906"/>
              </a:lnSpc>
              <a:spcBef>
                <a:spcPts val="331"/>
              </a:spcBef>
              <a:buAutoNum type="arabicPeriod"/>
              <a:tabLst>
                <a:tab pos="414079" algn="l"/>
                <a:tab pos="415199" algn="l"/>
              </a:tabLst>
            </a:pPr>
            <a:r>
              <a:rPr sz="1765" dirty="0"/>
              <a:t>	</a:t>
            </a:r>
            <a:r>
              <a:rPr sz="1765" spc="-9" dirty="0"/>
              <a:t>Before</a:t>
            </a:r>
            <a:r>
              <a:rPr sz="1765" spc="-40" dirty="0"/>
              <a:t> </a:t>
            </a:r>
            <a:r>
              <a:rPr sz="1765" dirty="0"/>
              <a:t>testing</a:t>
            </a:r>
            <a:r>
              <a:rPr sz="1765" spc="-71" dirty="0"/>
              <a:t> </a:t>
            </a:r>
            <a:r>
              <a:rPr sz="1765" dirty="0"/>
              <a:t>starts,</a:t>
            </a:r>
            <a:r>
              <a:rPr sz="1765" spc="-62" dirty="0"/>
              <a:t> </a:t>
            </a:r>
            <a:r>
              <a:rPr sz="1765" dirty="0"/>
              <a:t>it’s</a:t>
            </a:r>
            <a:r>
              <a:rPr sz="1765" spc="-62" dirty="0"/>
              <a:t> </a:t>
            </a:r>
            <a:r>
              <a:rPr sz="1765" dirty="0"/>
              <a:t>necessary</a:t>
            </a:r>
            <a:r>
              <a:rPr sz="1765" spc="-40" dirty="0"/>
              <a:t> </a:t>
            </a:r>
            <a:r>
              <a:rPr sz="1765" dirty="0"/>
              <a:t>to</a:t>
            </a:r>
            <a:r>
              <a:rPr sz="1765" spc="-31" dirty="0"/>
              <a:t> </a:t>
            </a:r>
            <a:r>
              <a:rPr sz="1765" dirty="0"/>
              <a:t>identify</a:t>
            </a:r>
            <a:r>
              <a:rPr sz="1765" spc="-71" dirty="0"/>
              <a:t> </a:t>
            </a:r>
            <a:r>
              <a:rPr sz="1765" dirty="0"/>
              <a:t>and</a:t>
            </a:r>
            <a:r>
              <a:rPr sz="1765" spc="-40" dirty="0"/>
              <a:t> </a:t>
            </a:r>
            <a:r>
              <a:rPr sz="1765" dirty="0"/>
              <a:t>specify</a:t>
            </a:r>
            <a:r>
              <a:rPr sz="1765" spc="-71" dirty="0"/>
              <a:t> </a:t>
            </a:r>
            <a:r>
              <a:rPr sz="1765" spc="-22" dirty="0"/>
              <a:t>the </a:t>
            </a:r>
            <a:r>
              <a:rPr sz="1765" spc="-9" dirty="0"/>
              <a:t>requirements </a:t>
            </a:r>
            <a:r>
              <a:rPr sz="1765" dirty="0"/>
              <a:t>of</a:t>
            </a:r>
            <a:r>
              <a:rPr sz="1765" spc="-40" dirty="0"/>
              <a:t> </a:t>
            </a:r>
            <a:r>
              <a:rPr sz="1765" dirty="0"/>
              <a:t>the</a:t>
            </a:r>
            <a:r>
              <a:rPr sz="1765" spc="-18" dirty="0"/>
              <a:t> </a:t>
            </a:r>
            <a:r>
              <a:rPr sz="1765" dirty="0"/>
              <a:t>product</a:t>
            </a:r>
            <a:r>
              <a:rPr sz="1765" spc="-35" dirty="0"/>
              <a:t> </a:t>
            </a:r>
            <a:r>
              <a:rPr sz="1765" dirty="0"/>
              <a:t>in</a:t>
            </a:r>
            <a:r>
              <a:rPr sz="1765" spc="-22" dirty="0"/>
              <a:t> </a:t>
            </a:r>
            <a:r>
              <a:rPr sz="1765" dirty="0"/>
              <a:t>a</a:t>
            </a:r>
            <a:r>
              <a:rPr sz="1765" spc="-18" dirty="0"/>
              <a:t> </a:t>
            </a:r>
            <a:r>
              <a:rPr sz="1765" dirty="0"/>
              <a:t>quantifiable</a:t>
            </a:r>
            <a:r>
              <a:rPr sz="1765" spc="-53" dirty="0"/>
              <a:t> </a:t>
            </a:r>
            <a:r>
              <a:rPr sz="1765" spc="-9" dirty="0"/>
              <a:t>manner.</a:t>
            </a:r>
            <a:endParaRPr sz="1765" dirty="0">
              <a:latin typeface="Calibri"/>
              <a:cs typeface="Calibri"/>
            </a:endParaRPr>
          </a:p>
          <a:p>
            <a:pPr marL="437612" indent="-426406">
              <a:buAutoNum type="arabicPeriod" startAt="2"/>
              <a:tabLst>
                <a:tab pos="437612" algn="l"/>
              </a:tabLst>
            </a:pPr>
            <a:r>
              <a:rPr sz="1765" dirty="0"/>
              <a:t>Specifying</a:t>
            </a:r>
            <a:r>
              <a:rPr sz="1765" spc="-49" dirty="0"/>
              <a:t> </a:t>
            </a:r>
            <a:r>
              <a:rPr sz="1765" dirty="0"/>
              <a:t>the</a:t>
            </a:r>
            <a:r>
              <a:rPr sz="1765" spc="-26" dirty="0"/>
              <a:t> </a:t>
            </a:r>
            <a:r>
              <a:rPr sz="1765" dirty="0"/>
              <a:t>objectives</a:t>
            </a:r>
            <a:r>
              <a:rPr sz="1765" spc="-35" dirty="0"/>
              <a:t> </a:t>
            </a:r>
            <a:r>
              <a:rPr sz="1765" dirty="0"/>
              <a:t>of</a:t>
            </a:r>
            <a:r>
              <a:rPr sz="1765" spc="-35" dirty="0"/>
              <a:t> </a:t>
            </a:r>
            <a:r>
              <a:rPr sz="1765" dirty="0"/>
              <a:t>testing</a:t>
            </a:r>
            <a:r>
              <a:rPr sz="1765" spc="-44" dirty="0"/>
              <a:t> </a:t>
            </a:r>
            <a:r>
              <a:rPr sz="1765" dirty="0"/>
              <a:t>in</a:t>
            </a:r>
            <a:r>
              <a:rPr sz="1765" spc="-31" dirty="0"/>
              <a:t> </a:t>
            </a:r>
            <a:r>
              <a:rPr sz="1765" dirty="0"/>
              <a:t>a</a:t>
            </a:r>
            <a:r>
              <a:rPr sz="1765" spc="-49" dirty="0"/>
              <a:t> </a:t>
            </a:r>
            <a:r>
              <a:rPr sz="1765" dirty="0"/>
              <a:t>clear</a:t>
            </a:r>
            <a:r>
              <a:rPr sz="1765" spc="-31" dirty="0"/>
              <a:t> </a:t>
            </a:r>
            <a:r>
              <a:rPr sz="1765" dirty="0"/>
              <a:t>and</a:t>
            </a:r>
            <a:r>
              <a:rPr sz="1765" spc="-31" dirty="0"/>
              <a:t> </a:t>
            </a:r>
            <a:r>
              <a:rPr sz="1765" dirty="0"/>
              <a:t>detailed</a:t>
            </a:r>
            <a:r>
              <a:rPr sz="1765" spc="-35" dirty="0"/>
              <a:t> </a:t>
            </a:r>
            <a:r>
              <a:rPr sz="1765" spc="-9" dirty="0"/>
              <a:t>manner.</a:t>
            </a:r>
            <a:endParaRPr lang="en-IN" sz="1765" spc="-9" dirty="0"/>
          </a:p>
          <a:p>
            <a:pPr marL="437612" indent="-426406">
              <a:buAutoNum type="arabicPeriod" startAt="2"/>
              <a:tabLst>
                <a:tab pos="437612" algn="l"/>
              </a:tabLst>
            </a:pPr>
            <a:endParaRPr lang="en-IN" sz="1765" spc="-9" dirty="0"/>
          </a:p>
          <a:p>
            <a:pPr marL="414079" marR="590581" indent="-403433">
              <a:spcBef>
                <a:spcPts val="93"/>
              </a:spcBef>
              <a:buAutoNum type="arabicPeriod" startAt="3"/>
              <a:tabLst>
                <a:tab pos="414079" algn="l"/>
                <a:tab pos="415199" algn="l"/>
              </a:tabLst>
            </a:pPr>
            <a:r>
              <a:rPr lang="en-US" sz="1765" b="1" dirty="0">
                <a:latin typeface="Calibri"/>
                <a:cs typeface="Calibri"/>
              </a:rPr>
              <a:t>	For</a:t>
            </a:r>
            <a:r>
              <a:rPr lang="en-US" sz="1765" b="1" spc="-53" dirty="0">
                <a:latin typeface="Calibri"/>
                <a:cs typeface="Calibri"/>
              </a:rPr>
              <a:t> </a:t>
            </a:r>
            <a:r>
              <a:rPr lang="en-US" sz="1765" b="1" dirty="0">
                <a:latin typeface="Calibri"/>
                <a:cs typeface="Calibri"/>
              </a:rPr>
              <a:t>the</a:t>
            </a:r>
            <a:r>
              <a:rPr lang="en-US" sz="1765" b="1" spc="-44" dirty="0">
                <a:latin typeface="Calibri"/>
                <a:cs typeface="Calibri"/>
              </a:rPr>
              <a:t> </a:t>
            </a:r>
            <a:r>
              <a:rPr lang="en-US" sz="1765" b="1" spc="-9" dirty="0">
                <a:latin typeface="Calibri"/>
                <a:cs typeface="Calibri"/>
              </a:rPr>
              <a:t>software,</a:t>
            </a:r>
            <a:r>
              <a:rPr lang="en-US" sz="1765" b="1" spc="-35" dirty="0">
                <a:latin typeface="Calibri"/>
                <a:cs typeface="Calibri"/>
              </a:rPr>
              <a:t> </a:t>
            </a:r>
            <a:r>
              <a:rPr lang="en-US" sz="1765" b="1" dirty="0">
                <a:latin typeface="Calibri"/>
                <a:cs typeface="Calibri"/>
              </a:rPr>
              <a:t>identifying</a:t>
            </a:r>
            <a:r>
              <a:rPr lang="en-US" sz="1765" b="1" spc="-44" dirty="0">
                <a:latin typeface="Calibri"/>
                <a:cs typeface="Calibri"/>
              </a:rPr>
              <a:t> </a:t>
            </a:r>
            <a:r>
              <a:rPr lang="en-US" sz="1765" b="1" dirty="0">
                <a:latin typeface="Calibri"/>
                <a:cs typeface="Calibri"/>
              </a:rPr>
              <a:t>the</a:t>
            </a:r>
            <a:r>
              <a:rPr lang="en-US" sz="1765" b="1" spc="-44" dirty="0">
                <a:latin typeface="Calibri"/>
                <a:cs typeface="Calibri"/>
              </a:rPr>
              <a:t> </a:t>
            </a:r>
            <a:r>
              <a:rPr lang="en-US" sz="1765" b="1" dirty="0">
                <a:latin typeface="Calibri"/>
                <a:cs typeface="Calibri"/>
              </a:rPr>
              <a:t>user’s</a:t>
            </a:r>
            <a:r>
              <a:rPr lang="en-US" sz="1765" b="1" spc="-53" dirty="0">
                <a:latin typeface="Calibri"/>
                <a:cs typeface="Calibri"/>
              </a:rPr>
              <a:t> </a:t>
            </a:r>
            <a:r>
              <a:rPr lang="en-US" sz="1765" b="1" spc="-9" dirty="0">
                <a:latin typeface="Calibri"/>
                <a:cs typeface="Calibri"/>
              </a:rPr>
              <a:t>category</a:t>
            </a:r>
            <a:r>
              <a:rPr lang="en-US" sz="1765" b="1" spc="-31" dirty="0">
                <a:latin typeface="Calibri"/>
                <a:cs typeface="Calibri"/>
              </a:rPr>
              <a:t> </a:t>
            </a:r>
            <a:r>
              <a:rPr lang="en-US" sz="1765" b="1" dirty="0">
                <a:latin typeface="Calibri"/>
                <a:cs typeface="Calibri"/>
              </a:rPr>
              <a:t>and</a:t>
            </a:r>
            <a:r>
              <a:rPr lang="en-US" sz="1765" b="1" spc="-31" dirty="0">
                <a:latin typeface="Calibri"/>
                <a:cs typeface="Calibri"/>
              </a:rPr>
              <a:t> </a:t>
            </a:r>
            <a:r>
              <a:rPr lang="en-US" sz="1765" b="1" dirty="0">
                <a:latin typeface="Calibri"/>
                <a:cs typeface="Calibri"/>
              </a:rPr>
              <a:t>developing</a:t>
            </a:r>
            <a:r>
              <a:rPr lang="en-US" sz="1765" b="1" spc="-31" dirty="0">
                <a:latin typeface="Calibri"/>
                <a:cs typeface="Calibri"/>
              </a:rPr>
              <a:t> </a:t>
            </a:r>
            <a:r>
              <a:rPr lang="en-US" sz="1765" b="1" spc="-44" dirty="0">
                <a:latin typeface="Calibri"/>
                <a:cs typeface="Calibri"/>
              </a:rPr>
              <a:t>a </a:t>
            </a:r>
            <a:r>
              <a:rPr lang="en-US" sz="1765" b="1" dirty="0">
                <a:latin typeface="Calibri"/>
                <a:cs typeface="Calibri"/>
              </a:rPr>
              <a:t>profile</a:t>
            </a:r>
            <a:r>
              <a:rPr lang="en-US" sz="1765" b="1" spc="-57" dirty="0">
                <a:latin typeface="Calibri"/>
                <a:cs typeface="Calibri"/>
              </a:rPr>
              <a:t> </a:t>
            </a:r>
            <a:r>
              <a:rPr lang="en-US" sz="1765" b="1" dirty="0">
                <a:latin typeface="Calibri"/>
                <a:cs typeface="Calibri"/>
              </a:rPr>
              <a:t>for</a:t>
            </a:r>
            <a:r>
              <a:rPr lang="en-US" sz="1765" b="1" spc="-49" dirty="0">
                <a:latin typeface="Calibri"/>
                <a:cs typeface="Calibri"/>
              </a:rPr>
              <a:t> </a:t>
            </a:r>
            <a:r>
              <a:rPr lang="en-US" sz="1765" b="1" dirty="0">
                <a:latin typeface="Calibri"/>
                <a:cs typeface="Calibri"/>
              </a:rPr>
              <a:t>each</a:t>
            </a:r>
            <a:r>
              <a:rPr lang="en-US" sz="1765" b="1" spc="-44" dirty="0">
                <a:latin typeface="Calibri"/>
                <a:cs typeface="Calibri"/>
              </a:rPr>
              <a:t> </a:t>
            </a:r>
            <a:r>
              <a:rPr lang="en-US" sz="1765" b="1" spc="-18" dirty="0">
                <a:latin typeface="Calibri"/>
                <a:cs typeface="Calibri"/>
              </a:rPr>
              <a:t>user.</a:t>
            </a:r>
            <a:endParaRPr lang="en-US" sz="1765" dirty="0">
              <a:latin typeface="Calibri"/>
              <a:cs typeface="Calibri"/>
            </a:endParaRPr>
          </a:p>
          <a:p>
            <a:pPr>
              <a:spcBef>
                <a:spcPts val="807"/>
              </a:spcBef>
            </a:pPr>
            <a:endParaRPr lang="en-US" sz="1765" dirty="0">
              <a:latin typeface="Calibri"/>
              <a:cs typeface="Calibri"/>
            </a:endParaRPr>
          </a:p>
          <a:p>
            <a:pPr marL="413519" indent="-402313" algn="just">
              <a:buAutoNum type="arabicPeriod" startAt="4"/>
              <a:tabLst>
                <a:tab pos="413519" algn="l"/>
              </a:tabLst>
            </a:pPr>
            <a:r>
              <a:rPr lang="en-US" sz="1765" b="1" dirty="0">
                <a:latin typeface="Calibri"/>
                <a:cs typeface="Calibri"/>
              </a:rPr>
              <a:t>Developing</a:t>
            </a:r>
            <a:r>
              <a:rPr lang="en-US" sz="1765" b="1" spc="-31" dirty="0">
                <a:latin typeface="Calibri"/>
                <a:cs typeface="Calibri"/>
              </a:rPr>
              <a:t> </a:t>
            </a:r>
            <a:r>
              <a:rPr lang="en-US" sz="1765" b="1" dirty="0">
                <a:latin typeface="Calibri"/>
                <a:cs typeface="Calibri"/>
              </a:rPr>
              <a:t>a</a:t>
            </a:r>
            <a:r>
              <a:rPr lang="en-US" sz="1765" b="1" spc="-31" dirty="0">
                <a:latin typeface="Calibri"/>
                <a:cs typeface="Calibri"/>
              </a:rPr>
              <a:t> </a:t>
            </a:r>
            <a:r>
              <a:rPr lang="en-US" sz="1765" b="1" dirty="0">
                <a:latin typeface="Calibri"/>
                <a:cs typeface="Calibri"/>
              </a:rPr>
              <a:t>test</a:t>
            </a:r>
            <a:r>
              <a:rPr lang="en-US" sz="1765" b="1" spc="-31" dirty="0">
                <a:latin typeface="Calibri"/>
                <a:cs typeface="Calibri"/>
              </a:rPr>
              <a:t> </a:t>
            </a:r>
            <a:r>
              <a:rPr lang="en-US" sz="1765" b="1" dirty="0">
                <a:latin typeface="Calibri"/>
                <a:cs typeface="Calibri"/>
              </a:rPr>
              <a:t>plan</a:t>
            </a:r>
            <a:r>
              <a:rPr lang="en-US" sz="1765" b="1" spc="-35" dirty="0">
                <a:latin typeface="Calibri"/>
                <a:cs typeface="Calibri"/>
              </a:rPr>
              <a:t> </a:t>
            </a:r>
            <a:r>
              <a:rPr lang="en-US" sz="1765" b="1" dirty="0">
                <a:latin typeface="Calibri"/>
                <a:cs typeface="Calibri"/>
              </a:rPr>
              <a:t>to</a:t>
            </a:r>
            <a:r>
              <a:rPr lang="en-US" sz="1765" b="1" spc="-35" dirty="0">
                <a:latin typeface="Calibri"/>
                <a:cs typeface="Calibri"/>
              </a:rPr>
              <a:t> </a:t>
            </a:r>
            <a:r>
              <a:rPr lang="en-US" sz="1765" b="1" dirty="0">
                <a:latin typeface="Calibri"/>
                <a:cs typeface="Calibri"/>
              </a:rPr>
              <a:t>give</a:t>
            </a:r>
            <a:r>
              <a:rPr lang="en-US" sz="1765" b="1" spc="-26" dirty="0">
                <a:latin typeface="Calibri"/>
                <a:cs typeface="Calibri"/>
              </a:rPr>
              <a:t> </a:t>
            </a:r>
            <a:r>
              <a:rPr lang="en-US" sz="1765" b="1" dirty="0">
                <a:latin typeface="Calibri"/>
                <a:cs typeface="Calibri"/>
              </a:rPr>
              <a:t>value</a:t>
            </a:r>
            <a:r>
              <a:rPr lang="en-US" sz="1765" b="1" spc="-49" dirty="0">
                <a:latin typeface="Calibri"/>
                <a:cs typeface="Calibri"/>
              </a:rPr>
              <a:t> </a:t>
            </a:r>
            <a:r>
              <a:rPr lang="en-US" sz="1765" b="1" dirty="0">
                <a:latin typeface="Calibri"/>
                <a:cs typeface="Calibri"/>
              </a:rPr>
              <a:t>and</a:t>
            </a:r>
            <a:r>
              <a:rPr lang="en-US" sz="1765" b="1" spc="-31" dirty="0">
                <a:latin typeface="Calibri"/>
                <a:cs typeface="Calibri"/>
              </a:rPr>
              <a:t> </a:t>
            </a:r>
            <a:r>
              <a:rPr lang="en-US" sz="1765" b="1" dirty="0">
                <a:latin typeface="Calibri"/>
                <a:cs typeface="Calibri"/>
              </a:rPr>
              <a:t>focus</a:t>
            </a:r>
            <a:r>
              <a:rPr lang="en-US" sz="1765" b="1" spc="-40" dirty="0">
                <a:latin typeface="Calibri"/>
                <a:cs typeface="Calibri"/>
              </a:rPr>
              <a:t> </a:t>
            </a:r>
            <a:r>
              <a:rPr lang="en-US" sz="1765" b="1" dirty="0">
                <a:latin typeface="Calibri"/>
                <a:cs typeface="Calibri"/>
              </a:rPr>
              <a:t>on</a:t>
            </a:r>
            <a:r>
              <a:rPr lang="en-US" sz="1765" b="1" spc="-49" dirty="0">
                <a:latin typeface="Calibri"/>
                <a:cs typeface="Calibri"/>
              </a:rPr>
              <a:t> </a:t>
            </a:r>
            <a:r>
              <a:rPr lang="en-US" sz="1765" b="1" spc="-18" dirty="0">
                <a:latin typeface="Calibri"/>
                <a:cs typeface="Calibri"/>
              </a:rPr>
              <a:t>rapid-</a:t>
            </a:r>
            <a:r>
              <a:rPr lang="en-US" sz="1765" b="1" dirty="0">
                <a:latin typeface="Calibri"/>
                <a:cs typeface="Calibri"/>
              </a:rPr>
              <a:t>cycle</a:t>
            </a:r>
            <a:r>
              <a:rPr lang="en-US" sz="1765" b="1" spc="-44" dirty="0">
                <a:latin typeface="Calibri"/>
                <a:cs typeface="Calibri"/>
              </a:rPr>
              <a:t> </a:t>
            </a:r>
            <a:r>
              <a:rPr lang="en-US" sz="1765" b="1" spc="-9" dirty="0">
                <a:latin typeface="Calibri"/>
                <a:cs typeface="Calibri"/>
              </a:rPr>
              <a:t>testing.</a:t>
            </a:r>
            <a:endParaRPr lang="en-US" sz="1765" dirty="0">
              <a:latin typeface="Calibri"/>
              <a:cs typeface="Calibri"/>
            </a:endParaRPr>
          </a:p>
          <a:p>
            <a:pPr marL="437612" indent="-426406">
              <a:buAutoNum type="arabicPeriod" startAt="2"/>
              <a:tabLst>
                <a:tab pos="437612" algn="l"/>
              </a:tabLst>
            </a:pPr>
            <a:endParaRPr lang="en-IN" sz="1765" spc="-9" dirty="0"/>
          </a:p>
          <a:p>
            <a:pPr marL="437612" indent="-426406">
              <a:buAutoNum type="arabicPeriod" startAt="2"/>
              <a:tabLst>
                <a:tab pos="437612" algn="l"/>
              </a:tabLst>
            </a:pPr>
            <a:endParaRPr sz="176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882" y="429624"/>
            <a:ext cx="6435205" cy="633937"/>
          </a:xfrm>
          <a:prstGeom prst="rect">
            <a:avLst/>
          </a:prstGeom>
        </p:spPr>
        <p:txBody>
          <a:bodyPr spcFirstLastPara="1" vert="horz" wrap="square" lIns="0" tIns="249346" rIns="0" bIns="0" rtlCol="0" anchor="ctr" anchorCtr="0">
            <a:spAutoFit/>
          </a:bodyPr>
          <a:lstStyle/>
          <a:p>
            <a:pPr marL="382141">
              <a:spcBef>
                <a:spcPts val="88"/>
              </a:spcBef>
            </a:pPr>
            <a:r>
              <a:rPr dirty="0"/>
              <a:t>Software</a:t>
            </a:r>
            <a:r>
              <a:rPr spc="-146" dirty="0"/>
              <a:t> </a:t>
            </a:r>
            <a:r>
              <a:rPr spc="-35" dirty="0"/>
              <a:t>Testing</a:t>
            </a:r>
            <a:r>
              <a:rPr spc="-180" dirty="0"/>
              <a:t> </a:t>
            </a:r>
            <a:r>
              <a:rPr spc="-9" dirty="0"/>
              <a:t>Strategies</a:t>
            </a:r>
          </a:p>
        </p:txBody>
      </p:sp>
      <p:sp>
        <p:nvSpPr>
          <p:cNvPr id="3" name="object 3"/>
          <p:cNvSpPr txBox="1"/>
          <p:nvPr/>
        </p:nvSpPr>
        <p:spPr>
          <a:xfrm>
            <a:off x="1010782" y="1776506"/>
            <a:ext cx="7047940" cy="879902"/>
          </a:xfrm>
          <a:prstGeom prst="rect">
            <a:avLst/>
          </a:prstGeom>
        </p:spPr>
        <p:txBody>
          <a:bodyPr vert="horz" wrap="square" lIns="0" tIns="64434" rIns="0" bIns="0" rtlCol="0">
            <a:spAutoFit/>
          </a:bodyPr>
          <a:lstStyle/>
          <a:p>
            <a:pPr marL="415199" indent="-403993">
              <a:spcBef>
                <a:spcPts val="507"/>
              </a:spcBef>
              <a:buAutoNum type="arabicPeriod" startAt="5"/>
              <a:tabLst>
                <a:tab pos="415199" algn="l"/>
              </a:tabLst>
            </a:pPr>
            <a:r>
              <a:rPr sz="1765" b="1" dirty="0">
                <a:latin typeface="Calibri"/>
                <a:cs typeface="Calibri"/>
              </a:rPr>
              <a:t>Robust</a:t>
            </a:r>
            <a:r>
              <a:rPr sz="1765" b="1" spc="-79" dirty="0">
                <a:latin typeface="Calibri"/>
                <a:cs typeface="Calibri"/>
              </a:rPr>
              <a:t> </a:t>
            </a:r>
            <a:r>
              <a:rPr sz="1765" b="1" dirty="0">
                <a:latin typeface="Calibri"/>
                <a:cs typeface="Calibri"/>
              </a:rPr>
              <a:t>software</a:t>
            </a:r>
            <a:r>
              <a:rPr sz="1765" b="1" spc="-40" dirty="0">
                <a:latin typeface="Calibri"/>
                <a:cs typeface="Calibri"/>
              </a:rPr>
              <a:t> </a:t>
            </a:r>
            <a:r>
              <a:rPr sz="1765" b="1" dirty="0">
                <a:latin typeface="Calibri"/>
                <a:cs typeface="Calibri"/>
              </a:rPr>
              <a:t>is</a:t>
            </a:r>
            <a:r>
              <a:rPr sz="1765" b="1" spc="-62" dirty="0">
                <a:latin typeface="Calibri"/>
                <a:cs typeface="Calibri"/>
              </a:rPr>
              <a:t> </a:t>
            </a:r>
            <a:r>
              <a:rPr sz="1765" b="1" dirty="0">
                <a:latin typeface="Calibri"/>
                <a:cs typeface="Calibri"/>
              </a:rPr>
              <a:t>developed</a:t>
            </a:r>
            <a:r>
              <a:rPr sz="1765" b="1" spc="-26" dirty="0">
                <a:latin typeface="Calibri"/>
                <a:cs typeface="Calibri"/>
              </a:rPr>
              <a:t> </a:t>
            </a:r>
            <a:r>
              <a:rPr sz="1765" b="1" dirty="0">
                <a:latin typeface="Calibri"/>
                <a:cs typeface="Calibri"/>
              </a:rPr>
              <a:t>that</a:t>
            </a:r>
            <a:r>
              <a:rPr sz="1765" b="1" spc="-44" dirty="0">
                <a:latin typeface="Calibri"/>
                <a:cs typeface="Calibri"/>
              </a:rPr>
              <a:t> </a:t>
            </a:r>
            <a:r>
              <a:rPr sz="1765" b="1" dirty="0">
                <a:latin typeface="Calibri"/>
                <a:cs typeface="Calibri"/>
              </a:rPr>
              <a:t>is</a:t>
            </a:r>
            <a:r>
              <a:rPr sz="1765" b="1" spc="-49" dirty="0">
                <a:latin typeface="Calibri"/>
                <a:cs typeface="Calibri"/>
              </a:rPr>
              <a:t> </a:t>
            </a:r>
            <a:r>
              <a:rPr sz="1765" b="1" dirty="0">
                <a:latin typeface="Calibri"/>
                <a:cs typeface="Calibri"/>
              </a:rPr>
              <a:t>designed</a:t>
            </a:r>
            <a:r>
              <a:rPr sz="1765" b="1" spc="-44" dirty="0">
                <a:latin typeface="Calibri"/>
                <a:cs typeface="Calibri"/>
              </a:rPr>
              <a:t> </a:t>
            </a:r>
            <a:r>
              <a:rPr sz="1765" b="1" dirty="0">
                <a:latin typeface="Calibri"/>
                <a:cs typeface="Calibri"/>
              </a:rPr>
              <a:t>to</a:t>
            </a:r>
            <a:r>
              <a:rPr sz="1765" b="1" spc="-49" dirty="0">
                <a:latin typeface="Calibri"/>
                <a:cs typeface="Calibri"/>
              </a:rPr>
              <a:t> </a:t>
            </a:r>
            <a:r>
              <a:rPr sz="1765" b="1" dirty="0">
                <a:latin typeface="Calibri"/>
                <a:cs typeface="Calibri"/>
              </a:rPr>
              <a:t>test</a:t>
            </a:r>
            <a:r>
              <a:rPr sz="1765" b="1" spc="-57" dirty="0">
                <a:latin typeface="Calibri"/>
                <a:cs typeface="Calibri"/>
              </a:rPr>
              <a:t> </a:t>
            </a:r>
            <a:r>
              <a:rPr sz="1765" b="1" spc="-9" dirty="0">
                <a:latin typeface="Calibri"/>
                <a:cs typeface="Calibri"/>
              </a:rPr>
              <a:t>itself.</a:t>
            </a:r>
            <a:endParaRPr sz="1765" dirty="0">
              <a:latin typeface="Calibri"/>
              <a:cs typeface="Calibri"/>
            </a:endParaRPr>
          </a:p>
          <a:p>
            <a:pPr marL="415199" indent="-403993">
              <a:buAutoNum type="arabicPeriod" startAt="6"/>
              <a:tabLst>
                <a:tab pos="415199" algn="l"/>
              </a:tabLst>
            </a:pPr>
            <a:endParaRPr lang="en-IN" sz="1765" b="1" spc="-9" dirty="0">
              <a:latin typeface="Calibri"/>
              <a:cs typeface="Calibri"/>
            </a:endParaRPr>
          </a:p>
          <a:p>
            <a:pPr marL="415199" indent="-403993">
              <a:buAutoNum type="arabicPeriod" startAt="6"/>
              <a:tabLst>
                <a:tab pos="415199" algn="l"/>
              </a:tabLst>
            </a:pPr>
            <a:r>
              <a:rPr sz="1765" b="1" spc="-9" dirty="0">
                <a:latin typeface="Calibri"/>
                <a:cs typeface="Calibri"/>
              </a:rPr>
              <a:t>Before</a:t>
            </a:r>
            <a:r>
              <a:rPr sz="1765" b="1" spc="-40" dirty="0">
                <a:latin typeface="Calibri"/>
                <a:cs typeface="Calibri"/>
              </a:rPr>
              <a:t> </a:t>
            </a:r>
            <a:r>
              <a:rPr sz="1765" b="1" dirty="0">
                <a:latin typeface="Calibri"/>
                <a:cs typeface="Calibri"/>
              </a:rPr>
              <a:t>testing,</a:t>
            </a:r>
            <a:r>
              <a:rPr sz="1765" b="1" spc="-57" dirty="0">
                <a:latin typeface="Calibri"/>
                <a:cs typeface="Calibri"/>
              </a:rPr>
              <a:t> </a:t>
            </a:r>
            <a:r>
              <a:rPr sz="1765" b="1" dirty="0">
                <a:latin typeface="Calibri"/>
                <a:cs typeface="Calibri"/>
              </a:rPr>
              <a:t>using</a:t>
            </a:r>
            <a:r>
              <a:rPr sz="1765" b="1" spc="-53" dirty="0">
                <a:latin typeface="Calibri"/>
                <a:cs typeface="Calibri"/>
              </a:rPr>
              <a:t> </a:t>
            </a:r>
            <a:r>
              <a:rPr sz="1765" b="1" spc="-9" dirty="0">
                <a:latin typeface="Calibri"/>
                <a:cs typeface="Calibri"/>
              </a:rPr>
              <a:t>effective</a:t>
            </a:r>
            <a:r>
              <a:rPr sz="1765" b="1" spc="-35" dirty="0">
                <a:latin typeface="Calibri"/>
                <a:cs typeface="Calibri"/>
              </a:rPr>
              <a:t> </a:t>
            </a:r>
            <a:r>
              <a:rPr sz="1765" b="1" dirty="0">
                <a:latin typeface="Calibri"/>
                <a:cs typeface="Calibri"/>
              </a:rPr>
              <a:t>formal</a:t>
            </a:r>
            <a:r>
              <a:rPr sz="1765" b="1" spc="-26" dirty="0">
                <a:latin typeface="Calibri"/>
                <a:cs typeface="Calibri"/>
              </a:rPr>
              <a:t> </a:t>
            </a:r>
            <a:r>
              <a:rPr sz="1765" b="1" spc="-9" dirty="0">
                <a:latin typeface="Calibri"/>
                <a:cs typeface="Calibri"/>
              </a:rPr>
              <a:t>reviews</a:t>
            </a:r>
            <a:r>
              <a:rPr sz="1765" b="1" spc="-26" dirty="0">
                <a:latin typeface="Calibri"/>
                <a:cs typeface="Calibri"/>
              </a:rPr>
              <a:t> </a:t>
            </a:r>
            <a:r>
              <a:rPr sz="1765" b="1" dirty="0">
                <a:latin typeface="Calibri"/>
                <a:cs typeface="Calibri"/>
              </a:rPr>
              <a:t>as</a:t>
            </a:r>
            <a:r>
              <a:rPr sz="1765" b="1" spc="-31" dirty="0">
                <a:latin typeface="Calibri"/>
                <a:cs typeface="Calibri"/>
              </a:rPr>
              <a:t> </a:t>
            </a:r>
            <a:r>
              <a:rPr sz="1765" b="1" dirty="0">
                <a:latin typeface="Calibri"/>
                <a:cs typeface="Calibri"/>
              </a:rPr>
              <a:t>a</a:t>
            </a:r>
            <a:r>
              <a:rPr sz="1765" b="1" spc="-49" dirty="0">
                <a:latin typeface="Calibri"/>
                <a:cs typeface="Calibri"/>
              </a:rPr>
              <a:t> </a:t>
            </a:r>
            <a:r>
              <a:rPr sz="1765" b="1" spc="-9" dirty="0">
                <a:latin typeface="Calibri"/>
                <a:cs typeface="Calibri"/>
              </a:rPr>
              <a:t>filter.</a:t>
            </a:r>
            <a:endParaRPr sz="1765" dirty="0">
              <a:latin typeface="Calibri"/>
              <a:cs typeface="Calibri"/>
            </a:endParaRPr>
          </a:p>
        </p:txBody>
      </p:sp>
      <p:sp>
        <p:nvSpPr>
          <p:cNvPr id="4" name="object 3"/>
          <p:cNvSpPr txBox="1"/>
          <p:nvPr/>
        </p:nvSpPr>
        <p:spPr>
          <a:xfrm>
            <a:off x="941956" y="3206247"/>
            <a:ext cx="6893859" cy="1472537"/>
          </a:xfrm>
          <a:prstGeom prst="rect">
            <a:avLst/>
          </a:prstGeom>
        </p:spPr>
        <p:txBody>
          <a:bodyPr vert="horz" wrap="square" lIns="0" tIns="11766" rIns="0" bIns="0" rtlCol="0">
            <a:spAutoFit/>
          </a:bodyPr>
          <a:lstStyle/>
          <a:p>
            <a:pPr marL="414079" marR="253827" indent="-403433">
              <a:spcBef>
                <a:spcPts val="93"/>
              </a:spcBef>
              <a:buAutoNum type="arabicPeriod" startAt="7"/>
              <a:tabLst>
                <a:tab pos="414079" algn="l"/>
                <a:tab pos="415199" algn="l"/>
              </a:tabLst>
            </a:pPr>
            <a:r>
              <a:rPr sz="1765" b="1" dirty="0">
                <a:latin typeface="Calibri"/>
                <a:cs typeface="Calibri"/>
              </a:rPr>
              <a:t>	Conduct</a:t>
            </a:r>
            <a:r>
              <a:rPr sz="1765" b="1" spc="-62" dirty="0">
                <a:latin typeface="Calibri"/>
                <a:cs typeface="Calibri"/>
              </a:rPr>
              <a:t> </a:t>
            </a:r>
            <a:r>
              <a:rPr sz="1765" b="1" dirty="0">
                <a:latin typeface="Calibri"/>
                <a:cs typeface="Calibri"/>
              </a:rPr>
              <a:t>formal</a:t>
            </a:r>
            <a:r>
              <a:rPr sz="1765" b="1" spc="-31" dirty="0">
                <a:latin typeface="Calibri"/>
                <a:cs typeface="Calibri"/>
              </a:rPr>
              <a:t> </a:t>
            </a:r>
            <a:r>
              <a:rPr sz="1765" b="1" dirty="0">
                <a:latin typeface="Calibri"/>
                <a:cs typeface="Calibri"/>
              </a:rPr>
              <a:t>technical</a:t>
            </a:r>
            <a:r>
              <a:rPr sz="1765" b="1" spc="-62" dirty="0">
                <a:latin typeface="Calibri"/>
                <a:cs typeface="Calibri"/>
              </a:rPr>
              <a:t> </a:t>
            </a:r>
            <a:r>
              <a:rPr sz="1765" b="1" spc="-9" dirty="0">
                <a:latin typeface="Calibri"/>
                <a:cs typeface="Calibri"/>
              </a:rPr>
              <a:t>reviews</a:t>
            </a:r>
            <a:r>
              <a:rPr sz="1765" b="1" spc="-31" dirty="0">
                <a:latin typeface="Calibri"/>
                <a:cs typeface="Calibri"/>
              </a:rPr>
              <a:t> </a:t>
            </a:r>
            <a:r>
              <a:rPr sz="1765" b="1" dirty="0">
                <a:latin typeface="Calibri"/>
                <a:cs typeface="Calibri"/>
              </a:rPr>
              <a:t>to</a:t>
            </a:r>
            <a:r>
              <a:rPr sz="1765" b="1" spc="-49" dirty="0">
                <a:latin typeface="Calibri"/>
                <a:cs typeface="Calibri"/>
              </a:rPr>
              <a:t> </a:t>
            </a:r>
            <a:r>
              <a:rPr sz="1765" b="1" spc="-9" dirty="0">
                <a:latin typeface="Calibri"/>
                <a:cs typeface="Calibri"/>
              </a:rPr>
              <a:t>evaluate</a:t>
            </a:r>
            <a:r>
              <a:rPr sz="1765" b="1" spc="-44" dirty="0">
                <a:latin typeface="Calibri"/>
                <a:cs typeface="Calibri"/>
              </a:rPr>
              <a:t> </a:t>
            </a:r>
            <a:r>
              <a:rPr sz="1765" b="1" dirty="0">
                <a:latin typeface="Calibri"/>
                <a:cs typeface="Calibri"/>
              </a:rPr>
              <a:t>the</a:t>
            </a:r>
            <a:r>
              <a:rPr sz="1765" b="1" spc="-40" dirty="0">
                <a:latin typeface="Calibri"/>
                <a:cs typeface="Calibri"/>
              </a:rPr>
              <a:t> </a:t>
            </a:r>
            <a:r>
              <a:rPr sz="1765" b="1" dirty="0">
                <a:latin typeface="Calibri"/>
                <a:cs typeface="Calibri"/>
              </a:rPr>
              <a:t>nature,</a:t>
            </a:r>
            <a:r>
              <a:rPr sz="1765" b="1" spc="-49" dirty="0">
                <a:latin typeface="Calibri"/>
                <a:cs typeface="Calibri"/>
              </a:rPr>
              <a:t> </a:t>
            </a:r>
            <a:r>
              <a:rPr sz="1765" b="1" dirty="0">
                <a:latin typeface="Calibri"/>
                <a:cs typeface="Calibri"/>
              </a:rPr>
              <a:t>quality</a:t>
            </a:r>
            <a:r>
              <a:rPr sz="1765" b="1" spc="-57" dirty="0">
                <a:latin typeface="Calibri"/>
                <a:cs typeface="Calibri"/>
              </a:rPr>
              <a:t> </a:t>
            </a:r>
            <a:r>
              <a:rPr sz="1765" b="1" spc="-22" dirty="0">
                <a:latin typeface="Calibri"/>
                <a:cs typeface="Calibri"/>
              </a:rPr>
              <a:t>or </a:t>
            </a:r>
            <a:r>
              <a:rPr sz="1765" b="1" dirty="0">
                <a:latin typeface="Calibri"/>
                <a:cs typeface="Calibri"/>
              </a:rPr>
              <a:t>ability</a:t>
            </a:r>
            <a:r>
              <a:rPr sz="1765" b="1" spc="-44" dirty="0">
                <a:latin typeface="Calibri"/>
                <a:cs typeface="Calibri"/>
              </a:rPr>
              <a:t> </a:t>
            </a:r>
            <a:r>
              <a:rPr sz="1765" b="1" dirty="0">
                <a:latin typeface="Calibri"/>
                <a:cs typeface="Calibri"/>
              </a:rPr>
              <a:t>of</a:t>
            </a:r>
            <a:r>
              <a:rPr sz="1765" b="1" spc="-31" dirty="0">
                <a:latin typeface="Calibri"/>
                <a:cs typeface="Calibri"/>
              </a:rPr>
              <a:t> </a:t>
            </a:r>
            <a:r>
              <a:rPr sz="1765" b="1" dirty="0">
                <a:latin typeface="Calibri"/>
                <a:cs typeface="Calibri"/>
              </a:rPr>
              <a:t>the</a:t>
            </a:r>
            <a:r>
              <a:rPr sz="1765" b="1" spc="-44" dirty="0">
                <a:latin typeface="Calibri"/>
                <a:cs typeface="Calibri"/>
              </a:rPr>
              <a:t> </a:t>
            </a:r>
            <a:r>
              <a:rPr sz="1765" b="1" dirty="0">
                <a:latin typeface="Calibri"/>
                <a:cs typeface="Calibri"/>
              </a:rPr>
              <a:t>test</a:t>
            </a:r>
            <a:r>
              <a:rPr sz="1765" b="1" spc="-49" dirty="0">
                <a:latin typeface="Calibri"/>
                <a:cs typeface="Calibri"/>
              </a:rPr>
              <a:t> </a:t>
            </a:r>
            <a:r>
              <a:rPr sz="1765" b="1" spc="-9" dirty="0">
                <a:latin typeface="Calibri"/>
                <a:cs typeface="Calibri"/>
              </a:rPr>
              <a:t>strategy</a:t>
            </a:r>
            <a:r>
              <a:rPr sz="1765" b="1" spc="-26" dirty="0">
                <a:latin typeface="Calibri"/>
                <a:cs typeface="Calibri"/>
              </a:rPr>
              <a:t> </a:t>
            </a:r>
            <a:r>
              <a:rPr sz="1765" b="1" dirty="0">
                <a:latin typeface="Calibri"/>
                <a:cs typeface="Calibri"/>
              </a:rPr>
              <a:t>and</a:t>
            </a:r>
            <a:r>
              <a:rPr sz="1765" b="1" spc="-31" dirty="0">
                <a:latin typeface="Calibri"/>
                <a:cs typeface="Calibri"/>
              </a:rPr>
              <a:t> </a:t>
            </a:r>
            <a:r>
              <a:rPr sz="1765" b="1" dirty="0">
                <a:latin typeface="Calibri"/>
                <a:cs typeface="Calibri"/>
              </a:rPr>
              <a:t>test</a:t>
            </a:r>
            <a:r>
              <a:rPr sz="1765" b="1" spc="-49" dirty="0">
                <a:latin typeface="Calibri"/>
                <a:cs typeface="Calibri"/>
              </a:rPr>
              <a:t> </a:t>
            </a:r>
            <a:r>
              <a:rPr sz="1765" b="1" spc="-9" dirty="0">
                <a:latin typeface="Calibri"/>
                <a:cs typeface="Calibri"/>
              </a:rPr>
              <a:t>cases.</a:t>
            </a:r>
            <a:endParaRPr sz="1765" dirty="0">
              <a:latin typeface="Calibri"/>
              <a:cs typeface="Calibri"/>
            </a:endParaRPr>
          </a:p>
          <a:p>
            <a:pPr>
              <a:spcBef>
                <a:spcPts val="807"/>
              </a:spcBef>
            </a:pPr>
            <a:endParaRPr sz="1765" dirty="0">
              <a:latin typeface="Calibri"/>
              <a:cs typeface="Calibri"/>
            </a:endParaRPr>
          </a:p>
          <a:p>
            <a:pPr marL="414079" marR="381020" indent="-403433">
              <a:buAutoNum type="arabicPeriod" startAt="8"/>
              <a:tabLst>
                <a:tab pos="414079" algn="l"/>
                <a:tab pos="415199" algn="l"/>
              </a:tabLst>
            </a:pPr>
            <a:r>
              <a:rPr sz="1765" b="1" dirty="0">
                <a:latin typeface="Calibri"/>
                <a:cs typeface="Calibri"/>
              </a:rPr>
              <a:t>	For</a:t>
            </a:r>
            <a:r>
              <a:rPr sz="1765" b="1" spc="-53" dirty="0">
                <a:latin typeface="Calibri"/>
                <a:cs typeface="Calibri"/>
              </a:rPr>
              <a:t> </a:t>
            </a:r>
            <a:r>
              <a:rPr sz="1765" b="1" dirty="0">
                <a:latin typeface="Calibri"/>
                <a:cs typeface="Calibri"/>
              </a:rPr>
              <a:t>the</a:t>
            </a:r>
            <a:r>
              <a:rPr sz="1765" b="1" spc="-49" dirty="0">
                <a:latin typeface="Calibri"/>
                <a:cs typeface="Calibri"/>
              </a:rPr>
              <a:t> </a:t>
            </a:r>
            <a:r>
              <a:rPr sz="1765" b="1" dirty="0">
                <a:latin typeface="Calibri"/>
                <a:cs typeface="Calibri"/>
              </a:rPr>
              <a:t>testing</a:t>
            </a:r>
            <a:r>
              <a:rPr sz="1765" b="1" spc="-49" dirty="0">
                <a:latin typeface="Calibri"/>
                <a:cs typeface="Calibri"/>
              </a:rPr>
              <a:t> </a:t>
            </a:r>
            <a:r>
              <a:rPr sz="1765" b="1" dirty="0">
                <a:latin typeface="Calibri"/>
                <a:cs typeface="Calibri"/>
              </a:rPr>
              <a:t>process,</a:t>
            </a:r>
            <a:r>
              <a:rPr sz="1765" b="1" spc="-57" dirty="0">
                <a:latin typeface="Calibri"/>
                <a:cs typeface="Calibri"/>
              </a:rPr>
              <a:t> </a:t>
            </a:r>
            <a:r>
              <a:rPr sz="1765" b="1" dirty="0">
                <a:latin typeface="Calibri"/>
                <a:cs typeface="Calibri"/>
              </a:rPr>
              <a:t>developing</a:t>
            </a:r>
            <a:r>
              <a:rPr sz="1765" b="1" spc="-49" dirty="0">
                <a:latin typeface="Calibri"/>
                <a:cs typeface="Calibri"/>
              </a:rPr>
              <a:t> </a:t>
            </a:r>
            <a:r>
              <a:rPr sz="1765" b="1" dirty="0">
                <a:latin typeface="Calibri"/>
                <a:cs typeface="Calibri"/>
              </a:rPr>
              <a:t>a</a:t>
            </a:r>
            <a:r>
              <a:rPr sz="1765" b="1" spc="-35" dirty="0">
                <a:latin typeface="Calibri"/>
                <a:cs typeface="Calibri"/>
              </a:rPr>
              <a:t> </a:t>
            </a:r>
            <a:r>
              <a:rPr sz="1765" b="1" dirty="0">
                <a:latin typeface="Calibri"/>
                <a:cs typeface="Calibri"/>
              </a:rPr>
              <a:t>approach</a:t>
            </a:r>
            <a:r>
              <a:rPr sz="1765" b="1" spc="-53" dirty="0">
                <a:latin typeface="Calibri"/>
                <a:cs typeface="Calibri"/>
              </a:rPr>
              <a:t> </a:t>
            </a:r>
            <a:r>
              <a:rPr sz="1765" b="1" dirty="0">
                <a:latin typeface="Calibri"/>
                <a:cs typeface="Calibri"/>
              </a:rPr>
              <a:t>for</a:t>
            </a:r>
            <a:r>
              <a:rPr sz="1765" b="1" spc="-35" dirty="0">
                <a:latin typeface="Calibri"/>
                <a:cs typeface="Calibri"/>
              </a:rPr>
              <a:t> </a:t>
            </a:r>
            <a:r>
              <a:rPr sz="1765" b="1" dirty="0">
                <a:latin typeface="Calibri"/>
                <a:cs typeface="Calibri"/>
              </a:rPr>
              <a:t>the</a:t>
            </a:r>
            <a:r>
              <a:rPr sz="1765" b="1" spc="-49" dirty="0">
                <a:latin typeface="Calibri"/>
                <a:cs typeface="Calibri"/>
              </a:rPr>
              <a:t> </a:t>
            </a:r>
            <a:r>
              <a:rPr sz="1765" b="1" spc="-9" dirty="0">
                <a:latin typeface="Calibri"/>
                <a:cs typeface="Calibri"/>
              </a:rPr>
              <a:t>continuous development.</a:t>
            </a:r>
            <a:endParaRPr sz="1765"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3" name="Picture 2">
            <a:extLst>
              <a:ext uri="{FF2B5EF4-FFF2-40B4-BE49-F238E27FC236}">
                <a16:creationId xmlns:a16="http://schemas.microsoft.com/office/drawing/2014/main" id="{CDF6617C-12D4-E849-625D-140543BDE781}"/>
              </a:ext>
            </a:extLst>
          </p:cNvPr>
          <p:cNvPicPr>
            <a:picLocks noChangeAspect="1"/>
          </p:cNvPicPr>
          <p:nvPr/>
        </p:nvPicPr>
        <p:blipFill>
          <a:blip r:embed="rId3"/>
          <a:stretch>
            <a:fillRect/>
          </a:stretch>
        </p:blipFill>
        <p:spPr>
          <a:xfrm>
            <a:off x="-141402" y="7374"/>
            <a:ext cx="9426804"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42950"/>
            <a:ext cx="8229600" cy="548640"/>
          </a:xfrm>
          <a:prstGeom prst="rect">
            <a:avLst/>
          </a:prstGeom>
          <a:noFill/>
          <a:ln/>
        </p:spPr>
        <p:txBody>
          <a:bodyPr wrap="square" rtlCol="0" anchor="ctr"/>
          <a:lstStyle/>
          <a:p>
            <a:r>
              <a:rPr lang="en-US" sz="2800" b="1" dirty="0">
                <a:solidFill>
                  <a:srgbClr val="1A2B4A"/>
                </a:solidFill>
                <a:latin typeface="Georgia" pitchFamily="34" charset="0"/>
                <a:ea typeface="Georgia" pitchFamily="34" charset="-122"/>
                <a:cs typeface="Georgia" pitchFamily="34" charset="-120"/>
              </a:rPr>
              <a:t>Overview</a:t>
            </a:r>
            <a:endParaRPr lang="en-US" sz="2800" dirty="0"/>
          </a:p>
        </p:txBody>
      </p:sp>
      <p:sp>
        <p:nvSpPr>
          <p:cNvPr id="3" name="Text 1"/>
          <p:cNvSpPr/>
          <p:nvPr/>
        </p:nvSpPr>
        <p:spPr>
          <a:xfrm>
            <a:off x="457200" y="1725930"/>
            <a:ext cx="8229600" cy="365760"/>
          </a:xfrm>
          <a:prstGeom prst="rect">
            <a:avLst/>
          </a:prstGeom>
          <a:noFill/>
          <a:ln/>
        </p:spPr>
        <p:txBody>
          <a:bodyPr wrap="square" rtlCol="0" anchor="ctr"/>
          <a:lstStyle/>
          <a:p>
            <a:r>
              <a:rPr lang="en-US" dirty="0">
                <a:solidFill>
                  <a:srgbClr val="64748B"/>
                </a:solidFill>
                <a:latin typeface="Calibri" pitchFamily="34" charset="0"/>
                <a:ea typeface="Calibri" pitchFamily="34" charset="-122"/>
                <a:cs typeface="Calibri" pitchFamily="34" charset="-120"/>
              </a:rPr>
              <a:t>Software Testing is categorized into two main branches:</a:t>
            </a:r>
            <a:endParaRPr lang="en-US" dirty="0"/>
          </a:p>
        </p:txBody>
      </p:sp>
      <p:sp>
        <p:nvSpPr>
          <p:cNvPr id="4" name="Shape 2"/>
          <p:cNvSpPr/>
          <p:nvPr/>
        </p:nvSpPr>
        <p:spPr>
          <a:xfrm>
            <a:off x="365760" y="2228850"/>
            <a:ext cx="3931920" cy="3200400"/>
          </a:xfrm>
          <a:prstGeom prst="rect">
            <a:avLst/>
          </a:prstGeom>
          <a:solidFill>
            <a:srgbClr val="1A2B4A"/>
          </a:solidFill>
          <a:ln w="12700">
            <a:solidFill>
              <a:srgbClr val="1A2B4A"/>
            </a:solidFill>
            <a:prstDash val="solid"/>
          </a:ln>
        </p:spPr>
        <p:txBody>
          <a:bodyPr/>
          <a:lstStyle/>
          <a:p>
            <a:endParaRPr lang="en-IN"/>
          </a:p>
        </p:txBody>
      </p:sp>
      <p:sp>
        <p:nvSpPr>
          <p:cNvPr id="5" name="Text 3"/>
          <p:cNvSpPr/>
          <p:nvPr/>
        </p:nvSpPr>
        <p:spPr>
          <a:xfrm>
            <a:off x="365760" y="2274570"/>
            <a:ext cx="3931920" cy="548640"/>
          </a:xfrm>
          <a:prstGeom prst="rect">
            <a:avLst/>
          </a:prstGeom>
          <a:noFill/>
          <a:ln/>
        </p:spPr>
        <p:txBody>
          <a:bodyPr wrap="square" rtlCol="0" anchor="ctr"/>
          <a:lstStyle/>
          <a:p>
            <a:pPr algn="ctr"/>
            <a:r>
              <a:rPr lang="en-US" sz="2800" b="1" dirty="0">
                <a:solidFill>
                  <a:srgbClr val="0D7377"/>
                </a:solidFill>
                <a:latin typeface="Georgia" pitchFamily="34" charset="0"/>
                <a:ea typeface="Georgia" pitchFamily="34" charset="-122"/>
                <a:cs typeface="Georgia" pitchFamily="34" charset="-120"/>
              </a:rPr>
              <a:t>01</a:t>
            </a:r>
            <a:endParaRPr lang="en-US" sz="2800" dirty="0"/>
          </a:p>
        </p:txBody>
      </p:sp>
      <p:sp>
        <p:nvSpPr>
          <p:cNvPr id="6" name="Text 4"/>
          <p:cNvSpPr/>
          <p:nvPr/>
        </p:nvSpPr>
        <p:spPr>
          <a:xfrm>
            <a:off x="365760" y="2777490"/>
            <a:ext cx="3931920" cy="457200"/>
          </a:xfrm>
          <a:prstGeom prst="rect">
            <a:avLst/>
          </a:prstGeom>
          <a:noFill/>
          <a:ln/>
        </p:spPr>
        <p:txBody>
          <a:bodyPr wrap="square" rtlCol="0" anchor="ctr"/>
          <a:lstStyle/>
          <a:p>
            <a:pPr algn="ctr"/>
            <a:r>
              <a:rPr lang="en-US" sz="2000" b="1" dirty="0">
                <a:solidFill>
                  <a:srgbClr val="FFFFFF"/>
                </a:solidFill>
                <a:latin typeface="Georgia" pitchFamily="34" charset="0"/>
                <a:ea typeface="Georgia" pitchFamily="34" charset="-122"/>
                <a:cs typeface="Georgia" pitchFamily="34" charset="-120"/>
              </a:rPr>
              <a:t>Manual Testing</a:t>
            </a:r>
            <a:endParaRPr lang="en-US" sz="2000" dirty="0"/>
          </a:p>
        </p:txBody>
      </p:sp>
      <p:sp>
        <p:nvSpPr>
          <p:cNvPr id="7" name="Text 5"/>
          <p:cNvSpPr/>
          <p:nvPr/>
        </p:nvSpPr>
        <p:spPr>
          <a:xfrm>
            <a:off x="548640" y="3371850"/>
            <a:ext cx="3566160" cy="1828800"/>
          </a:xfrm>
          <a:prstGeom prst="rect">
            <a:avLst/>
          </a:prstGeom>
          <a:noFill/>
          <a:ln/>
        </p:spPr>
        <p:txBody>
          <a:bodyPr wrap="square" rtlCol="0" anchor="ctr"/>
          <a:lstStyle/>
          <a:p>
            <a:r>
              <a:rPr lang="en-US" sz="1300" dirty="0">
                <a:solidFill>
                  <a:srgbClr val="E2EAF4"/>
                </a:solidFill>
                <a:latin typeface="Calibri" pitchFamily="34" charset="0"/>
                <a:ea typeface="Calibri" pitchFamily="34" charset="-122"/>
                <a:cs typeface="Calibri" pitchFamily="34" charset="-120"/>
              </a:rPr>
              <a:t>✓ Fast visual feedback</a:t>
            </a:r>
            <a:endParaRPr lang="en-US" sz="1300" dirty="0"/>
          </a:p>
          <a:p>
            <a:r>
              <a:rPr lang="en-US" sz="1300" dirty="0">
                <a:solidFill>
                  <a:srgbClr val="E2EAF4"/>
                </a:solidFill>
                <a:latin typeface="Calibri" pitchFamily="34" charset="0"/>
                <a:ea typeface="Calibri" pitchFamily="34" charset="-122"/>
                <a:cs typeface="Calibri" pitchFamily="34" charset="-120"/>
              </a:rPr>
              <a:t>✓ Less expensive</a:t>
            </a:r>
            <a:endParaRPr lang="en-US" sz="1300" dirty="0"/>
          </a:p>
          <a:p>
            <a:r>
              <a:rPr lang="en-US" sz="1300" dirty="0">
                <a:solidFill>
                  <a:srgbClr val="E2EAF4"/>
                </a:solidFill>
                <a:latin typeface="Calibri" pitchFamily="34" charset="0"/>
                <a:ea typeface="Calibri" pitchFamily="34" charset="-122"/>
                <a:cs typeface="Calibri" pitchFamily="34" charset="-120"/>
              </a:rPr>
              <a:t>✓ No coding required</a:t>
            </a:r>
            <a:endParaRPr lang="en-US" sz="1300" dirty="0"/>
          </a:p>
          <a:p>
            <a:r>
              <a:rPr lang="en-US" sz="1300" dirty="0">
                <a:solidFill>
                  <a:srgbClr val="E2EAF4"/>
                </a:solidFill>
                <a:latin typeface="Calibri" pitchFamily="34" charset="0"/>
                <a:ea typeface="Calibri" pitchFamily="34" charset="-122"/>
                <a:cs typeface="Calibri" pitchFamily="34" charset="-120"/>
              </a:rPr>
              <a:t>✓ Great for unplanned changes</a:t>
            </a:r>
            <a:endParaRPr lang="en-US" sz="1300" dirty="0"/>
          </a:p>
          <a:p>
            <a:r>
              <a:rPr lang="en-US" sz="1300" dirty="0">
                <a:solidFill>
                  <a:srgbClr val="E2EAF4"/>
                </a:solidFill>
                <a:latin typeface="Calibri" pitchFamily="34" charset="0"/>
                <a:ea typeface="Calibri" pitchFamily="34" charset="-122"/>
                <a:cs typeface="Calibri" pitchFamily="34" charset="-120"/>
              </a:rPr>
              <a:t>✓ Human intuition &amp; judgment</a:t>
            </a:r>
            <a:endParaRPr lang="en-US" sz="1300" dirty="0"/>
          </a:p>
        </p:txBody>
      </p:sp>
      <p:sp>
        <p:nvSpPr>
          <p:cNvPr id="8" name="Shape 6"/>
          <p:cNvSpPr/>
          <p:nvPr/>
        </p:nvSpPr>
        <p:spPr>
          <a:xfrm>
            <a:off x="4663440" y="2228850"/>
            <a:ext cx="3931920" cy="3200400"/>
          </a:xfrm>
          <a:prstGeom prst="rect">
            <a:avLst/>
          </a:prstGeom>
          <a:solidFill>
            <a:srgbClr val="0D7377"/>
          </a:solidFill>
          <a:ln w="12700">
            <a:solidFill>
              <a:srgbClr val="0D7377"/>
            </a:solidFill>
            <a:prstDash val="solid"/>
          </a:ln>
        </p:spPr>
        <p:txBody>
          <a:bodyPr/>
          <a:lstStyle/>
          <a:p>
            <a:endParaRPr lang="en-IN"/>
          </a:p>
        </p:txBody>
      </p:sp>
      <p:sp>
        <p:nvSpPr>
          <p:cNvPr id="9" name="Text 7"/>
          <p:cNvSpPr/>
          <p:nvPr/>
        </p:nvSpPr>
        <p:spPr>
          <a:xfrm>
            <a:off x="4663440" y="2274570"/>
            <a:ext cx="3931920" cy="548640"/>
          </a:xfrm>
          <a:prstGeom prst="rect">
            <a:avLst/>
          </a:prstGeom>
          <a:noFill/>
          <a:ln/>
        </p:spPr>
        <p:txBody>
          <a:bodyPr wrap="square" rtlCol="0" anchor="ctr"/>
          <a:lstStyle/>
          <a:p>
            <a:pPr algn="ctr"/>
            <a:r>
              <a:rPr lang="en-US" sz="2800" b="1" dirty="0">
                <a:solidFill>
                  <a:srgbClr val="F5A623"/>
                </a:solidFill>
                <a:latin typeface="Georgia" pitchFamily="34" charset="0"/>
                <a:ea typeface="Georgia" pitchFamily="34" charset="-122"/>
                <a:cs typeface="Georgia" pitchFamily="34" charset="-120"/>
              </a:rPr>
              <a:t>02</a:t>
            </a:r>
            <a:endParaRPr lang="en-US" sz="2800" dirty="0"/>
          </a:p>
        </p:txBody>
      </p:sp>
      <p:sp>
        <p:nvSpPr>
          <p:cNvPr id="10" name="Text 8"/>
          <p:cNvSpPr/>
          <p:nvPr/>
        </p:nvSpPr>
        <p:spPr>
          <a:xfrm>
            <a:off x="4663440" y="2777490"/>
            <a:ext cx="3931920" cy="457200"/>
          </a:xfrm>
          <a:prstGeom prst="rect">
            <a:avLst/>
          </a:prstGeom>
          <a:noFill/>
          <a:ln/>
        </p:spPr>
        <p:txBody>
          <a:bodyPr wrap="square" rtlCol="0" anchor="ctr"/>
          <a:lstStyle/>
          <a:p>
            <a:pPr algn="ctr"/>
            <a:r>
              <a:rPr lang="en-US" sz="2000" b="1" dirty="0">
                <a:solidFill>
                  <a:srgbClr val="FFFFFF"/>
                </a:solidFill>
                <a:latin typeface="Georgia" pitchFamily="34" charset="0"/>
                <a:ea typeface="Georgia" pitchFamily="34" charset="-122"/>
                <a:cs typeface="Georgia" pitchFamily="34" charset="-120"/>
              </a:rPr>
              <a:t>Automation Testing</a:t>
            </a:r>
            <a:endParaRPr lang="en-US" sz="2000" dirty="0"/>
          </a:p>
        </p:txBody>
      </p:sp>
      <p:sp>
        <p:nvSpPr>
          <p:cNvPr id="11" name="Text 9"/>
          <p:cNvSpPr/>
          <p:nvPr/>
        </p:nvSpPr>
        <p:spPr>
          <a:xfrm>
            <a:off x="4846320" y="3371850"/>
            <a:ext cx="3566160" cy="1828800"/>
          </a:xfrm>
          <a:prstGeom prst="rect">
            <a:avLst/>
          </a:prstGeom>
          <a:noFill/>
          <a:ln/>
        </p:spPr>
        <p:txBody>
          <a:bodyPr wrap="square" rtlCol="0" anchor="ctr"/>
          <a:lstStyle/>
          <a:p>
            <a:r>
              <a:rPr lang="en-US" sz="1300" dirty="0">
                <a:solidFill>
                  <a:srgbClr val="E2EAF4"/>
                </a:solidFill>
                <a:latin typeface="Calibri" pitchFamily="34" charset="0"/>
                <a:ea typeface="Calibri" pitchFamily="34" charset="-122"/>
                <a:cs typeface="Calibri" pitchFamily="34" charset="-120"/>
              </a:rPr>
              <a:t>✓ Simplifies test execution</a:t>
            </a:r>
            <a:endParaRPr lang="en-US" sz="1300" dirty="0"/>
          </a:p>
          <a:p>
            <a:r>
              <a:rPr lang="en-US" sz="1300" dirty="0">
                <a:solidFill>
                  <a:srgbClr val="E2EAF4"/>
                </a:solidFill>
                <a:latin typeface="Calibri" pitchFamily="34" charset="0"/>
                <a:ea typeface="Calibri" pitchFamily="34" charset="-122"/>
                <a:cs typeface="Calibri" pitchFamily="34" charset="-120"/>
              </a:rPr>
              <a:t>✓ Improves test reliability</a:t>
            </a:r>
            <a:endParaRPr lang="en-US" sz="1300" dirty="0"/>
          </a:p>
          <a:p>
            <a:r>
              <a:rPr lang="en-US" sz="1300" dirty="0">
                <a:solidFill>
                  <a:srgbClr val="E2EAF4"/>
                </a:solidFill>
                <a:latin typeface="Calibri" pitchFamily="34" charset="0"/>
                <a:ea typeface="Calibri" pitchFamily="34" charset="-122"/>
                <a:cs typeface="Calibri" pitchFamily="34" charset="-120"/>
              </a:rPr>
              <a:t>✓ Higher test coverage</a:t>
            </a:r>
            <a:endParaRPr lang="en-US" sz="1300" dirty="0"/>
          </a:p>
          <a:p>
            <a:r>
              <a:rPr lang="en-US" sz="1300" dirty="0">
                <a:solidFill>
                  <a:srgbClr val="E2EAF4"/>
                </a:solidFill>
                <a:latin typeface="Calibri" pitchFamily="34" charset="0"/>
                <a:ea typeface="Calibri" pitchFamily="34" charset="-122"/>
                <a:cs typeface="Calibri" pitchFamily="34" charset="-120"/>
              </a:rPr>
              <a:t>✓ Minimizes human error</a:t>
            </a:r>
            <a:endParaRPr lang="en-US" sz="1300" dirty="0"/>
          </a:p>
          <a:p>
            <a:r>
              <a:rPr lang="en-US" sz="1300" dirty="0">
                <a:solidFill>
                  <a:srgbClr val="E2EAF4"/>
                </a:solidFill>
                <a:latin typeface="Calibri" pitchFamily="34" charset="0"/>
                <a:ea typeface="Calibri" pitchFamily="34" charset="-122"/>
                <a:cs typeface="Calibri" pitchFamily="34" charset="-120"/>
              </a:rPr>
              <a:t>✓ Runs repetitive tasks easily</a:t>
            </a:r>
            <a:endParaRPr lang="en-US" sz="1300" dirty="0"/>
          </a:p>
        </p:txBody>
      </p:sp>
      <p:sp>
        <p:nvSpPr>
          <p:cNvPr id="12" name="Shape 10"/>
          <p:cNvSpPr/>
          <p:nvPr/>
        </p:nvSpPr>
        <p:spPr>
          <a:xfrm>
            <a:off x="0" y="5703570"/>
            <a:ext cx="9144000" cy="297180"/>
          </a:xfrm>
          <a:prstGeom prst="rect">
            <a:avLst/>
          </a:prstGeom>
          <a:solidFill>
            <a:srgbClr val="1A2B4A"/>
          </a:solidFill>
          <a:ln w="12700">
            <a:solidFill>
              <a:srgbClr val="1A2B4A"/>
            </a:solidFill>
            <a:prstDash val="solid"/>
          </a:ln>
        </p:spPr>
        <p:txBody>
          <a:bodyPr/>
          <a:lstStyle/>
          <a:p>
            <a:endParaRPr lang="en-IN"/>
          </a:p>
        </p:txBody>
      </p:sp>
      <p:sp>
        <p:nvSpPr>
          <p:cNvPr id="13" name="Text 11"/>
          <p:cNvSpPr/>
          <p:nvPr/>
        </p:nvSpPr>
        <p:spPr>
          <a:xfrm>
            <a:off x="0" y="5703570"/>
            <a:ext cx="9144000" cy="297180"/>
          </a:xfrm>
          <a:prstGeom prst="rect">
            <a:avLst/>
          </a:prstGeom>
          <a:noFill/>
          <a:ln/>
        </p:spPr>
        <p:txBody>
          <a:bodyPr wrap="square" rtlCol="0" anchor="ctr"/>
          <a:lstStyle/>
          <a:p>
            <a:pPr algn="ctr"/>
            <a:r>
              <a:rPr lang="en-US" sz="1200" dirty="0">
                <a:solidFill>
                  <a:srgbClr val="FFFFFF"/>
                </a:solidFill>
                <a:latin typeface="Calibri" pitchFamily="34" charset="0"/>
                <a:ea typeface="Calibri" pitchFamily="34" charset="-122"/>
                <a:cs typeface="Calibri" pitchFamily="34" charset="-120"/>
              </a:rPr>
              <a:t>Further subdivided into: White Box • Black Box • Grey Box Testing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31470"/>
            <a:ext cx="7551174" cy="1005840"/>
          </a:xfrm>
          <a:prstGeom prst="rect">
            <a:avLst/>
          </a:prstGeom>
          <a:solidFill>
            <a:srgbClr val="1A2B4A"/>
          </a:solidFill>
          <a:ln w="12700">
            <a:solidFill>
              <a:srgbClr val="1A2B4A"/>
            </a:solidFill>
            <a:prstDash val="solid"/>
          </a:ln>
        </p:spPr>
        <p:txBody>
          <a:bodyPr/>
          <a:lstStyle/>
          <a:p>
            <a:endParaRPr lang="en-IN"/>
          </a:p>
        </p:txBody>
      </p:sp>
      <p:sp>
        <p:nvSpPr>
          <p:cNvPr id="3" name="Text 1"/>
          <p:cNvSpPr/>
          <p:nvPr/>
        </p:nvSpPr>
        <p:spPr>
          <a:xfrm>
            <a:off x="320040" y="491490"/>
            <a:ext cx="8229600" cy="685800"/>
          </a:xfrm>
          <a:prstGeom prst="rect">
            <a:avLst/>
          </a:prstGeom>
          <a:noFill/>
          <a:ln/>
        </p:spPr>
        <p:txBody>
          <a:bodyPr wrap="square" rtlCol="0" anchor="ctr"/>
          <a:lstStyle/>
          <a:p>
            <a:r>
              <a:rPr lang="en-US" sz="3000" b="1" dirty="0">
                <a:solidFill>
                  <a:srgbClr val="FFFFFF"/>
                </a:solidFill>
                <a:latin typeface="Georgia" pitchFamily="34" charset="0"/>
                <a:ea typeface="Georgia" pitchFamily="34" charset="-122"/>
                <a:cs typeface="Georgia" pitchFamily="34" charset="-120"/>
              </a:rPr>
              <a:t>Types of Manual Testing</a:t>
            </a:r>
            <a:endParaRPr lang="en-US" sz="3000" dirty="0"/>
          </a:p>
        </p:txBody>
      </p:sp>
      <p:sp>
        <p:nvSpPr>
          <p:cNvPr id="4" name="Shape 2"/>
          <p:cNvSpPr/>
          <p:nvPr/>
        </p:nvSpPr>
        <p:spPr>
          <a:xfrm>
            <a:off x="320040" y="2045970"/>
            <a:ext cx="2743200" cy="64008"/>
          </a:xfrm>
          <a:prstGeom prst="rect">
            <a:avLst/>
          </a:prstGeom>
          <a:solidFill>
            <a:srgbClr val="0D7377"/>
          </a:solidFill>
          <a:ln w="12700">
            <a:solidFill>
              <a:srgbClr val="0D7377"/>
            </a:solidFill>
            <a:prstDash val="solid"/>
          </a:ln>
        </p:spPr>
        <p:txBody>
          <a:bodyPr/>
          <a:lstStyle/>
          <a:p>
            <a:endParaRPr lang="en-IN"/>
          </a:p>
        </p:txBody>
      </p:sp>
      <p:sp>
        <p:nvSpPr>
          <p:cNvPr id="5" name="Shape 3"/>
          <p:cNvSpPr/>
          <p:nvPr/>
        </p:nvSpPr>
        <p:spPr>
          <a:xfrm>
            <a:off x="320040" y="2109978"/>
            <a:ext cx="2743200" cy="3383280"/>
          </a:xfrm>
          <a:prstGeom prst="rect">
            <a:avLst/>
          </a:prstGeom>
          <a:solidFill>
            <a:srgbClr val="FFFFFF"/>
          </a:solidFill>
          <a:ln w="12700">
            <a:solidFill>
              <a:srgbClr val="E2EAF4"/>
            </a:solidFill>
            <a:prstDash val="solid"/>
          </a:ln>
        </p:spPr>
        <p:txBody>
          <a:bodyPr/>
          <a:lstStyle/>
          <a:p>
            <a:endParaRPr lang="en-IN"/>
          </a:p>
        </p:txBody>
      </p:sp>
      <p:sp>
        <p:nvSpPr>
          <p:cNvPr id="6" name="Text 4"/>
          <p:cNvSpPr/>
          <p:nvPr/>
        </p:nvSpPr>
        <p:spPr>
          <a:xfrm>
            <a:off x="457200" y="2228850"/>
            <a:ext cx="2468880" cy="594360"/>
          </a:xfrm>
          <a:prstGeom prst="rect">
            <a:avLst/>
          </a:prstGeom>
          <a:noFill/>
          <a:ln/>
        </p:spPr>
        <p:txBody>
          <a:bodyPr wrap="square" rtlCol="0" anchor="ctr"/>
          <a:lstStyle/>
          <a:p>
            <a:r>
              <a:rPr lang="en-US" sz="1500" b="1" dirty="0">
                <a:solidFill>
                  <a:srgbClr val="0D7377"/>
                </a:solidFill>
                <a:latin typeface="Georgia" pitchFamily="34" charset="0"/>
                <a:ea typeface="Georgia" pitchFamily="34" charset="-122"/>
                <a:cs typeface="Georgia" pitchFamily="34" charset="-120"/>
              </a:rPr>
              <a:t>White Box Testing</a:t>
            </a:r>
            <a:endParaRPr lang="en-US" sz="1500" dirty="0"/>
          </a:p>
        </p:txBody>
      </p:sp>
      <p:sp>
        <p:nvSpPr>
          <p:cNvPr id="7" name="Text 5"/>
          <p:cNvSpPr/>
          <p:nvPr/>
        </p:nvSpPr>
        <p:spPr>
          <a:xfrm>
            <a:off x="457200" y="2868930"/>
            <a:ext cx="2468880" cy="1371600"/>
          </a:xfrm>
          <a:prstGeom prst="rect">
            <a:avLst/>
          </a:prstGeom>
          <a:noFill/>
          <a:ln/>
        </p:spPr>
        <p:txBody>
          <a:bodyPr wrap="square" rtlCol="0" anchor="ctr"/>
          <a:lstStyle/>
          <a:p>
            <a:r>
              <a:rPr lang="en-US" sz="1200" dirty="0">
                <a:solidFill>
                  <a:srgbClr val="334155"/>
                </a:solidFill>
                <a:latin typeface="Calibri" pitchFamily="34" charset="0"/>
                <a:ea typeface="Calibri" pitchFamily="34" charset="-122"/>
                <a:cs typeface="Calibri" pitchFamily="34" charset="-120"/>
              </a:rPr>
              <a:t>Tests internal code structure. Tester has full source code access. Focuses on paths, loops, and logic.</a:t>
            </a:r>
            <a:endParaRPr lang="en-US" sz="1200" dirty="0"/>
          </a:p>
        </p:txBody>
      </p:sp>
      <p:sp>
        <p:nvSpPr>
          <p:cNvPr id="8" name="Shape 6"/>
          <p:cNvSpPr/>
          <p:nvPr/>
        </p:nvSpPr>
        <p:spPr>
          <a:xfrm>
            <a:off x="3246120" y="2045970"/>
            <a:ext cx="2743200" cy="64008"/>
          </a:xfrm>
          <a:prstGeom prst="rect">
            <a:avLst/>
          </a:prstGeom>
          <a:solidFill>
            <a:srgbClr val="1A2B4A"/>
          </a:solidFill>
          <a:ln w="12700">
            <a:solidFill>
              <a:srgbClr val="1A2B4A"/>
            </a:solidFill>
            <a:prstDash val="solid"/>
          </a:ln>
        </p:spPr>
        <p:txBody>
          <a:bodyPr/>
          <a:lstStyle/>
          <a:p>
            <a:endParaRPr lang="en-IN"/>
          </a:p>
        </p:txBody>
      </p:sp>
      <p:sp>
        <p:nvSpPr>
          <p:cNvPr id="9" name="Shape 7"/>
          <p:cNvSpPr/>
          <p:nvPr/>
        </p:nvSpPr>
        <p:spPr>
          <a:xfrm>
            <a:off x="3246120" y="2109978"/>
            <a:ext cx="2743200" cy="3383280"/>
          </a:xfrm>
          <a:prstGeom prst="rect">
            <a:avLst/>
          </a:prstGeom>
          <a:solidFill>
            <a:srgbClr val="FFFFFF"/>
          </a:solidFill>
          <a:ln w="12700">
            <a:solidFill>
              <a:srgbClr val="E2EAF4"/>
            </a:solidFill>
            <a:prstDash val="solid"/>
          </a:ln>
        </p:spPr>
        <p:txBody>
          <a:bodyPr/>
          <a:lstStyle/>
          <a:p>
            <a:endParaRPr lang="en-IN"/>
          </a:p>
        </p:txBody>
      </p:sp>
      <p:sp>
        <p:nvSpPr>
          <p:cNvPr id="10" name="Text 8"/>
          <p:cNvSpPr/>
          <p:nvPr/>
        </p:nvSpPr>
        <p:spPr>
          <a:xfrm>
            <a:off x="3383280" y="2228850"/>
            <a:ext cx="2468880" cy="594360"/>
          </a:xfrm>
          <a:prstGeom prst="rect">
            <a:avLst/>
          </a:prstGeom>
          <a:noFill/>
          <a:ln/>
        </p:spPr>
        <p:txBody>
          <a:bodyPr wrap="square" rtlCol="0" anchor="ctr"/>
          <a:lstStyle/>
          <a:p>
            <a:r>
              <a:rPr lang="en-US" sz="1500" b="1" dirty="0">
                <a:solidFill>
                  <a:srgbClr val="1A2B4A"/>
                </a:solidFill>
                <a:latin typeface="Georgia" pitchFamily="34" charset="0"/>
                <a:ea typeface="Georgia" pitchFamily="34" charset="-122"/>
                <a:cs typeface="Georgia" pitchFamily="34" charset="-120"/>
              </a:rPr>
              <a:t>Black Box Testing</a:t>
            </a:r>
            <a:endParaRPr lang="en-US" sz="1500" dirty="0"/>
          </a:p>
        </p:txBody>
      </p:sp>
      <p:sp>
        <p:nvSpPr>
          <p:cNvPr id="11" name="Text 9"/>
          <p:cNvSpPr/>
          <p:nvPr/>
        </p:nvSpPr>
        <p:spPr>
          <a:xfrm>
            <a:off x="3383280" y="2868930"/>
            <a:ext cx="2468880" cy="1371600"/>
          </a:xfrm>
          <a:prstGeom prst="rect">
            <a:avLst/>
          </a:prstGeom>
          <a:noFill/>
          <a:ln/>
        </p:spPr>
        <p:txBody>
          <a:bodyPr wrap="square" rtlCol="0" anchor="ctr"/>
          <a:lstStyle/>
          <a:p>
            <a:r>
              <a:rPr lang="en-US" sz="1200" dirty="0">
                <a:solidFill>
                  <a:srgbClr val="334155"/>
                </a:solidFill>
                <a:latin typeface="Calibri" pitchFamily="34" charset="0"/>
                <a:ea typeface="Calibri" pitchFamily="34" charset="-122"/>
                <a:cs typeface="Calibri" pitchFamily="34" charset="-120"/>
              </a:rPr>
              <a:t>Tests functionality without knowledge of internals. Based on specs/requirements from user perspective.</a:t>
            </a:r>
            <a:endParaRPr lang="en-US" sz="1200" dirty="0"/>
          </a:p>
        </p:txBody>
      </p:sp>
      <p:sp>
        <p:nvSpPr>
          <p:cNvPr id="12" name="Shape 10"/>
          <p:cNvSpPr/>
          <p:nvPr/>
        </p:nvSpPr>
        <p:spPr>
          <a:xfrm>
            <a:off x="6172200" y="2045970"/>
            <a:ext cx="2743200" cy="64008"/>
          </a:xfrm>
          <a:prstGeom prst="rect">
            <a:avLst/>
          </a:prstGeom>
          <a:solidFill>
            <a:srgbClr val="8B5CF6"/>
          </a:solidFill>
          <a:ln w="12700">
            <a:solidFill>
              <a:srgbClr val="8B5CF6"/>
            </a:solidFill>
            <a:prstDash val="solid"/>
          </a:ln>
        </p:spPr>
        <p:txBody>
          <a:bodyPr/>
          <a:lstStyle/>
          <a:p>
            <a:endParaRPr lang="en-IN"/>
          </a:p>
        </p:txBody>
      </p:sp>
      <p:sp>
        <p:nvSpPr>
          <p:cNvPr id="13" name="Shape 11"/>
          <p:cNvSpPr/>
          <p:nvPr/>
        </p:nvSpPr>
        <p:spPr>
          <a:xfrm>
            <a:off x="6172200" y="2109978"/>
            <a:ext cx="2743200" cy="3383280"/>
          </a:xfrm>
          <a:prstGeom prst="rect">
            <a:avLst/>
          </a:prstGeom>
          <a:solidFill>
            <a:srgbClr val="FFFFFF"/>
          </a:solidFill>
          <a:ln w="12700">
            <a:solidFill>
              <a:srgbClr val="E2EAF4"/>
            </a:solidFill>
            <a:prstDash val="solid"/>
          </a:ln>
        </p:spPr>
        <p:txBody>
          <a:bodyPr/>
          <a:lstStyle/>
          <a:p>
            <a:endParaRPr lang="en-IN"/>
          </a:p>
        </p:txBody>
      </p:sp>
      <p:sp>
        <p:nvSpPr>
          <p:cNvPr id="14" name="Text 12"/>
          <p:cNvSpPr/>
          <p:nvPr/>
        </p:nvSpPr>
        <p:spPr>
          <a:xfrm>
            <a:off x="6309360" y="2228850"/>
            <a:ext cx="2468880" cy="594360"/>
          </a:xfrm>
          <a:prstGeom prst="rect">
            <a:avLst/>
          </a:prstGeom>
          <a:noFill/>
          <a:ln/>
        </p:spPr>
        <p:txBody>
          <a:bodyPr wrap="square" rtlCol="0" anchor="ctr"/>
          <a:lstStyle/>
          <a:p>
            <a:r>
              <a:rPr lang="en-US" sz="1500" b="1" dirty="0">
                <a:solidFill>
                  <a:srgbClr val="8B5CF6"/>
                </a:solidFill>
                <a:latin typeface="Georgia" pitchFamily="34" charset="0"/>
                <a:ea typeface="Georgia" pitchFamily="34" charset="-122"/>
                <a:cs typeface="Georgia" pitchFamily="34" charset="-120"/>
              </a:rPr>
              <a:t>Grey Box Testing</a:t>
            </a:r>
            <a:endParaRPr lang="en-US" sz="1500" dirty="0"/>
          </a:p>
        </p:txBody>
      </p:sp>
      <p:sp>
        <p:nvSpPr>
          <p:cNvPr id="15" name="Text 13"/>
          <p:cNvSpPr/>
          <p:nvPr/>
        </p:nvSpPr>
        <p:spPr>
          <a:xfrm>
            <a:off x="6309360" y="2868930"/>
            <a:ext cx="2468880" cy="1371600"/>
          </a:xfrm>
          <a:prstGeom prst="rect">
            <a:avLst/>
          </a:prstGeom>
          <a:noFill/>
          <a:ln/>
        </p:spPr>
        <p:txBody>
          <a:bodyPr wrap="square" rtlCol="0" anchor="ctr"/>
          <a:lstStyle/>
          <a:p>
            <a:r>
              <a:rPr lang="en-US" sz="1200" dirty="0">
                <a:solidFill>
                  <a:srgbClr val="334155"/>
                </a:solidFill>
                <a:latin typeface="Calibri" pitchFamily="34" charset="0"/>
                <a:ea typeface="Calibri" pitchFamily="34" charset="-122"/>
                <a:cs typeface="Calibri" pitchFamily="34" charset="-120"/>
              </a:rPr>
              <a:t>Hybrid approach — partial internal knowledge. Tests both logic and user experience simultaneously.</a:t>
            </a:r>
            <a:endParaRPr lang="en-US" sz="1200" dirty="0"/>
          </a:p>
        </p:txBody>
      </p:sp>
      <p:sp>
        <p:nvSpPr>
          <p:cNvPr id="16" name="Text 14"/>
          <p:cNvSpPr/>
          <p:nvPr/>
        </p:nvSpPr>
        <p:spPr>
          <a:xfrm>
            <a:off x="429768" y="3737610"/>
            <a:ext cx="2514600" cy="169164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Thorough code testing</a:t>
            </a:r>
            <a:endParaRPr lang="en-US" sz="1100" dirty="0"/>
          </a:p>
          <a:p>
            <a:r>
              <a:rPr lang="en-US" sz="1100" dirty="0">
                <a:solidFill>
                  <a:srgbClr val="64748B"/>
                </a:solidFill>
                <a:latin typeface="Calibri" pitchFamily="34" charset="0"/>
                <a:ea typeface="Calibri" pitchFamily="34" charset="-122"/>
                <a:cs typeface="Calibri" pitchFamily="34" charset="-120"/>
              </a:rPr>
              <a:t>• Code optimization</a:t>
            </a:r>
            <a:endParaRPr lang="en-US" sz="1100" dirty="0"/>
          </a:p>
          <a:p>
            <a:r>
              <a:rPr lang="en-US" sz="1100" dirty="0">
                <a:solidFill>
                  <a:srgbClr val="64748B"/>
                </a:solidFill>
                <a:latin typeface="Calibri" pitchFamily="34" charset="0"/>
                <a:ea typeface="Calibri" pitchFamily="34" charset="-122"/>
                <a:cs typeface="Calibri" pitchFamily="34" charset="-120"/>
              </a:rPr>
              <a:t>• Early defect detection</a:t>
            </a:r>
            <a:endParaRPr lang="en-US" sz="1100" dirty="0"/>
          </a:p>
          <a:p>
            <a:r>
              <a:rPr lang="en-US" sz="1100" dirty="0">
                <a:solidFill>
                  <a:srgbClr val="64748B"/>
                </a:solidFill>
                <a:latin typeface="Calibri" pitchFamily="34" charset="0"/>
                <a:ea typeface="Calibri" pitchFamily="34" charset="-122"/>
                <a:cs typeface="Calibri" pitchFamily="34" charset="-120"/>
              </a:rPr>
              <a:t>• Integration with SDLC</a:t>
            </a:r>
            <a:endParaRPr lang="en-US" sz="1100" dirty="0"/>
          </a:p>
        </p:txBody>
      </p:sp>
      <p:sp>
        <p:nvSpPr>
          <p:cNvPr id="17" name="Text 15"/>
          <p:cNvSpPr/>
          <p:nvPr/>
        </p:nvSpPr>
        <p:spPr>
          <a:xfrm>
            <a:off x="3355848" y="3737610"/>
            <a:ext cx="2514600" cy="169164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No coding skills needed</a:t>
            </a:r>
            <a:endParaRPr lang="en-US" sz="1100" dirty="0"/>
          </a:p>
          <a:p>
            <a:r>
              <a:rPr lang="en-US" sz="1100" dirty="0">
                <a:solidFill>
                  <a:srgbClr val="64748B"/>
                </a:solidFill>
                <a:latin typeface="Calibri" pitchFamily="34" charset="0"/>
                <a:ea typeface="Calibri" pitchFamily="34" charset="-122"/>
                <a:cs typeface="Calibri" pitchFamily="34" charset="-120"/>
              </a:rPr>
              <a:t>• Efficient for large systems</a:t>
            </a:r>
            <a:endParaRPr lang="en-US" sz="1100" dirty="0"/>
          </a:p>
          <a:p>
            <a:r>
              <a:rPr lang="en-US" sz="1100" dirty="0">
                <a:solidFill>
                  <a:srgbClr val="64748B"/>
                </a:solidFill>
                <a:latin typeface="Calibri" pitchFamily="34" charset="0"/>
                <a:ea typeface="Calibri" pitchFamily="34" charset="-122"/>
                <a:cs typeface="Calibri" pitchFamily="34" charset="-120"/>
              </a:rPr>
              <a:t>• User perspective testing</a:t>
            </a:r>
            <a:endParaRPr lang="en-US" sz="1100" dirty="0"/>
          </a:p>
          <a:p>
            <a:r>
              <a:rPr lang="en-US" sz="1100" dirty="0">
                <a:solidFill>
                  <a:srgbClr val="64748B"/>
                </a:solidFill>
                <a:latin typeface="Calibri" pitchFamily="34" charset="0"/>
                <a:ea typeface="Calibri" pitchFamily="34" charset="-122"/>
                <a:cs typeface="Calibri" pitchFamily="34" charset="-120"/>
              </a:rPr>
              <a:t>• Cases easily reproducible</a:t>
            </a:r>
            <a:endParaRPr lang="en-US" sz="1100" dirty="0"/>
          </a:p>
        </p:txBody>
      </p:sp>
      <p:sp>
        <p:nvSpPr>
          <p:cNvPr id="18" name="Text 16"/>
          <p:cNvSpPr/>
          <p:nvPr/>
        </p:nvSpPr>
        <p:spPr>
          <a:xfrm>
            <a:off x="6281928" y="3737610"/>
            <a:ext cx="2514600" cy="169164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Clear goals for all</a:t>
            </a:r>
            <a:endParaRPr lang="en-US" sz="1100" dirty="0"/>
          </a:p>
          <a:p>
            <a:r>
              <a:rPr lang="en-US" sz="1100" dirty="0">
                <a:solidFill>
                  <a:srgbClr val="64748B"/>
                </a:solidFill>
                <a:latin typeface="Calibri" pitchFamily="34" charset="0"/>
                <a:ea typeface="Calibri" pitchFamily="34" charset="-122"/>
                <a:cs typeface="Calibri" pitchFamily="34" charset="-120"/>
              </a:rPr>
              <a:t>• User-centric approach</a:t>
            </a:r>
            <a:endParaRPr lang="en-US" sz="1100" dirty="0"/>
          </a:p>
          <a:p>
            <a:r>
              <a:rPr lang="en-US" sz="1100" dirty="0">
                <a:solidFill>
                  <a:srgbClr val="64748B"/>
                </a:solidFill>
                <a:latin typeface="Calibri" pitchFamily="34" charset="0"/>
                <a:ea typeface="Calibri" pitchFamily="34" charset="-122"/>
                <a:cs typeface="Calibri" pitchFamily="34" charset="-120"/>
              </a:rPr>
              <a:t>• Non-intrusive testing</a:t>
            </a:r>
            <a:endParaRPr lang="en-US" sz="1100" dirty="0"/>
          </a:p>
          <a:p>
            <a:r>
              <a:rPr lang="en-US" sz="1100" dirty="0">
                <a:solidFill>
                  <a:srgbClr val="64748B"/>
                </a:solidFill>
                <a:latin typeface="Calibri" pitchFamily="34" charset="0"/>
                <a:ea typeface="Calibri" pitchFamily="34" charset="-122"/>
                <a:cs typeface="Calibri" pitchFamily="34" charset="-120"/>
              </a:rPr>
              <a:t>• Improved product quality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8600" y="276606"/>
            <a:ext cx="6037006" cy="1005840"/>
          </a:xfrm>
          <a:prstGeom prst="rect">
            <a:avLst/>
          </a:prstGeom>
          <a:solidFill>
            <a:srgbClr val="0D7377"/>
          </a:solidFill>
          <a:ln w="12700">
            <a:solidFill>
              <a:srgbClr val="0D7377"/>
            </a:solidFill>
            <a:prstDash val="solid"/>
          </a:ln>
        </p:spPr>
        <p:txBody>
          <a:bodyPr/>
          <a:lstStyle/>
          <a:p>
            <a:endParaRPr lang="en-IN"/>
          </a:p>
        </p:txBody>
      </p:sp>
      <p:sp>
        <p:nvSpPr>
          <p:cNvPr id="3" name="Text 1"/>
          <p:cNvSpPr/>
          <p:nvPr/>
        </p:nvSpPr>
        <p:spPr>
          <a:xfrm>
            <a:off x="365760" y="325814"/>
            <a:ext cx="8229600" cy="685800"/>
          </a:xfrm>
          <a:prstGeom prst="rect">
            <a:avLst/>
          </a:prstGeom>
          <a:noFill/>
          <a:ln/>
        </p:spPr>
        <p:txBody>
          <a:bodyPr wrap="square" rtlCol="0" anchor="ctr"/>
          <a:lstStyle/>
          <a:p>
            <a:r>
              <a:rPr lang="en-US" sz="3000" b="1" dirty="0">
                <a:solidFill>
                  <a:srgbClr val="FFFFFF"/>
                </a:solidFill>
                <a:latin typeface="Georgia" pitchFamily="34" charset="0"/>
                <a:ea typeface="Georgia" pitchFamily="34" charset="-122"/>
                <a:cs typeface="Georgia" pitchFamily="34" charset="-120"/>
              </a:rPr>
              <a:t>Functional Testing</a:t>
            </a:r>
            <a:endParaRPr lang="en-US" sz="3000" dirty="0"/>
          </a:p>
        </p:txBody>
      </p:sp>
      <p:sp>
        <p:nvSpPr>
          <p:cNvPr id="4" name="Text 2"/>
          <p:cNvSpPr/>
          <p:nvPr/>
        </p:nvSpPr>
        <p:spPr>
          <a:xfrm>
            <a:off x="365760" y="901886"/>
            <a:ext cx="8229600" cy="256032"/>
          </a:xfrm>
          <a:prstGeom prst="rect">
            <a:avLst/>
          </a:prstGeom>
          <a:noFill/>
          <a:ln/>
        </p:spPr>
        <p:txBody>
          <a:bodyPr wrap="square" rtlCol="0" anchor="ctr"/>
          <a:lstStyle/>
          <a:p>
            <a:r>
              <a:rPr lang="en-US" sz="1200" dirty="0">
                <a:solidFill>
                  <a:srgbClr val="E2EAF4"/>
                </a:solidFill>
                <a:latin typeface="Calibri" pitchFamily="34" charset="0"/>
                <a:ea typeface="Calibri" pitchFamily="34" charset="-122"/>
                <a:cs typeface="Calibri" pitchFamily="34" charset="-120"/>
              </a:rPr>
              <a:t>Under Black Box Testing</a:t>
            </a:r>
            <a:endParaRPr lang="en-US" sz="1200" dirty="0"/>
          </a:p>
        </p:txBody>
      </p:sp>
      <p:sp>
        <p:nvSpPr>
          <p:cNvPr id="5" name="Shape 3"/>
          <p:cNvSpPr/>
          <p:nvPr/>
        </p:nvSpPr>
        <p:spPr>
          <a:xfrm>
            <a:off x="13716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6" name="Shape 4"/>
          <p:cNvSpPr/>
          <p:nvPr/>
        </p:nvSpPr>
        <p:spPr>
          <a:xfrm>
            <a:off x="13716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7" name="Text 5"/>
          <p:cNvSpPr/>
          <p:nvPr/>
        </p:nvSpPr>
        <p:spPr>
          <a:xfrm>
            <a:off x="22860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Unit Testing</a:t>
            </a:r>
            <a:endParaRPr lang="en-US" sz="1200" dirty="0"/>
          </a:p>
        </p:txBody>
      </p:sp>
      <p:sp>
        <p:nvSpPr>
          <p:cNvPr id="8" name="Text 6"/>
          <p:cNvSpPr/>
          <p:nvPr/>
        </p:nvSpPr>
        <p:spPr>
          <a:xfrm>
            <a:off x="22860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Tests individual functions/methods in isolation. Done by developers early in SDLC.</a:t>
            </a:r>
            <a:endParaRPr lang="en-US" sz="1050" dirty="0"/>
          </a:p>
        </p:txBody>
      </p:sp>
      <p:sp>
        <p:nvSpPr>
          <p:cNvPr id="9" name="Shape 7"/>
          <p:cNvSpPr/>
          <p:nvPr/>
        </p:nvSpPr>
        <p:spPr>
          <a:xfrm>
            <a:off x="228600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10" name="Shape 8"/>
          <p:cNvSpPr/>
          <p:nvPr/>
        </p:nvSpPr>
        <p:spPr>
          <a:xfrm>
            <a:off x="228600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11" name="Text 9"/>
          <p:cNvSpPr/>
          <p:nvPr/>
        </p:nvSpPr>
        <p:spPr>
          <a:xfrm>
            <a:off x="237744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Integration Testing</a:t>
            </a:r>
            <a:endParaRPr lang="en-US" sz="1200" dirty="0"/>
          </a:p>
        </p:txBody>
      </p:sp>
      <p:sp>
        <p:nvSpPr>
          <p:cNvPr id="12" name="Text 10"/>
          <p:cNvSpPr/>
          <p:nvPr/>
        </p:nvSpPr>
        <p:spPr>
          <a:xfrm>
            <a:off x="237744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Verifies that different modules work together. Includes Top-down, Bottom-up, Big-Bang.</a:t>
            </a:r>
            <a:endParaRPr lang="en-US" sz="1050" dirty="0"/>
          </a:p>
        </p:txBody>
      </p:sp>
      <p:sp>
        <p:nvSpPr>
          <p:cNvPr id="13" name="Shape 11"/>
          <p:cNvSpPr/>
          <p:nvPr/>
        </p:nvSpPr>
        <p:spPr>
          <a:xfrm>
            <a:off x="443484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14" name="Shape 12"/>
          <p:cNvSpPr/>
          <p:nvPr/>
        </p:nvSpPr>
        <p:spPr>
          <a:xfrm>
            <a:off x="443484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15" name="Text 13"/>
          <p:cNvSpPr/>
          <p:nvPr/>
        </p:nvSpPr>
        <p:spPr>
          <a:xfrm>
            <a:off x="452628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System Testing</a:t>
            </a:r>
            <a:endParaRPr lang="en-US" sz="1200" dirty="0"/>
          </a:p>
        </p:txBody>
      </p:sp>
      <p:sp>
        <p:nvSpPr>
          <p:cNvPr id="16" name="Text 14"/>
          <p:cNvSpPr/>
          <p:nvPr/>
        </p:nvSpPr>
        <p:spPr>
          <a:xfrm>
            <a:off x="452628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Tests the fully integrated system against requirements before acceptance testing.</a:t>
            </a:r>
            <a:endParaRPr lang="en-US" sz="1050" dirty="0"/>
          </a:p>
        </p:txBody>
      </p:sp>
      <p:sp>
        <p:nvSpPr>
          <p:cNvPr id="17" name="Shape 15"/>
          <p:cNvSpPr/>
          <p:nvPr/>
        </p:nvSpPr>
        <p:spPr>
          <a:xfrm>
            <a:off x="658368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18" name="Shape 16"/>
          <p:cNvSpPr/>
          <p:nvPr/>
        </p:nvSpPr>
        <p:spPr>
          <a:xfrm>
            <a:off x="658368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19" name="Text 17"/>
          <p:cNvSpPr/>
          <p:nvPr/>
        </p:nvSpPr>
        <p:spPr>
          <a:xfrm>
            <a:off x="667512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UAT</a:t>
            </a:r>
            <a:endParaRPr lang="en-US" sz="1200" dirty="0"/>
          </a:p>
        </p:txBody>
      </p:sp>
      <p:sp>
        <p:nvSpPr>
          <p:cNvPr id="20" name="Text 18"/>
          <p:cNvSpPr/>
          <p:nvPr/>
        </p:nvSpPr>
        <p:spPr>
          <a:xfrm>
            <a:off x="667512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User Acceptance Testing — validates software meets business needs in real-world conditions.</a:t>
            </a:r>
            <a:endParaRPr lang="en-US" sz="1050" dirty="0"/>
          </a:p>
        </p:txBody>
      </p:sp>
      <p:sp>
        <p:nvSpPr>
          <p:cNvPr id="21" name="Shape 19"/>
          <p:cNvSpPr/>
          <p:nvPr/>
        </p:nvSpPr>
        <p:spPr>
          <a:xfrm>
            <a:off x="13716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22" name="Shape 20"/>
          <p:cNvSpPr/>
          <p:nvPr/>
        </p:nvSpPr>
        <p:spPr>
          <a:xfrm>
            <a:off x="13716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23" name="Text 21"/>
          <p:cNvSpPr/>
          <p:nvPr/>
        </p:nvSpPr>
        <p:spPr>
          <a:xfrm>
            <a:off x="22860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Regression Testing</a:t>
            </a:r>
            <a:endParaRPr lang="en-US" sz="1200" dirty="0"/>
          </a:p>
        </p:txBody>
      </p:sp>
      <p:sp>
        <p:nvSpPr>
          <p:cNvPr id="24" name="Text 22"/>
          <p:cNvSpPr/>
          <p:nvPr/>
        </p:nvSpPr>
        <p:spPr>
          <a:xfrm>
            <a:off x="22860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Ensures new changes don't break existing functionality via retesting and comparison.</a:t>
            </a:r>
            <a:endParaRPr lang="en-US" sz="1050" dirty="0"/>
          </a:p>
        </p:txBody>
      </p:sp>
      <p:sp>
        <p:nvSpPr>
          <p:cNvPr id="25" name="Shape 23"/>
          <p:cNvSpPr/>
          <p:nvPr/>
        </p:nvSpPr>
        <p:spPr>
          <a:xfrm>
            <a:off x="228600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26" name="Shape 24"/>
          <p:cNvSpPr/>
          <p:nvPr/>
        </p:nvSpPr>
        <p:spPr>
          <a:xfrm>
            <a:off x="228600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27" name="Text 25"/>
          <p:cNvSpPr/>
          <p:nvPr/>
        </p:nvSpPr>
        <p:spPr>
          <a:xfrm>
            <a:off x="237744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Smoke Testing</a:t>
            </a:r>
            <a:endParaRPr lang="en-US" sz="1200" dirty="0"/>
          </a:p>
        </p:txBody>
      </p:sp>
      <p:sp>
        <p:nvSpPr>
          <p:cNvPr id="28" name="Text 26"/>
          <p:cNvSpPr/>
          <p:nvPr/>
        </p:nvSpPr>
        <p:spPr>
          <a:xfrm>
            <a:off x="237744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Minimum tests on each build to confirm basic stability before deeper testing.</a:t>
            </a:r>
            <a:endParaRPr lang="en-US" sz="1050" dirty="0"/>
          </a:p>
        </p:txBody>
      </p:sp>
      <p:sp>
        <p:nvSpPr>
          <p:cNvPr id="29" name="Shape 27"/>
          <p:cNvSpPr/>
          <p:nvPr/>
        </p:nvSpPr>
        <p:spPr>
          <a:xfrm>
            <a:off x="443484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30" name="Shape 28"/>
          <p:cNvSpPr/>
          <p:nvPr/>
        </p:nvSpPr>
        <p:spPr>
          <a:xfrm>
            <a:off x="443484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31" name="Text 29"/>
          <p:cNvSpPr/>
          <p:nvPr/>
        </p:nvSpPr>
        <p:spPr>
          <a:xfrm>
            <a:off x="452628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Sanity Testing</a:t>
            </a:r>
            <a:endParaRPr lang="en-US" sz="1200" dirty="0"/>
          </a:p>
        </p:txBody>
      </p:sp>
      <p:sp>
        <p:nvSpPr>
          <p:cNvPr id="32" name="Text 30"/>
          <p:cNvSpPr/>
          <p:nvPr/>
        </p:nvSpPr>
        <p:spPr>
          <a:xfrm>
            <a:off x="452628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Quick check post bug-fix to confirm core functionality; stops if basics fail.</a:t>
            </a:r>
            <a:endParaRPr lang="en-US" sz="1050" dirty="0"/>
          </a:p>
        </p:txBody>
      </p:sp>
      <p:sp>
        <p:nvSpPr>
          <p:cNvPr id="33" name="Shape 31"/>
          <p:cNvSpPr/>
          <p:nvPr/>
        </p:nvSpPr>
        <p:spPr>
          <a:xfrm>
            <a:off x="658368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34" name="Shape 32"/>
          <p:cNvSpPr/>
          <p:nvPr/>
        </p:nvSpPr>
        <p:spPr>
          <a:xfrm>
            <a:off x="658368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35" name="Text 33"/>
          <p:cNvSpPr/>
          <p:nvPr/>
        </p:nvSpPr>
        <p:spPr>
          <a:xfrm>
            <a:off x="667512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End-to-End Testing</a:t>
            </a:r>
            <a:endParaRPr lang="en-US" sz="1200" dirty="0"/>
          </a:p>
        </p:txBody>
      </p:sp>
      <p:sp>
        <p:nvSpPr>
          <p:cNvPr id="36" name="Text 34"/>
          <p:cNvSpPr/>
          <p:nvPr/>
        </p:nvSpPr>
        <p:spPr>
          <a:xfrm>
            <a:off x="667512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Tests entire software flow with all external interfaces and databases.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1005840"/>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994410"/>
            <a:ext cx="8229600" cy="685800"/>
          </a:xfrm>
          <a:prstGeom prst="rect">
            <a:avLst/>
          </a:prstGeom>
          <a:noFill/>
          <a:ln/>
        </p:spPr>
        <p:txBody>
          <a:bodyPr wrap="square" rtlCol="0" anchor="ctr"/>
          <a:lstStyle/>
          <a:p>
            <a:r>
              <a:rPr lang="en-US" sz="3000" b="1" dirty="0">
                <a:solidFill>
                  <a:srgbClr val="FFFFFF"/>
                </a:solidFill>
                <a:latin typeface="Georgia" pitchFamily="34" charset="0"/>
                <a:ea typeface="Georgia" pitchFamily="34" charset="-122"/>
                <a:cs typeface="Georgia" pitchFamily="34" charset="-120"/>
              </a:rPr>
              <a:t>Non-Functional Testing</a:t>
            </a:r>
            <a:endParaRPr lang="en-US" sz="3000" dirty="0"/>
          </a:p>
        </p:txBody>
      </p:sp>
      <p:sp>
        <p:nvSpPr>
          <p:cNvPr id="4" name="Text 2"/>
          <p:cNvSpPr/>
          <p:nvPr/>
        </p:nvSpPr>
        <p:spPr>
          <a:xfrm>
            <a:off x="365760" y="1570482"/>
            <a:ext cx="8229600" cy="256032"/>
          </a:xfrm>
          <a:prstGeom prst="rect">
            <a:avLst/>
          </a:prstGeom>
          <a:noFill/>
          <a:ln/>
        </p:spPr>
        <p:txBody>
          <a:bodyPr wrap="square" rtlCol="0" anchor="ctr"/>
          <a:lstStyle/>
          <a:p>
            <a:r>
              <a:rPr lang="en-US" sz="1200" dirty="0">
                <a:solidFill>
                  <a:srgbClr val="E2EAF4"/>
                </a:solidFill>
                <a:latin typeface="Calibri" pitchFamily="34" charset="0"/>
                <a:ea typeface="Calibri" pitchFamily="34" charset="-122"/>
                <a:cs typeface="Calibri" pitchFamily="34" charset="-120"/>
              </a:rPr>
              <a:t>Testing system behavior, performance, security &amp; usability</a:t>
            </a:r>
            <a:endParaRPr lang="en-US" sz="1200" dirty="0"/>
          </a:p>
        </p:txBody>
      </p:sp>
      <p:sp>
        <p:nvSpPr>
          <p:cNvPr id="5" name="Shape 3"/>
          <p:cNvSpPr/>
          <p:nvPr/>
        </p:nvSpPr>
        <p:spPr>
          <a:xfrm>
            <a:off x="320040" y="1954530"/>
            <a:ext cx="5303520" cy="411480"/>
          </a:xfrm>
          <a:prstGeom prst="rect">
            <a:avLst/>
          </a:prstGeom>
          <a:solidFill>
            <a:srgbClr val="1A2B4A"/>
          </a:solidFill>
          <a:ln w="12700">
            <a:solidFill>
              <a:srgbClr val="1A2B4A"/>
            </a:solidFill>
            <a:prstDash val="solid"/>
          </a:ln>
        </p:spPr>
        <p:txBody>
          <a:bodyPr/>
          <a:lstStyle/>
          <a:p>
            <a:endParaRPr lang="en-IN"/>
          </a:p>
        </p:txBody>
      </p:sp>
      <p:sp>
        <p:nvSpPr>
          <p:cNvPr id="6" name="Text 4"/>
          <p:cNvSpPr/>
          <p:nvPr/>
        </p:nvSpPr>
        <p:spPr>
          <a:xfrm>
            <a:off x="320040" y="1954530"/>
            <a:ext cx="5303520" cy="411480"/>
          </a:xfrm>
          <a:prstGeom prst="rect">
            <a:avLst/>
          </a:prstGeom>
          <a:noFill/>
          <a:ln/>
        </p:spPr>
        <p:txBody>
          <a:bodyPr wrap="square" rtlCol="0" anchor="ctr"/>
          <a:lstStyle/>
          <a:p>
            <a:pPr algn="ctr"/>
            <a:r>
              <a:rPr lang="en-US" b="1" dirty="0">
                <a:solidFill>
                  <a:srgbClr val="FFFFFF"/>
                </a:solidFill>
                <a:latin typeface="Calibri" pitchFamily="34" charset="0"/>
                <a:ea typeface="Calibri" pitchFamily="34" charset="-122"/>
                <a:cs typeface="Calibri" pitchFamily="34" charset="-120"/>
              </a:rPr>
              <a:t>Performance Testing Types</a:t>
            </a:r>
            <a:endParaRPr lang="en-US" dirty="0"/>
          </a:p>
        </p:txBody>
      </p:sp>
      <p:sp>
        <p:nvSpPr>
          <p:cNvPr id="7" name="Shape 5"/>
          <p:cNvSpPr/>
          <p:nvPr/>
        </p:nvSpPr>
        <p:spPr>
          <a:xfrm>
            <a:off x="320040" y="2411730"/>
            <a:ext cx="5303520" cy="438912"/>
          </a:xfrm>
          <a:prstGeom prst="rect">
            <a:avLst/>
          </a:prstGeom>
          <a:solidFill>
            <a:srgbClr val="FFFFFF"/>
          </a:solidFill>
          <a:ln w="12700">
            <a:solidFill>
              <a:srgbClr val="E2EAF4"/>
            </a:solidFill>
            <a:prstDash val="solid"/>
          </a:ln>
        </p:spPr>
        <p:txBody>
          <a:bodyPr/>
          <a:lstStyle/>
          <a:p>
            <a:endParaRPr lang="en-IN"/>
          </a:p>
        </p:txBody>
      </p:sp>
      <p:sp>
        <p:nvSpPr>
          <p:cNvPr id="8" name="Shape 6"/>
          <p:cNvSpPr/>
          <p:nvPr/>
        </p:nvSpPr>
        <p:spPr>
          <a:xfrm>
            <a:off x="320040" y="2411730"/>
            <a:ext cx="64008" cy="438912"/>
          </a:xfrm>
          <a:prstGeom prst="rect">
            <a:avLst/>
          </a:prstGeom>
          <a:solidFill>
            <a:srgbClr val="8B5CF6"/>
          </a:solidFill>
          <a:ln w="12700">
            <a:solidFill>
              <a:srgbClr val="8B5CF6"/>
            </a:solidFill>
            <a:prstDash val="solid"/>
          </a:ln>
        </p:spPr>
        <p:txBody>
          <a:bodyPr/>
          <a:lstStyle/>
          <a:p>
            <a:endParaRPr lang="en-IN"/>
          </a:p>
        </p:txBody>
      </p:sp>
      <p:sp>
        <p:nvSpPr>
          <p:cNvPr id="9" name="Text 7"/>
          <p:cNvSpPr/>
          <p:nvPr/>
        </p:nvSpPr>
        <p:spPr>
          <a:xfrm>
            <a:off x="502920" y="2439162"/>
            <a:ext cx="1371600" cy="201168"/>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Load Testing</a:t>
            </a:r>
            <a:endParaRPr lang="en-US" sz="1100" dirty="0"/>
          </a:p>
        </p:txBody>
      </p:sp>
      <p:sp>
        <p:nvSpPr>
          <p:cNvPr id="10" name="Text 8"/>
          <p:cNvSpPr/>
          <p:nvPr/>
        </p:nvSpPr>
        <p:spPr>
          <a:xfrm>
            <a:off x="502920" y="2622042"/>
            <a:ext cx="4937760" cy="201168"/>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Simulates concurrent users to find bottlenecks &amp; max capacity.</a:t>
            </a:r>
            <a:endParaRPr lang="en-US" sz="1000" dirty="0"/>
          </a:p>
        </p:txBody>
      </p:sp>
      <p:sp>
        <p:nvSpPr>
          <p:cNvPr id="11" name="Shape 9"/>
          <p:cNvSpPr/>
          <p:nvPr/>
        </p:nvSpPr>
        <p:spPr>
          <a:xfrm>
            <a:off x="320040" y="2887218"/>
            <a:ext cx="5303520" cy="438912"/>
          </a:xfrm>
          <a:prstGeom prst="rect">
            <a:avLst/>
          </a:prstGeom>
          <a:solidFill>
            <a:srgbClr val="FFFFFF"/>
          </a:solidFill>
          <a:ln w="12700">
            <a:solidFill>
              <a:srgbClr val="E2EAF4"/>
            </a:solidFill>
            <a:prstDash val="solid"/>
          </a:ln>
        </p:spPr>
        <p:txBody>
          <a:bodyPr/>
          <a:lstStyle/>
          <a:p>
            <a:endParaRPr lang="en-IN"/>
          </a:p>
        </p:txBody>
      </p:sp>
      <p:sp>
        <p:nvSpPr>
          <p:cNvPr id="12" name="Shape 10"/>
          <p:cNvSpPr/>
          <p:nvPr/>
        </p:nvSpPr>
        <p:spPr>
          <a:xfrm>
            <a:off x="320040" y="2887218"/>
            <a:ext cx="64008" cy="438912"/>
          </a:xfrm>
          <a:prstGeom prst="rect">
            <a:avLst/>
          </a:prstGeom>
          <a:solidFill>
            <a:srgbClr val="8B5CF6"/>
          </a:solidFill>
          <a:ln w="12700">
            <a:solidFill>
              <a:srgbClr val="8B5CF6"/>
            </a:solidFill>
            <a:prstDash val="solid"/>
          </a:ln>
        </p:spPr>
        <p:txBody>
          <a:bodyPr/>
          <a:lstStyle/>
          <a:p>
            <a:endParaRPr lang="en-IN"/>
          </a:p>
        </p:txBody>
      </p:sp>
      <p:sp>
        <p:nvSpPr>
          <p:cNvPr id="13" name="Text 11"/>
          <p:cNvSpPr/>
          <p:nvPr/>
        </p:nvSpPr>
        <p:spPr>
          <a:xfrm>
            <a:off x="502920" y="2914650"/>
            <a:ext cx="1371600" cy="201168"/>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Stress Testing</a:t>
            </a:r>
            <a:endParaRPr lang="en-US" sz="1100" dirty="0"/>
          </a:p>
        </p:txBody>
      </p:sp>
      <p:sp>
        <p:nvSpPr>
          <p:cNvPr id="14" name="Text 12"/>
          <p:cNvSpPr/>
          <p:nvPr/>
        </p:nvSpPr>
        <p:spPr>
          <a:xfrm>
            <a:off x="502920" y="3097530"/>
            <a:ext cx="4937760" cy="201168"/>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Tests beyond normal load to verify stability under extreme conditions.</a:t>
            </a:r>
            <a:endParaRPr lang="en-US" sz="1000" dirty="0"/>
          </a:p>
        </p:txBody>
      </p:sp>
      <p:sp>
        <p:nvSpPr>
          <p:cNvPr id="15" name="Shape 13"/>
          <p:cNvSpPr/>
          <p:nvPr/>
        </p:nvSpPr>
        <p:spPr>
          <a:xfrm>
            <a:off x="320040" y="3362706"/>
            <a:ext cx="5303520" cy="438912"/>
          </a:xfrm>
          <a:prstGeom prst="rect">
            <a:avLst/>
          </a:prstGeom>
          <a:solidFill>
            <a:srgbClr val="FFFFFF"/>
          </a:solidFill>
          <a:ln w="12700">
            <a:solidFill>
              <a:srgbClr val="E2EAF4"/>
            </a:solidFill>
            <a:prstDash val="solid"/>
          </a:ln>
        </p:spPr>
        <p:txBody>
          <a:bodyPr/>
          <a:lstStyle/>
          <a:p>
            <a:endParaRPr lang="en-IN"/>
          </a:p>
        </p:txBody>
      </p:sp>
      <p:sp>
        <p:nvSpPr>
          <p:cNvPr id="16" name="Shape 14"/>
          <p:cNvSpPr/>
          <p:nvPr/>
        </p:nvSpPr>
        <p:spPr>
          <a:xfrm>
            <a:off x="320040" y="3362706"/>
            <a:ext cx="64008" cy="438912"/>
          </a:xfrm>
          <a:prstGeom prst="rect">
            <a:avLst/>
          </a:prstGeom>
          <a:solidFill>
            <a:srgbClr val="8B5CF6"/>
          </a:solidFill>
          <a:ln w="12700">
            <a:solidFill>
              <a:srgbClr val="8B5CF6"/>
            </a:solidFill>
            <a:prstDash val="solid"/>
          </a:ln>
        </p:spPr>
        <p:txBody>
          <a:bodyPr/>
          <a:lstStyle/>
          <a:p>
            <a:endParaRPr lang="en-IN"/>
          </a:p>
        </p:txBody>
      </p:sp>
      <p:sp>
        <p:nvSpPr>
          <p:cNvPr id="17" name="Text 15"/>
          <p:cNvSpPr/>
          <p:nvPr/>
        </p:nvSpPr>
        <p:spPr>
          <a:xfrm>
            <a:off x="502920" y="3390138"/>
            <a:ext cx="1371600" cy="201168"/>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Spike Testing</a:t>
            </a:r>
            <a:endParaRPr lang="en-US" sz="1100" dirty="0"/>
          </a:p>
        </p:txBody>
      </p:sp>
      <p:sp>
        <p:nvSpPr>
          <p:cNvPr id="18" name="Text 16"/>
          <p:cNvSpPr/>
          <p:nvPr/>
        </p:nvSpPr>
        <p:spPr>
          <a:xfrm>
            <a:off x="502920" y="3573018"/>
            <a:ext cx="4937760" cy="201168"/>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Handles sudden large traffic bursts — identifies crash risks.</a:t>
            </a:r>
            <a:endParaRPr lang="en-US" sz="1000" dirty="0"/>
          </a:p>
        </p:txBody>
      </p:sp>
      <p:sp>
        <p:nvSpPr>
          <p:cNvPr id="19" name="Shape 17"/>
          <p:cNvSpPr/>
          <p:nvPr/>
        </p:nvSpPr>
        <p:spPr>
          <a:xfrm>
            <a:off x="320040" y="3838194"/>
            <a:ext cx="5303520" cy="438912"/>
          </a:xfrm>
          <a:prstGeom prst="rect">
            <a:avLst/>
          </a:prstGeom>
          <a:solidFill>
            <a:srgbClr val="FFFFFF"/>
          </a:solidFill>
          <a:ln w="12700">
            <a:solidFill>
              <a:srgbClr val="E2EAF4"/>
            </a:solidFill>
            <a:prstDash val="solid"/>
          </a:ln>
        </p:spPr>
        <p:txBody>
          <a:bodyPr/>
          <a:lstStyle/>
          <a:p>
            <a:endParaRPr lang="en-IN"/>
          </a:p>
        </p:txBody>
      </p:sp>
      <p:sp>
        <p:nvSpPr>
          <p:cNvPr id="20" name="Shape 18"/>
          <p:cNvSpPr/>
          <p:nvPr/>
        </p:nvSpPr>
        <p:spPr>
          <a:xfrm>
            <a:off x="320040" y="3838194"/>
            <a:ext cx="64008" cy="438912"/>
          </a:xfrm>
          <a:prstGeom prst="rect">
            <a:avLst/>
          </a:prstGeom>
          <a:solidFill>
            <a:srgbClr val="8B5CF6"/>
          </a:solidFill>
          <a:ln w="12700">
            <a:solidFill>
              <a:srgbClr val="8B5CF6"/>
            </a:solidFill>
            <a:prstDash val="solid"/>
          </a:ln>
        </p:spPr>
        <p:txBody>
          <a:bodyPr/>
          <a:lstStyle/>
          <a:p>
            <a:endParaRPr lang="en-IN"/>
          </a:p>
        </p:txBody>
      </p:sp>
      <p:sp>
        <p:nvSpPr>
          <p:cNvPr id="21" name="Text 19"/>
          <p:cNvSpPr/>
          <p:nvPr/>
        </p:nvSpPr>
        <p:spPr>
          <a:xfrm>
            <a:off x="502920" y="3865626"/>
            <a:ext cx="1371600" cy="201168"/>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Scalability Testing</a:t>
            </a:r>
            <a:endParaRPr lang="en-US" sz="1100" dirty="0"/>
          </a:p>
        </p:txBody>
      </p:sp>
      <p:sp>
        <p:nvSpPr>
          <p:cNvPr id="22" name="Text 20"/>
          <p:cNvSpPr/>
          <p:nvPr/>
        </p:nvSpPr>
        <p:spPr>
          <a:xfrm>
            <a:off x="502920" y="4048506"/>
            <a:ext cx="4937760" cy="201168"/>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Evaluates scale-up/down capability under varying user loads.</a:t>
            </a:r>
            <a:endParaRPr lang="en-US" sz="1000" dirty="0"/>
          </a:p>
        </p:txBody>
      </p:sp>
      <p:sp>
        <p:nvSpPr>
          <p:cNvPr id="23" name="Shape 21"/>
          <p:cNvSpPr/>
          <p:nvPr/>
        </p:nvSpPr>
        <p:spPr>
          <a:xfrm>
            <a:off x="320040" y="4313682"/>
            <a:ext cx="5303520" cy="438912"/>
          </a:xfrm>
          <a:prstGeom prst="rect">
            <a:avLst/>
          </a:prstGeom>
          <a:solidFill>
            <a:srgbClr val="FFFFFF"/>
          </a:solidFill>
          <a:ln w="12700">
            <a:solidFill>
              <a:srgbClr val="E2EAF4"/>
            </a:solidFill>
            <a:prstDash val="solid"/>
          </a:ln>
        </p:spPr>
        <p:txBody>
          <a:bodyPr/>
          <a:lstStyle/>
          <a:p>
            <a:endParaRPr lang="en-IN"/>
          </a:p>
        </p:txBody>
      </p:sp>
      <p:sp>
        <p:nvSpPr>
          <p:cNvPr id="24" name="Shape 22"/>
          <p:cNvSpPr/>
          <p:nvPr/>
        </p:nvSpPr>
        <p:spPr>
          <a:xfrm>
            <a:off x="320040" y="4313682"/>
            <a:ext cx="64008" cy="438912"/>
          </a:xfrm>
          <a:prstGeom prst="rect">
            <a:avLst/>
          </a:prstGeom>
          <a:solidFill>
            <a:srgbClr val="8B5CF6"/>
          </a:solidFill>
          <a:ln w="12700">
            <a:solidFill>
              <a:srgbClr val="8B5CF6"/>
            </a:solidFill>
            <a:prstDash val="solid"/>
          </a:ln>
        </p:spPr>
        <p:txBody>
          <a:bodyPr/>
          <a:lstStyle/>
          <a:p>
            <a:endParaRPr lang="en-IN"/>
          </a:p>
        </p:txBody>
      </p:sp>
      <p:sp>
        <p:nvSpPr>
          <p:cNvPr id="25" name="Text 23"/>
          <p:cNvSpPr/>
          <p:nvPr/>
        </p:nvSpPr>
        <p:spPr>
          <a:xfrm>
            <a:off x="502920" y="4341114"/>
            <a:ext cx="1371600" cy="201168"/>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Endurance Testing</a:t>
            </a:r>
            <a:endParaRPr lang="en-US" sz="1100" dirty="0"/>
          </a:p>
        </p:txBody>
      </p:sp>
      <p:sp>
        <p:nvSpPr>
          <p:cNvPr id="26" name="Text 24"/>
          <p:cNvSpPr/>
          <p:nvPr/>
        </p:nvSpPr>
        <p:spPr>
          <a:xfrm>
            <a:off x="502920" y="4523994"/>
            <a:ext cx="4937760" cy="201168"/>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Long-term load to find memory leaks and performance degradation.</a:t>
            </a:r>
            <a:endParaRPr lang="en-US" sz="1000" dirty="0"/>
          </a:p>
        </p:txBody>
      </p:sp>
      <p:sp>
        <p:nvSpPr>
          <p:cNvPr id="27" name="Shape 25"/>
          <p:cNvSpPr/>
          <p:nvPr/>
        </p:nvSpPr>
        <p:spPr>
          <a:xfrm>
            <a:off x="320040" y="4789170"/>
            <a:ext cx="5303520" cy="438912"/>
          </a:xfrm>
          <a:prstGeom prst="rect">
            <a:avLst/>
          </a:prstGeom>
          <a:solidFill>
            <a:srgbClr val="FFFFFF"/>
          </a:solidFill>
          <a:ln w="12700">
            <a:solidFill>
              <a:srgbClr val="E2EAF4"/>
            </a:solidFill>
            <a:prstDash val="solid"/>
          </a:ln>
        </p:spPr>
        <p:txBody>
          <a:bodyPr/>
          <a:lstStyle/>
          <a:p>
            <a:endParaRPr lang="en-IN"/>
          </a:p>
        </p:txBody>
      </p:sp>
      <p:sp>
        <p:nvSpPr>
          <p:cNvPr id="28" name="Shape 26"/>
          <p:cNvSpPr/>
          <p:nvPr/>
        </p:nvSpPr>
        <p:spPr>
          <a:xfrm>
            <a:off x="320040" y="4789170"/>
            <a:ext cx="64008" cy="438912"/>
          </a:xfrm>
          <a:prstGeom prst="rect">
            <a:avLst/>
          </a:prstGeom>
          <a:solidFill>
            <a:srgbClr val="8B5CF6"/>
          </a:solidFill>
          <a:ln w="12700">
            <a:solidFill>
              <a:srgbClr val="8B5CF6"/>
            </a:solidFill>
            <a:prstDash val="solid"/>
          </a:ln>
        </p:spPr>
        <p:txBody>
          <a:bodyPr/>
          <a:lstStyle/>
          <a:p>
            <a:endParaRPr lang="en-IN"/>
          </a:p>
        </p:txBody>
      </p:sp>
      <p:sp>
        <p:nvSpPr>
          <p:cNvPr id="29" name="Text 27"/>
          <p:cNvSpPr/>
          <p:nvPr/>
        </p:nvSpPr>
        <p:spPr>
          <a:xfrm>
            <a:off x="502920" y="4816602"/>
            <a:ext cx="1371600" cy="201168"/>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Soak Testing</a:t>
            </a:r>
            <a:endParaRPr lang="en-US" sz="1100" dirty="0"/>
          </a:p>
        </p:txBody>
      </p:sp>
      <p:sp>
        <p:nvSpPr>
          <p:cNvPr id="30" name="Text 28"/>
          <p:cNvSpPr/>
          <p:nvPr/>
        </p:nvSpPr>
        <p:spPr>
          <a:xfrm>
            <a:off x="502920" y="4999482"/>
            <a:ext cx="4937760" cy="201168"/>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Sustained load over prolonged period to find hidden weaknesses.</a:t>
            </a:r>
            <a:endParaRPr lang="en-US" sz="1000" dirty="0"/>
          </a:p>
        </p:txBody>
      </p:sp>
      <p:sp>
        <p:nvSpPr>
          <p:cNvPr id="31" name="Shape 29"/>
          <p:cNvSpPr/>
          <p:nvPr/>
        </p:nvSpPr>
        <p:spPr>
          <a:xfrm>
            <a:off x="320040" y="5264658"/>
            <a:ext cx="5303520" cy="438912"/>
          </a:xfrm>
          <a:prstGeom prst="rect">
            <a:avLst/>
          </a:prstGeom>
          <a:solidFill>
            <a:srgbClr val="FFFFFF"/>
          </a:solidFill>
          <a:ln w="12700">
            <a:solidFill>
              <a:srgbClr val="E2EAF4"/>
            </a:solidFill>
            <a:prstDash val="solid"/>
          </a:ln>
        </p:spPr>
        <p:txBody>
          <a:bodyPr/>
          <a:lstStyle/>
          <a:p>
            <a:endParaRPr lang="en-IN"/>
          </a:p>
        </p:txBody>
      </p:sp>
      <p:sp>
        <p:nvSpPr>
          <p:cNvPr id="32" name="Shape 30"/>
          <p:cNvSpPr/>
          <p:nvPr/>
        </p:nvSpPr>
        <p:spPr>
          <a:xfrm>
            <a:off x="320040" y="5264658"/>
            <a:ext cx="64008" cy="438912"/>
          </a:xfrm>
          <a:prstGeom prst="rect">
            <a:avLst/>
          </a:prstGeom>
          <a:solidFill>
            <a:srgbClr val="8B5CF6"/>
          </a:solidFill>
          <a:ln w="12700">
            <a:solidFill>
              <a:srgbClr val="8B5CF6"/>
            </a:solidFill>
            <a:prstDash val="solid"/>
          </a:ln>
        </p:spPr>
        <p:txBody>
          <a:bodyPr/>
          <a:lstStyle/>
          <a:p>
            <a:endParaRPr lang="en-IN"/>
          </a:p>
        </p:txBody>
      </p:sp>
      <p:sp>
        <p:nvSpPr>
          <p:cNvPr id="33" name="Text 31"/>
          <p:cNvSpPr/>
          <p:nvPr/>
        </p:nvSpPr>
        <p:spPr>
          <a:xfrm>
            <a:off x="502920" y="5292090"/>
            <a:ext cx="1371600" cy="201168"/>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Volume Testing</a:t>
            </a:r>
            <a:endParaRPr lang="en-US" sz="1100" dirty="0"/>
          </a:p>
        </p:txBody>
      </p:sp>
      <p:sp>
        <p:nvSpPr>
          <p:cNvPr id="34" name="Text 32"/>
          <p:cNvSpPr/>
          <p:nvPr/>
        </p:nvSpPr>
        <p:spPr>
          <a:xfrm>
            <a:off x="502920" y="5474970"/>
            <a:ext cx="4937760" cy="201168"/>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Large database volumes to check system behavior at scale.</a:t>
            </a:r>
            <a:endParaRPr lang="en-US" sz="1000" dirty="0"/>
          </a:p>
        </p:txBody>
      </p:sp>
      <p:sp>
        <p:nvSpPr>
          <p:cNvPr id="35" name="Shape 33"/>
          <p:cNvSpPr/>
          <p:nvPr/>
        </p:nvSpPr>
        <p:spPr>
          <a:xfrm>
            <a:off x="5852160" y="1954530"/>
            <a:ext cx="3017520" cy="411480"/>
          </a:xfrm>
          <a:prstGeom prst="rect">
            <a:avLst/>
          </a:prstGeom>
          <a:solidFill>
            <a:srgbClr val="1A2B4A"/>
          </a:solidFill>
          <a:ln w="12700">
            <a:solidFill>
              <a:srgbClr val="1A2B4A"/>
            </a:solidFill>
            <a:prstDash val="solid"/>
          </a:ln>
        </p:spPr>
        <p:txBody>
          <a:bodyPr/>
          <a:lstStyle/>
          <a:p>
            <a:endParaRPr lang="en-IN"/>
          </a:p>
        </p:txBody>
      </p:sp>
      <p:sp>
        <p:nvSpPr>
          <p:cNvPr id="36" name="Text 34"/>
          <p:cNvSpPr/>
          <p:nvPr/>
        </p:nvSpPr>
        <p:spPr>
          <a:xfrm>
            <a:off x="5852160" y="1954530"/>
            <a:ext cx="3017520" cy="411480"/>
          </a:xfrm>
          <a:prstGeom prst="rect">
            <a:avLst/>
          </a:prstGeom>
          <a:noFill/>
          <a:ln/>
        </p:spPr>
        <p:txBody>
          <a:bodyPr wrap="square" rtlCol="0" anchor="ctr"/>
          <a:lstStyle/>
          <a:p>
            <a:pPr algn="ctr"/>
            <a:r>
              <a:rPr lang="en-US" b="1" dirty="0">
                <a:solidFill>
                  <a:srgbClr val="FFFFFF"/>
                </a:solidFill>
                <a:latin typeface="Calibri" pitchFamily="34" charset="0"/>
                <a:ea typeface="Calibri" pitchFamily="34" charset="-122"/>
                <a:cs typeface="Calibri" pitchFamily="34" charset="-120"/>
              </a:rPr>
              <a:t>Other Key Tests</a:t>
            </a:r>
            <a:endParaRPr lang="en-US" dirty="0"/>
          </a:p>
        </p:txBody>
      </p:sp>
      <p:sp>
        <p:nvSpPr>
          <p:cNvPr id="37" name="Shape 35"/>
          <p:cNvSpPr/>
          <p:nvPr/>
        </p:nvSpPr>
        <p:spPr>
          <a:xfrm>
            <a:off x="5852160" y="2411730"/>
            <a:ext cx="3017520" cy="1115568"/>
          </a:xfrm>
          <a:prstGeom prst="rect">
            <a:avLst/>
          </a:prstGeom>
          <a:solidFill>
            <a:srgbClr val="FFFFFF"/>
          </a:solidFill>
          <a:ln w="12700">
            <a:solidFill>
              <a:srgbClr val="E2EAF4"/>
            </a:solidFill>
            <a:prstDash val="solid"/>
          </a:ln>
        </p:spPr>
        <p:txBody>
          <a:bodyPr/>
          <a:lstStyle/>
          <a:p>
            <a:endParaRPr lang="en-IN"/>
          </a:p>
        </p:txBody>
      </p:sp>
      <p:sp>
        <p:nvSpPr>
          <p:cNvPr id="38" name="Shape 36"/>
          <p:cNvSpPr/>
          <p:nvPr/>
        </p:nvSpPr>
        <p:spPr>
          <a:xfrm>
            <a:off x="5852160" y="2411730"/>
            <a:ext cx="3017520" cy="64008"/>
          </a:xfrm>
          <a:prstGeom prst="rect">
            <a:avLst/>
          </a:prstGeom>
          <a:solidFill>
            <a:srgbClr val="DC2626"/>
          </a:solidFill>
          <a:ln w="12700">
            <a:solidFill>
              <a:srgbClr val="DC2626"/>
            </a:solidFill>
            <a:prstDash val="solid"/>
          </a:ln>
        </p:spPr>
        <p:txBody>
          <a:bodyPr/>
          <a:lstStyle/>
          <a:p>
            <a:endParaRPr lang="en-IN"/>
          </a:p>
        </p:txBody>
      </p:sp>
      <p:sp>
        <p:nvSpPr>
          <p:cNvPr id="39" name="Text 37"/>
          <p:cNvSpPr/>
          <p:nvPr/>
        </p:nvSpPr>
        <p:spPr>
          <a:xfrm>
            <a:off x="5943600" y="2503170"/>
            <a:ext cx="2834640" cy="320040"/>
          </a:xfrm>
          <a:prstGeom prst="rect">
            <a:avLst/>
          </a:prstGeom>
          <a:noFill/>
          <a:ln/>
        </p:spPr>
        <p:txBody>
          <a:bodyPr wrap="square" rtlCol="0" anchor="ctr"/>
          <a:lstStyle/>
          <a:p>
            <a:r>
              <a:rPr lang="en-US" sz="1300" b="1" dirty="0">
                <a:solidFill>
                  <a:srgbClr val="DC2626"/>
                </a:solidFill>
                <a:latin typeface="Georgia" pitchFamily="34" charset="0"/>
                <a:ea typeface="Georgia" pitchFamily="34" charset="-122"/>
                <a:cs typeface="Georgia" pitchFamily="34" charset="-120"/>
              </a:rPr>
              <a:t>Security Testing</a:t>
            </a:r>
            <a:endParaRPr lang="en-US" sz="1300" dirty="0"/>
          </a:p>
        </p:txBody>
      </p:sp>
      <p:sp>
        <p:nvSpPr>
          <p:cNvPr id="40" name="Text 38"/>
          <p:cNvSpPr/>
          <p:nvPr/>
        </p:nvSpPr>
        <p:spPr>
          <a:xfrm>
            <a:off x="5943600" y="2832354"/>
            <a:ext cx="2834640" cy="68580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Uncovers vulnerabilities. Checks for compliance (HIPAA, PCI DSS). Prevents breaches.</a:t>
            </a:r>
            <a:endParaRPr lang="en-US" sz="1100" dirty="0"/>
          </a:p>
        </p:txBody>
      </p:sp>
      <p:sp>
        <p:nvSpPr>
          <p:cNvPr id="41" name="Shape 39"/>
          <p:cNvSpPr/>
          <p:nvPr/>
        </p:nvSpPr>
        <p:spPr>
          <a:xfrm>
            <a:off x="5852160" y="3618738"/>
            <a:ext cx="3017520" cy="1115568"/>
          </a:xfrm>
          <a:prstGeom prst="rect">
            <a:avLst/>
          </a:prstGeom>
          <a:solidFill>
            <a:srgbClr val="FFFFFF"/>
          </a:solidFill>
          <a:ln w="12700">
            <a:solidFill>
              <a:srgbClr val="E2EAF4"/>
            </a:solidFill>
            <a:prstDash val="solid"/>
          </a:ln>
        </p:spPr>
        <p:txBody>
          <a:bodyPr/>
          <a:lstStyle/>
          <a:p>
            <a:endParaRPr lang="en-IN"/>
          </a:p>
        </p:txBody>
      </p:sp>
      <p:sp>
        <p:nvSpPr>
          <p:cNvPr id="42" name="Shape 40"/>
          <p:cNvSpPr/>
          <p:nvPr/>
        </p:nvSpPr>
        <p:spPr>
          <a:xfrm>
            <a:off x="5852160" y="3618738"/>
            <a:ext cx="3017520" cy="64008"/>
          </a:xfrm>
          <a:prstGeom prst="rect">
            <a:avLst/>
          </a:prstGeom>
          <a:solidFill>
            <a:srgbClr val="059669"/>
          </a:solidFill>
          <a:ln w="12700">
            <a:solidFill>
              <a:srgbClr val="059669"/>
            </a:solidFill>
            <a:prstDash val="solid"/>
          </a:ln>
        </p:spPr>
        <p:txBody>
          <a:bodyPr/>
          <a:lstStyle/>
          <a:p>
            <a:endParaRPr lang="en-IN"/>
          </a:p>
        </p:txBody>
      </p:sp>
      <p:sp>
        <p:nvSpPr>
          <p:cNvPr id="43" name="Text 41"/>
          <p:cNvSpPr/>
          <p:nvPr/>
        </p:nvSpPr>
        <p:spPr>
          <a:xfrm>
            <a:off x="5943600" y="3710178"/>
            <a:ext cx="2834640" cy="320040"/>
          </a:xfrm>
          <a:prstGeom prst="rect">
            <a:avLst/>
          </a:prstGeom>
          <a:noFill/>
          <a:ln/>
        </p:spPr>
        <p:txBody>
          <a:bodyPr wrap="square" rtlCol="0" anchor="ctr"/>
          <a:lstStyle/>
          <a:p>
            <a:r>
              <a:rPr lang="en-US" sz="1300" b="1" dirty="0">
                <a:solidFill>
                  <a:srgbClr val="059669"/>
                </a:solidFill>
                <a:latin typeface="Georgia" pitchFamily="34" charset="0"/>
                <a:ea typeface="Georgia" pitchFamily="34" charset="-122"/>
                <a:cs typeface="Georgia" pitchFamily="34" charset="-120"/>
              </a:rPr>
              <a:t>Stability Testing</a:t>
            </a:r>
            <a:endParaRPr lang="en-US" sz="1300" dirty="0"/>
          </a:p>
        </p:txBody>
      </p:sp>
      <p:sp>
        <p:nvSpPr>
          <p:cNvPr id="44" name="Text 42"/>
          <p:cNvSpPr/>
          <p:nvPr/>
        </p:nvSpPr>
        <p:spPr>
          <a:xfrm>
            <a:off x="5943600" y="4039362"/>
            <a:ext cx="2834640" cy="68580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Ensures system functions over time without failure under different environment parameters.</a:t>
            </a:r>
            <a:endParaRPr lang="en-US" sz="1100" dirty="0"/>
          </a:p>
        </p:txBody>
      </p:sp>
      <p:sp>
        <p:nvSpPr>
          <p:cNvPr id="45" name="Shape 43"/>
          <p:cNvSpPr/>
          <p:nvPr/>
        </p:nvSpPr>
        <p:spPr>
          <a:xfrm>
            <a:off x="5852160" y="4825746"/>
            <a:ext cx="3017520" cy="1115568"/>
          </a:xfrm>
          <a:prstGeom prst="rect">
            <a:avLst/>
          </a:prstGeom>
          <a:solidFill>
            <a:srgbClr val="FFFFFF"/>
          </a:solidFill>
          <a:ln w="12700">
            <a:solidFill>
              <a:srgbClr val="E2EAF4"/>
            </a:solidFill>
            <a:prstDash val="solid"/>
          </a:ln>
        </p:spPr>
        <p:txBody>
          <a:bodyPr/>
          <a:lstStyle/>
          <a:p>
            <a:endParaRPr lang="en-IN"/>
          </a:p>
        </p:txBody>
      </p:sp>
      <p:sp>
        <p:nvSpPr>
          <p:cNvPr id="46" name="Shape 44"/>
          <p:cNvSpPr/>
          <p:nvPr/>
        </p:nvSpPr>
        <p:spPr>
          <a:xfrm>
            <a:off x="5852160" y="4825746"/>
            <a:ext cx="3017520" cy="64008"/>
          </a:xfrm>
          <a:prstGeom prst="rect">
            <a:avLst/>
          </a:prstGeom>
          <a:solidFill>
            <a:srgbClr val="D97706"/>
          </a:solidFill>
          <a:ln w="12700">
            <a:solidFill>
              <a:srgbClr val="D97706"/>
            </a:solidFill>
            <a:prstDash val="solid"/>
          </a:ln>
        </p:spPr>
        <p:txBody>
          <a:bodyPr/>
          <a:lstStyle/>
          <a:p>
            <a:endParaRPr lang="en-IN"/>
          </a:p>
        </p:txBody>
      </p:sp>
      <p:sp>
        <p:nvSpPr>
          <p:cNvPr id="47" name="Text 45"/>
          <p:cNvSpPr/>
          <p:nvPr/>
        </p:nvSpPr>
        <p:spPr>
          <a:xfrm>
            <a:off x="5943600" y="4917186"/>
            <a:ext cx="2834640" cy="320040"/>
          </a:xfrm>
          <a:prstGeom prst="rect">
            <a:avLst/>
          </a:prstGeom>
          <a:noFill/>
          <a:ln/>
        </p:spPr>
        <p:txBody>
          <a:bodyPr wrap="square" rtlCol="0" anchor="ctr"/>
          <a:lstStyle/>
          <a:p>
            <a:r>
              <a:rPr lang="en-US" sz="1300" b="1" dirty="0">
                <a:solidFill>
                  <a:srgbClr val="D97706"/>
                </a:solidFill>
                <a:latin typeface="Georgia" pitchFamily="34" charset="0"/>
                <a:ea typeface="Georgia" pitchFamily="34" charset="-122"/>
                <a:cs typeface="Georgia" pitchFamily="34" charset="-120"/>
              </a:rPr>
              <a:t>Compatibility Testing</a:t>
            </a:r>
            <a:endParaRPr lang="en-US" sz="1300" dirty="0"/>
          </a:p>
        </p:txBody>
      </p:sp>
      <p:sp>
        <p:nvSpPr>
          <p:cNvPr id="48" name="Text 46"/>
          <p:cNvSpPr/>
          <p:nvPr/>
        </p:nvSpPr>
        <p:spPr>
          <a:xfrm>
            <a:off x="5943600" y="5246370"/>
            <a:ext cx="2834640" cy="68580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Verifies app runs on all platforms, devices &amp; browsers consistently.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1005840"/>
          </a:xfrm>
          <a:prstGeom prst="rect">
            <a:avLst/>
          </a:prstGeom>
          <a:solidFill>
            <a:srgbClr val="0D7377"/>
          </a:solidFill>
          <a:ln w="12700">
            <a:solidFill>
              <a:srgbClr val="0D7377"/>
            </a:solidFill>
            <a:prstDash val="solid"/>
          </a:ln>
        </p:spPr>
        <p:txBody>
          <a:bodyPr/>
          <a:lstStyle/>
          <a:p>
            <a:endParaRPr lang="en-IN"/>
          </a:p>
        </p:txBody>
      </p:sp>
      <p:sp>
        <p:nvSpPr>
          <p:cNvPr id="3" name="Text 1"/>
          <p:cNvSpPr/>
          <p:nvPr/>
        </p:nvSpPr>
        <p:spPr>
          <a:xfrm>
            <a:off x="365760" y="994410"/>
            <a:ext cx="8229600" cy="685800"/>
          </a:xfrm>
          <a:prstGeom prst="rect">
            <a:avLst/>
          </a:prstGeom>
          <a:noFill/>
          <a:ln/>
        </p:spPr>
        <p:txBody>
          <a:bodyPr wrap="square" rtlCol="0" anchor="ctr"/>
          <a:lstStyle/>
          <a:p>
            <a:r>
              <a:rPr lang="en-US" sz="2800" b="1" dirty="0">
                <a:solidFill>
                  <a:srgbClr val="FFFFFF"/>
                </a:solidFill>
                <a:latin typeface="Georgia" pitchFamily="34" charset="0"/>
                <a:ea typeface="Georgia" pitchFamily="34" charset="-122"/>
                <a:cs typeface="Georgia" pitchFamily="34" charset="-120"/>
              </a:rPr>
              <a:t>White Box Testing — Deep Dive</a:t>
            </a:r>
            <a:endParaRPr lang="en-US" sz="2800" dirty="0"/>
          </a:p>
        </p:txBody>
      </p:sp>
      <p:sp>
        <p:nvSpPr>
          <p:cNvPr id="4" name="Shape 2"/>
          <p:cNvSpPr/>
          <p:nvPr/>
        </p:nvSpPr>
        <p:spPr>
          <a:xfrm>
            <a:off x="228600" y="1954530"/>
            <a:ext cx="2697480" cy="1600200"/>
          </a:xfrm>
          <a:prstGeom prst="rect">
            <a:avLst/>
          </a:prstGeom>
          <a:solidFill>
            <a:srgbClr val="FFFFFF"/>
          </a:solidFill>
          <a:ln w="12700">
            <a:solidFill>
              <a:srgbClr val="E2EAF4"/>
            </a:solidFill>
            <a:prstDash val="solid"/>
          </a:ln>
          <a:effectLst>
            <a:outerShdw blurRad="63500" dist="25400" dir="8100000" algn="bl" rotWithShape="0">
              <a:srgbClr val="000000">
                <a:alpha val="7000"/>
              </a:srgbClr>
            </a:outerShdw>
          </a:effectLst>
        </p:spPr>
        <p:txBody>
          <a:bodyPr/>
          <a:lstStyle/>
          <a:p>
            <a:endParaRPr lang="en-IN"/>
          </a:p>
        </p:txBody>
      </p:sp>
      <p:sp>
        <p:nvSpPr>
          <p:cNvPr id="5" name="Shape 3"/>
          <p:cNvSpPr/>
          <p:nvPr/>
        </p:nvSpPr>
        <p:spPr>
          <a:xfrm>
            <a:off x="228600" y="1954530"/>
            <a:ext cx="64008" cy="1600200"/>
          </a:xfrm>
          <a:prstGeom prst="rect">
            <a:avLst/>
          </a:prstGeom>
          <a:solidFill>
            <a:srgbClr val="0D7377"/>
          </a:solidFill>
          <a:ln w="12700">
            <a:solidFill>
              <a:srgbClr val="0D7377"/>
            </a:solidFill>
            <a:prstDash val="solid"/>
          </a:ln>
        </p:spPr>
        <p:txBody>
          <a:bodyPr/>
          <a:lstStyle/>
          <a:p>
            <a:endParaRPr lang="en-IN"/>
          </a:p>
        </p:txBody>
      </p:sp>
      <p:sp>
        <p:nvSpPr>
          <p:cNvPr id="6" name="Text 4"/>
          <p:cNvSpPr/>
          <p:nvPr/>
        </p:nvSpPr>
        <p:spPr>
          <a:xfrm>
            <a:off x="411480" y="2091690"/>
            <a:ext cx="2423160" cy="411480"/>
          </a:xfrm>
          <a:prstGeom prst="rect">
            <a:avLst/>
          </a:prstGeom>
          <a:noFill/>
          <a:ln/>
        </p:spPr>
        <p:txBody>
          <a:bodyPr wrap="square" rtlCol="0" anchor="ctr"/>
          <a:lstStyle/>
          <a:p>
            <a:r>
              <a:rPr lang="en-US" sz="1300" b="1" dirty="0">
                <a:solidFill>
                  <a:srgbClr val="1A2B4A"/>
                </a:solidFill>
                <a:latin typeface="Calibri" pitchFamily="34" charset="0"/>
                <a:ea typeface="Calibri" pitchFamily="34" charset="-122"/>
                <a:cs typeface="Calibri" pitchFamily="34" charset="-120"/>
              </a:rPr>
              <a:t>🛤️  Path Testing</a:t>
            </a:r>
            <a:endParaRPr lang="en-US" sz="1300" dirty="0"/>
          </a:p>
        </p:txBody>
      </p:sp>
      <p:sp>
        <p:nvSpPr>
          <p:cNvPr id="7" name="Text 5"/>
          <p:cNvSpPr/>
          <p:nvPr/>
        </p:nvSpPr>
        <p:spPr>
          <a:xfrm>
            <a:off x="411480" y="2548890"/>
            <a:ext cx="2423160" cy="914400"/>
          </a:xfrm>
          <a:prstGeom prst="rect">
            <a:avLst/>
          </a:prstGeom>
          <a:noFill/>
          <a:ln/>
        </p:spPr>
        <p:txBody>
          <a:bodyPr wrap="square" rtlCol="0" anchor="ctr"/>
          <a:lstStyle/>
          <a:p>
            <a:r>
              <a:rPr lang="en-US" sz="1150" dirty="0">
                <a:solidFill>
                  <a:srgbClr val="64748B"/>
                </a:solidFill>
                <a:latin typeface="Calibri" pitchFamily="34" charset="0"/>
                <a:ea typeface="Calibri" pitchFamily="34" charset="-122"/>
                <a:cs typeface="Calibri" pitchFamily="34" charset="-120"/>
              </a:rPr>
              <a:t>Checks all possible execution paths in the program. Reduces redundant tests and focuses on code logic.</a:t>
            </a:r>
            <a:endParaRPr lang="en-US" sz="1150" dirty="0"/>
          </a:p>
        </p:txBody>
      </p:sp>
      <p:sp>
        <p:nvSpPr>
          <p:cNvPr id="8" name="Shape 6"/>
          <p:cNvSpPr/>
          <p:nvPr/>
        </p:nvSpPr>
        <p:spPr>
          <a:xfrm>
            <a:off x="3040380" y="1954530"/>
            <a:ext cx="2697480" cy="1600200"/>
          </a:xfrm>
          <a:prstGeom prst="rect">
            <a:avLst/>
          </a:prstGeom>
          <a:solidFill>
            <a:srgbClr val="FFFFFF"/>
          </a:solidFill>
          <a:ln w="12700">
            <a:solidFill>
              <a:srgbClr val="E2EAF4"/>
            </a:solidFill>
            <a:prstDash val="solid"/>
          </a:ln>
          <a:effectLst>
            <a:outerShdw blurRad="63500" dist="25400" dir="8100000" algn="bl" rotWithShape="0">
              <a:srgbClr val="000000">
                <a:alpha val="7000"/>
              </a:srgbClr>
            </a:outerShdw>
          </a:effectLst>
        </p:spPr>
        <p:txBody>
          <a:bodyPr/>
          <a:lstStyle/>
          <a:p>
            <a:endParaRPr lang="en-IN"/>
          </a:p>
        </p:txBody>
      </p:sp>
      <p:sp>
        <p:nvSpPr>
          <p:cNvPr id="9" name="Shape 7"/>
          <p:cNvSpPr/>
          <p:nvPr/>
        </p:nvSpPr>
        <p:spPr>
          <a:xfrm>
            <a:off x="3040380" y="1954530"/>
            <a:ext cx="64008" cy="1600200"/>
          </a:xfrm>
          <a:prstGeom prst="rect">
            <a:avLst/>
          </a:prstGeom>
          <a:solidFill>
            <a:srgbClr val="0D7377"/>
          </a:solidFill>
          <a:ln w="12700">
            <a:solidFill>
              <a:srgbClr val="0D7377"/>
            </a:solidFill>
            <a:prstDash val="solid"/>
          </a:ln>
        </p:spPr>
        <p:txBody>
          <a:bodyPr/>
          <a:lstStyle/>
          <a:p>
            <a:endParaRPr lang="en-IN"/>
          </a:p>
        </p:txBody>
      </p:sp>
      <p:sp>
        <p:nvSpPr>
          <p:cNvPr id="10" name="Text 8"/>
          <p:cNvSpPr/>
          <p:nvPr/>
        </p:nvSpPr>
        <p:spPr>
          <a:xfrm>
            <a:off x="3223260" y="2091690"/>
            <a:ext cx="2423160" cy="411480"/>
          </a:xfrm>
          <a:prstGeom prst="rect">
            <a:avLst/>
          </a:prstGeom>
          <a:noFill/>
          <a:ln/>
        </p:spPr>
        <p:txBody>
          <a:bodyPr wrap="square" rtlCol="0" anchor="ctr"/>
          <a:lstStyle/>
          <a:p>
            <a:r>
              <a:rPr lang="en-US" sz="1300" b="1" dirty="0">
                <a:solidFill>
                  <a:srgbClr val="1A2B4A"/>
                </a:solidFill>
                <a:latin typeface="Calibri" pitchFamily="34" charset="0"/>
                <a:ea typeface="Calibri" pitchFamily="34" charset="-122"/>
                <a:cs typeface="Calibri" pitchFamily="34" charset="-120"/>
              </a:rPr>
              <a:t>🔁  Loop Testing</a:t>
            </a:r>
            <a:endParaRPr lang="en-US" sz="1300" dirty="0"/>
          </a:p>
        </p:txBody>
      </p:sp>
      <p:sp>
        <p:nvSpPr>
          <p:cNvPr id="11" name="Text 9"/>
          <p:cNvSpPr/>
          <p:nvPr/>
        </p:nvSpPr>
        <p:spPr>
          <a:xfrm>
            <a:off x="3223260" y="2548890"/>
            <a:ext cx="2423160" cy="914400"/>
          </a:xfrm>
          <a:prstGeom prst="rect">
            <a:avLst/>
          </a:prstGeom>
          <a:noFill/>
          <a:ln/>
        </p:spPr>
        <p:txBody>
          <a:bodyPr wrap="square" rtlCol="0" anchor="ctr"/>
          <a:lstStyle/>
          <a:p>
            <a:r>
              <a:rPr lang="en-US" sz="1150" dirty="0">
                <a:solidFill>
                  <a:srgbClr val="64748B"/>
                </a:solidFill>
                <a:latin typeface="Calibri" pitchFamily="34" charset="0"/>
                <a:ea typeface="Calibri" pitchFamily="34" charset="-122"/>
                <a:cs typeface="Calibri" pitchFamily="34" charset="-120"/>
              </a:rPr>
              <a:t>Validates loops (for/while) in code. Ensures no infinite loops, correct variable handling inside loops.</a:t>
            </a:r>
            <a:endParaRPr lang="en-US" sz="1150" dirty="0"/>
          </a:p>
        </p:txBody>
      </p:sp>
      <p:sp>
        <p:nvSpPr>
          <p:cNvPr id="12" name="Shape 10"/>
          <p:cNvSpPr/>
          <p:nvPr/>
        </p:nvSpPr>
        <p:spPr>
          <a:xfrm>
            <a:off x="5852160" y="1954530"/>
            <a:ext cx="2697480" cy="1600200"/>
          </a:xfrm>
          <a:prstGeom prst="rect">
            <a:avLst/>
          </a:prstGeom>
          <a:solidFill>
            <a:srgbClr val="FFFFFF"/>
          </a:solidFill>
          <a:ln w="12700">
            <a:solidFill>
              <a:srgbClr val="E2EAF4"/>
            </a:solidFill>
            <a:prstDash val="solid"/>
          </a:ln>
          <a:effectLst>
            <a:outerShdw blurRad="63500" dist="25400" dir="8100000" algn="bl" rotWithShape="0">
              <a:srgbClr val="000000">
                <a:alpha val="7000"/>
              </a:srgbClr>
            </a:outerShdw>
          </a:effectLst>
        </p:spPr>
        <p:txBody>
          <a:bodyPr/>
          <a:lstStyle/>
          <a:p>
            <a:endParaRPr lang="en-IN"/>
          </a:p>
        </p:txBody>
      </p:sp>
      <p:sp>
        <p:nvSpPr>
          <p:cNvPr id="13" name="Shape 11"/>
          <p:cNvSpPr/>
          <p:nvPr/>
        </p:nvSpPr>
        <p:spPr>
          <a:xfrm>
            <a:off x="5852160" y="1954530"/>
            <a:ext cx="64008" cy="1600200"/>
          </a:xfrm>
          <a:prstGeom prst="rect">
            <a:avLst/>
          </a:prstGeom>
          <a:solidFill>
            <a:srgbClr val="0D7377"/>
          </a:solidFill>
          <a:ln w="12700">
            <a:solidFill>
              <a:srgbClr val="0D7377"/>
            </a:solidFill>
            <a:prstDash val="solid"/>
          </a:ln>
        </p:spPr>
        <p:txBody>
          <a:bodyPr/>
          <a:lstStyle/>
          <a:p>
            <a:endParaRPr lang="en-IN"/>
          </a:p>
        </p:txBody>
      </p:sp>
      <p:sp>
        <p:nvSpPr>
          <p:cNvPr id="14" name="Text 12"/>
          <p:cNvSpPr/>
          <p:nvPr/>
        </p:nvSpPr>
        <p:spPr>
          <a:xfrm>
            <a:off x="6035040" y="2091690"/>
            <a:ext cx="2423160" cy="411480"/>
          </a:xfrm>
          <a:prstGeom prst="rect">
            <a:avLst/>
          </a:prstGeom>
          <a:noFill/>
          <a:ln/>
        </p:spPr>
        <p:txBody>
          <a:bodyPr wrap="square" rtlCol="0" anchor="ctr"/>
          <a:lstStyle/>
          <a:p>
            <a:r>
              <a:rPr lang="en-US" sz="1300" b="1" dirty="0">
                <a:solidFill>
                  <a:srgbClr val="1A2B4A"/>
                </a:solidFill>
                <a:latin typeface="Calibri" pitchFamily="34" charset="0"/>
                <a:ea typeface="Calibri" pitchFamily="34" charset="-122"/>
                <a:cs typeface="Calibri" pitchFamily="34" charset="-120"/>
              </a:rPr>
              <a:t>🧩  Unit Testing</a:t>
            </a:r>
            <a:endParaRPr lang="en-US" sz="1300" dirty="0"/>
          </a:p>
        </p:txBody>
      </p:sp>
      <p:sp>
        <p:nvSpPr>
          <p:cNvPr id="15" name="Text 13"/>
          <p:cNvSpPr/>
          <p:nvPr/>
        </p:nvSpPr>
        <p:spPr>
          <a:xfrm>
            <a:off x="6035040" y="2548890"/>
            <a:ext cx="2423160" cy="914400"/>
          </a:xfrm>
          <a:prstGeom prst="rect">
            <a:avLst/>
          </a:prstGeom>
          <a:noFill/>
          <a:ln/>
        </p:spPr>
        <p:txBody>
          <a:bodyPr wrap="square" rtlCol="0" anchor="ctr"/>
          <a:lstStyle/>
          <a:p>
            <a:r>
              <a:rPr lang="en-US" sz="1150" dirty="0">
                <a:solidFill>
                  <a:srgbClr val="64748B"/>
                </a:solidFill>
                <a:latin typeface="Calibri" pitchFamily="34" charset="0"/>
                <a:ea typeface="Calibri" pitchFamily="34" charset="-122"/>
                <a:cs typeface="Calibri" pitchFamily="34" charset="-120"/>
              </a:rPr>
              <a:t>Tests individual functions/methods directly at code level. Popular frameworks: JUnit, NUnit, xUnit.</a:t>
            </a:r>
            <a:endParaRPr lang="en-US" sz="1150" dirty="0"/>
          </a:p>
        </p:txBody>
      </p:sp>
      <p:sp>
        <p:nvSpPr>
          <p:cNvPr id="16" name="Shape 14"/>
          <p:cNvSpPr/>
          <p:nvPr/>
        </p:nvSpPr>
        <p:spPr>
          <a:xfrm>
            <a:off x="228600" y="3691890"/>
            <a:ext cx="2697480" cy="1600200"/>
          </a:xfrm>
          <a:prstGeom prst="rect">
            <a:avLst/>
          </a:prstGeom>
          <a:solidFill>
            <a:srgbClr val="FFFFFF"/>
          </a:solidFill>
          <a:ln w="12700">
            <a:solidFill>
              <a:srgbClr val="E2EAF4"/>
            </a:solidFill>
            <a:prstDash val="solid"/>
          </a:ln>
          <a:effectLst>
            <a:outerShdw blurRad="63500" dist="25400" dir="8100000" algn="bl" rotWithShape="0">
              <a:srgbClr val="000000">
                <a:alpha val="7000"/>
              </a:srgbClr>
            </a:outerShdw>
          </a:effectLst>
        </p:spPr>
        <p:txBody>
          <a:bodyPr/>
          <a:lstStyle/>
          <a:p>
            <a:endParaRPr lang="en-IN"/>
          </a:p>
        </p:txBody>
      </p:sp>
      <p:sp>
        <p:nvSpPr>
          <p:cNvPr id="17" name="Shape 15"/>
          <p:cNvSpPr/>
          <p:nvPr/>
        </p:nvSpPr>
        <p:spPr>
          <a:xfrm>
            <a:off x="228600" y="3691890"/>
            <a:ext cx="64008" cy="1600200"/>
          </a:xfrm>
          <a:prstGeom prst="rect">
            <a:avLst/>
          </a:prstGeom>
          <a:solidFill>
            <a:srgbClr val="0D7377"/>
          </a:solidFill>
          <a:ln w="12700">
            <a:solidFill>
              <a:srgbClr val="0D7377"/>
            </a:solidFill>
            <a:prstDash val="solid"/>
          </a:ln>
        </p:spPr>
        <p:txBody>
          <a:bodyPr/>
          <a:lstStyle/>
          <a:p>
            <a:endParaRPr lang="en-IN"/>
          </a:p>
        </p:txBody>
      </p:sp>
      <p:sp>
        <p:nvSpPr>
          <p:cNvPr id="18" name="Text 16"/>
          <p:cNvSpPr/>
          <p:nvPr/>
        </p:nvSpPr>
        <p:spPr>
          <a:xfrm>
            <a:off x="411480" y="3829050"/>
            <a:ext cx="2423160" cy="411480"/>
          </a:xfrm>
          <a:prstGeom prst="rect">
            <a:avLst/>
          </a:prstGeom>
          <a:noFill/>
          <a:ln/>
        </p:spPr>
        <p:txBody>
          <a:bodyPr wrap="square" rtlCol="0" anchor="ctr"/>
          <a:lstStyle/>
          <a:p>
            <a:r>
              <a:rPr lang="en-US" sz="1300" b="1" dirty="0">
                <a:solidFill>
                  <a:srgbClr val="1A2B4A"/>
                </a:solidFill>
                <a:latin typeface="Calibri" pitchFamily="34" charset="0"/>
                <a:ea typeface="Calibri" pitchFamily="34" charset="-122"/>
                <a:cs typeface="Calibri" pitchFamily="34" charset="-120"/>
              </a:rPr>
              <a:t>🧬  Mutation Testing</a:t>
            </a:r>
            <a:endParaRPr lang="en-US" sz="1300" dirty="0"/>
          </a:p>
        </p:txBody>
      </p:sp>
      <p:sp>
        <p:nvSpPr>
          <p:cNvPr id="19" name="Text 17"/>
          <p:cNvSpPr/>
          <p:nvPr/>
        </p:nvSpPr>
        <p:spPr>
          <a:xfrm>
            <a:off x="411480" y="4286250"/>
            <a:ext cx="2423160" cy="914400"/>
          </a:xfrm>
          <a:prstGeom prst="rect">
            <a:avLst/>
          </a:prstGeom>
          <a:noFill/>
          <a:ln/>
        </p:spPr>
        <p:txBody>
          <a:bodyPr wrap="square" rtlCol="0" anchor="ctr"/>
          <a:lstStyle/>
          <a:p>
            <a:r>
              <a:rPr lang="en-US" sz="1150" dirty="0">
                <a:solidFill>
                  <a:srgbClr val="64748B"/>
                </a:solidFill>
                <a:latin typeface="Calibri" pitchFamily="34" charset="0"/>
                <a:ea typeface="Calibri" pitchFamily="34" charset="-122"/>
                <a:cs typeface="Calibri" pitchFamily="34" charset="-120"/>
              </a:rPr>
              <a:t>Modifies code in small ways to evaluate test quality. Finds ambiguities and loopholes in source code.</a:t>
            </a:r>
            <a:endParaRPr lang="en-US" sz="1150" dirty="0"/>
          </a:p>
        </p:txBody>
      </p:sp>
      <p:sp>
        <p:nvSpPr>
          <p:cNvPr id="20" name="Shape 18"/>
          <p:cNvSpPr/>
          <p:nvPr/>
        </p:nvSpPr>
        <p:spPr>
          <a:xfrm>
            <a:off x="3040380" y="3691890"/>
            <a:ext cx="2697480" cy="1600200"/>
          </a:xfrm>
          <a:prstGeom prst="rect">
            <a:avLst/>
          </a:prstGeom>
          <a:solidFill>
            <a:srgbClr val="FFFFFF"/>
          </a:solidFill>
          <a:ln w="12700">
            <a:solidFill>
              <a:srgbClr val="E2EAF4"/>
            </a:solidFill>
            <a:prstDash val="solid"/>
          </a:ln>
          <a:effectLst>
            <a:outerShdw blurRad="63500" dist="25400" dir="8100000" algn="bl" rotWithShape="0">
              <a:srgbClr val="000000">
                <a:alpha val="7000"/>
              </a:srgbClr>
            </a:outerShdw>
          </a:effectLst>
        </p:spPr>
        <p:txBody>
          <a:bodyPr/>
          <a:lstStyle/>
          <a:p>
            <a:endParaRPr lang="en-IN"/>
          </a:p>
        </p:txBody>
      </p:sp>
      <p:sp>
        <p:nvSpPr>
          <p:cNvPr id="21" name="Shape 19"/>
          <p:cNvSpPr/>
          <p:nvPr/>
        </p:nvSpPr>
        <p:spPr>
          <a:xfrm>
            <a:off x="3040380" y="3691890"/>
            <a:ext cx="64008" cy="1600200"/>
          </a:xfrm>
          <a:prstGeom prst="rect">
            <a:avLst/>
          </a:prstGeom>
          <a:solidFill>
            <a:srgbClr val="0D7377"/>
          </a:solidFill>
          <a:ln w="12700">
            <a:solidFill>
              <a:srgbClr val="0D7377"/>
            </a:solidFill>
            <a:prstDash val="solid"/>
          </a:ln>
        </p:spPr>
        <p:txBody>
          <a:bodyPr/>
          <a:lstStyle/>
          <a:p>
            <a:endParaRPr lang="en-IN"/>
          </a:p>
        </p:txBody>
      </p:sp>
      <p:sp>
        <p:nvSpPr>
          <p:cNvPr id="22" name="Text 20"/>
          <p:cNvSpPr/>
          <p:nvPr/>
        </p:nvSpPr>
        <p:spPr>
          <a:xfrm>
            <a:off x="3223260" y="3829050"/>
            <a:ext cx="2423160" cy="411480"/>
          </a:xfrm>
          <a:prstGeom prst="rect">
            <a:avLst/>
          </a:prstGeom>
          <a:noFill/>
          <a:ln/>
        </p:spPr>
        <p:txBody>
          <a:bodyPr wrap="square" rtlCol="0" anchor="ctr"/>
          <a:lstStyle/>
          <a:p>
            <a:r>
              <a:rPr lang="en-US" sz="1300" b="1" dirty="0">
                <a:solidFill>
                  <a:srgbClr val="1A2B4A"/>
                </a:solidFill>
                <a:latin typeface="Calibri" pitchFamily="34" charset="0"/>
                <a:ea typeface="Calibri" pitchFamily="34" charset="-122"/>
                <a:cs typeface="Calibri" pitchFamily="34" charset="-120"/>
              </a:rPr>
              <a:t>🔗  Integration Testing</a:t>
            </a:r>
            <a:endParaRPr lang="en-US" sz="1300" dirty="0"/>
          </a:p>
        </p:txBody>
      </p:sp>
      <p:sp>
        <p:nvSpPr>
          <p:cNvPr id="23" name="Text 21"/>
          <p:cNvSpPr/>
          <p:nvPr/>
        </p:nvSpPr>
        <p:spPr>
          <a:xfrm>
            <a:off x="3223260" y="4286250"/>
            <a:ext cx="2423160" cy="914400"/>
          </a:xfrm>
          <a:prstGeom prst="rect">
            <a:avLst/>
          </a:prstGeom>
          <a:noFill/>
          <a:ln/>
        </p:spPr>
        <p:txBody>
          <a:bodyPr wrap="square" rtlCol="0" anchor="ctr"/>
          <a:lstStyle/>
          <a:p>
            <a:r>
              <a:rPr lang="en-US" sz="1150" dirty="0">
                <a:solidFill>
                  <a:srgbClr val="64748B"/>
                </a:solidFill>
                <a:latin typeface="Calibri" pitchFamily="34" charset="0"/>
                <a:ea typeface="Calibri" pitchFamily="34" charset="-122"/>
                <a:cs typeface="Calibri" pitchFamily="34" charset="-120"/>
              </a:rPr>
              <a:t>Verifies internal logic between modules. Tester understands code of modules being integrated.</a:t>
            </a:r>
            <a:endParaRPr lang="en-US" sz="1150" dirty="0"/>
          </a:p>
        </p:txBody>
      </p:sp>
      <p:sp>
        <p:nvSpPr>
          <p:cNvPr id="24" name="Shape 22"/>
          <p:cNvSpPr/>
          <p:nvPr/>
        </p:nvSpPr>
        <p:spPr>
          <a:xfrm>
            <a:off x="5852160" y="3691890"/>
            <a:ext cx="2697480" cy="1600200"/>
          </a:xfrm>
          <a:prstGeom prst="rect">
            <a:avLst/>
          </a:prstGeom>
          <a:solidFill>
            <a:srgbClr val="FFFFFF"/>
          </a:solidFill>
          <a:ln w="12700">
            <a:solidFill>
              <a:srgbClr val="E2EAF4"/>
            </a:solidFill>
            <a:prstDash val="solid"/>
          </a:ln>
          <a:effectLst>
            <a:outerShdw blurRad="63500" dist="25400" dir="8100000" algn="bl" rotWithShape="0">
              <a:srgbClr val="000000">
                <a:alpha val="7000"/>
              </a:srgbClr>
            </a:outerShdw>
          </a:effectLst>
        </p:spPr>
        <p:txBody>
          <a:bodyPr/>
          <a:lstStyle/>
          <a:p>
            <a:endParaRPr lang="en-IN"/>
          </a:p>
        </p:txBody>
      </p:sp>
      <p:sp>
        <p:nvSpPr>
          <p:cNvPr id="25" name="Shape 23"/>
          <p:cNvSpPr/>
          <p:nvPr/>
        </p:nvSpPr>
        <p:spPr>
          <a:xfrm>
            <a:off x="5852160" y="3691890"/>
            <a:ext cx="64008" cy="1600200"/>
          </a:xfrm>
          <a:prstGeom prst="rect">
            <a:avLst/>
          </a:prstGeom>
          <a:solidFill>
            <a:srgbClr val="0D7377"/>
          </a:solidFill>
          <a:ln w="12700">
            <a:solidFill>
              <a:srgbClr val="0D7377"/>
            </a:solidFill>
            <a:prstDash val="solid"/>
          </a:ln>
        </p:spPr>
        <p:txBody>
          <a:bodyPr/>
          <a:lstStyle/>
          <a:p>
            <a:endParaRPr lang="en-IN"/>
          </a:p>
        </p:txBody>
      </p:sp>
      <p:sp>
        <p:nvSpPr>
          <p:cNvPr id="26" name="Text 24"/>
          <p:cNvSpPr/>
          <p:nvPr/>
        </p:nvSpPr>
        <p:spPr>
          <a:xfrm>
            <a:off x="6035040" y="3829050"/>
            <a:ext cx="2423160" cy="411480"/>
          </a:xfrm>
          <a:prstGeom prst="rect">
            <a:avLst/>
          </a:prstGeom>
          <a:noFill/>
          <a:ln/>
        </p:spPr>
        <p:txBody>
          <a:bodyPr wrap="square" rtlCol="0" anchor="ctr"/>
          <a:lstStyle/>
          <a:p>
            <a:r>
              <a:rPr lang="en-US" sz="1300" b="1" dirty="0">
                <a:solidFill>
                  <a:srgbClr val="1A2B4A"/>
                </a:solidFill>
                <a:latin typeface="Calibri" pitchFamily="34" charset="0"/>
                <a:ea typeface="Calibri" pitchFamily="34" charset="-122"/>
                <a:cs typeface="Calibri" pitchFamily="34" charset="-120"/>
              </a:rPr>
              <a:t>🛡️  Penetration Testing</a:t>
            </a:r>
            <a:endParaRPr lang="en-US" sz="1300" dirty="0"/>
          </a:p>
        </p:txBody>
      </p:sp>
      <p:sp>
        <p:nvSpPr>
          <p:cNvPr id="27" name="Text 25"/>
          <p:cNvSpPr/>
          <p:nvPr/>
        </p:nvSpPr>
        <p:spPr>
          <a:xfrm>
            <a:off x="6035040" y="4286250"/>
            <a:ext cx="2423160" cy="914400"/>
          </a:xfrm>
          <a:prstGeom prst="rect">
            <a:avLst/>
          </a:prstGeom>
          <a:noFill/>
          <a:ln/>
        </p:spPr>
        <p:txBody>
          <a:bodyPr wrap="square" rtlCol="0" anchor="ctr"/>
          <a:lstStyle/>
          <a:p>
            <a:r>
              <a:rPr lang="en-US" sz="1150" dirty="0">
                <a:solidFill>
                  <a:srgbClr val="64748B"/>
                </a:solidFill>
                <a:latin typeface="Calibri" pitchFamily="34" charset="0"/>
                <a:ea typeface="Calibri" pitchFamily="34" charset="-122"/>
                <a:cs typeface="Calibri" pitchFamily="34" charset="-120"/>
              </a:rPr>
              <a:t>Simulated cyber attacks to find security vulnerabilities — APIs, servers, input injection risks.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1005840"/>
          </a:xfrm>
          <a:prstGeom prst="rect">
            <a:avLst/>
          </a:prstGeom>
          <a:solidFill>
            <a:srgbClr val="1A2B4A"/>
          </a:solidFill>
          <a:ln w="12700">
            <a:solidFill>
              <a:srgbClr val="1A2B4A"/>
            </a:solidFill>
            <a:prstDash val="solid"/>
          </a:ln>
        </p:spPr>
        <p:txBody>
          <a:bodyPr/>
          <a:lstStyle/>
          <a:p>
            <a:endParaRPr lang="en-IN"/>
          </a:p>
        </p:txBody>
      </p:sp>
      <p:sp>
        <p:nvSpPr>
          <p:cNvPr id="3" name="Text 1"/>
          <p:cNvSpPr/>
          <p:nvPr/>
        </p:nvSpPr>
        <p:spPr>
          <a:xfrm>
            <a:off x="365760" y="994410"/>
            <a:ext cx="8229600" cy="685800"/>
          </a:xfrm>
          <a:prstGeom prst="rect">
            <a:avLst/>
          </a:prstGeom>
          <a:noFill/>
          <a:ln/>
        </p:spPr>
        <p:txBody>
          <a:bodyPr wrap="square" rtlCol="0" anchor="ctr"/>
          <a:lstStyle/>
          <a:p>
            <a:r>
              <a:rPr lang="en-US" sz="2800" b="1" dirty="0">
                <a:solidFill>
                  <a:srgbClr val="FFFFFF"/>
                </a:solidFill>
                <a:latin typeface="Georgia" pitchFamily="34" charset="0"/>
                <a:ea typeface="Georgia" pitchFamily="34" charset="-122"/>
                <a:cs typeface="Georgia" pitchFamily="34" charset="-120"/>
              </a:rPr>
              <a:t>Integration Testing Approaches</a:t>
            </a:r>
            <a:endParaRPr lang="en-US" sz="2800" dirty="0"/>
          </a:p>
        </p:txBody>
      </p:sp>
      <p:sp>
        <p:nvSpPr>
          <p:cNvPr id="4" name="Shape 2"/>
          <p:cNvSpPr/>
          <p:nvPr/>
        </p:nvSpPr>
        <p:spPr>
          <a:xfrm>
            <a:off x="228600" y="1954530"/>
            <a:ext cx="4160520" cy="1783080"/>
          </a:xfrm>
          <a:prstGeom prst="rect">
            <a:avLst/>
          </a:prstGeom>
          <a:solidFill>
            <a:srgbClr val="FFFFFF"/>
          </a:solidFill>
          <a:ln w="12700">
            <a:solidFill>
              <a:srgbClr val="E2EAF4"/>
            </a:solidFill>
            <a:prstDash val="solid"/>
          </a:ln>
          <a:effectLst>
            <a:outerShdw blurRad="63500" dist="25400" dir="8100000" algn="bl" rotWithShape="0">
              <a:srgbClr val="000000">
                <a:alpha val="8000"/>
              </a:srgbClr>
            </a:outerShdw>
          </a:effectLst>
        </p:spPr>
        <p:txBody>
          <a:bodyPr/>
          <a:lstStyle/>
          <a:p>
            <a:endParaRPr lang="en-IN"/>
          </a:p>
        </p:txBody>
      </p:sp>
      <p:sp>
        <p:nvSpPr>
          <p:cNvPr id="5" name="Shape 3"/>
          <p:cNvSpPr/>
          <p:nvPr/>
        </p:nvSpPr>
        <p:spPr>
          <a:xfrm>
            <a:off x="228600" y="1954530"/>
            <a:ext cx="4160520" cy="64008"/>
          </a:xfrm>
          <a:prstGeom prst="rect">
            <a:avLst/>
          </a:prstGeom>
          <a:solidFill>
            <a:srgbClr val="0D7377"/>
          </a:solidFill>
          <a:ln w="12700">
            <a:solidFill>
              <a:srgbClr val="0D7377"/>
            </a:solidFill>
            <a:prstDash val="solid"/>
          </a:ln>
        </p:spPr>
        <p:txBody>
          <a:bodyPr/>
          <a:lstStyle/>
          <a:p>
            <a:endParaRPr lang="en-IN"/>
          </a:p>
        </p:txBody>
      </p:sp>
      <p:sp>
        <p:nvSpPr>
          <p:cNvPr id="6" name="Text 4"/>
          <p:cNvSpPr/>
          <p:nvPr/>
        </p:nvSpPr>
        <p:spPr>
          <a:xfrm>
            <a:off x="365760" y="2064258"/>
            <a:ext cx="3886200" cy="384048"/>
          </a:xfrm>
          <a:prstGeom prst="rect">
            <a:avLst/>
          </a:prstGeom>
          <a:noFill/>
          <a:ln/>
        </p:spPr>
        <p:txBody>
          <a:bodyPr wrap="square" rtlCol="0" anchor="ctr"/>
          <a:lstStyle/>
          <a:p>
            <a:r>
              <a:rPr lang="en-US" b="1" dirty="0">
                <a:solidFill>
                  <a:srgbClr val="0D7377"/>
                </a:solidFill>
                <a:latin typeface="Georgia" pitchFamily="34" charset="0"/>
                <a:ea typeface="Georgia" pitchFamily="34" charset="-122"/>
                <a:cs typeface="Georgia" pitchFamily="34" charset="-120"/>
              </a:rPr>
              <a:t>💥  Big-Bang Integration</a:t>
            </a:r>
            <a:endParaRPr lang="en-US" dirty="0"/>
          </a:p>
        </p:txBody>
      </p:sp>
      <p:sp>
        <p:nvSpPr>
          <p:cNvPr id="7" name="Text 5"/>
          <p:cNvSpPr/>
          <p:nvPr/>
        </p:nvSpPr>
        <p:spPr>
          <a:xfrm>
            <a:off x="365760" y="2484882"/>
            <a:ext cx="3886200" cy="685800"/>
          </a:xfrm>
          <a:prstGeom prst="rect">
            <a:avLst/>
          </a:prstGeom>
          <a:noFill/>
          <a:ln/>
        </p:spPr>
        <p:txBody>
          <a:bodyPr wrap="square" rtlCol="0" anchor="ctr"/>
          <a:lstStyle/>
          <a:p>
            <a:r>
              <a:rPr lang="en-US" sz="1150" dirty="0">
                <a:solidFill>
                  <a:srgbClr val="334155"/>
                </a:solidFill>
                <a:latin typeface="Calibri" pitchFamily="34" charset="0"/>
                <a:ea typeface="Calibri" pitchFamily="34" charset="-122"/>
                <a:cs typeface="Calibri" pitchFamily="34" charset="-120"/>
              </a:rPr>
              <a:t>All modules combined and tested at once. Simple, quick — best for small systems.</a:t>
            </a:r>
            <a:endParaRPr lang="en-US" sz="1150" dirty="0"/>
          </a:p>
        </p:txBody>
      </p:sp>
      <p:sp>
        <p:nvSpPr>
          <p:cNvPr id="8" name="Text 6"/>
          <p:cNvSpPr/>
          <p:nvPr/>
        </p:nvSpPr>
        <p:spPr>
          <a:xfrm>
            <a:off x="365760" y="3326130"/>
            <a:ext cx="3886200" cy="320040"/>
          </a:xfrm>
          <a:prstGeom prst="rect">
            <a:avLst/>
          </a:prstGeom>
          <a:noFill/>
          <a:ln/>
        </p:spPr>
        <p:txBody>
          <a:bodyPr wrap="square" rtlCol="0" anchor="ctr"/>
          <a:lstStyle/>
          <a:p>
            <a:r>
              <a:rPr lang="en-US" sz="1050" i="1" dirty="0">
                <a:solidFill>
                  <a:srgbClr val="0D7377"/>
                </a:solidFill>
                <a:latin typeface="Calibri" pitchFamily="34" charset="0"/>
                <a:ea typeface="Calibri" pitchFamily="34" charset="-122"/>
                <a:cs typeface="Calibri" pitchFamily="34" charset="-120"/>
              </a:rPr>
              <a:t>✓ Simple • Fast • Straightforward</a:t>
            </a:r>
            <a:endParaRPr lang="en-US" sz="1050" dirty="0"/>
          </a:p>
        </p:txBody>
      </p:sp>
      <p:sp>
        <p:nvSpPr>
          <p:cNvPr id="9" name="Shape 7"/>
          <p:cNvSpPr/>
          <p:nvPr/>
        </p:nvSpPr>
        <p:spPr>
          <a:xfrm>
            <a:off x="4663440" y="1954530"/>
            <a:ext cx="4160520" cy="1783080"/>
          </a:xfrm>
          <a:prstGeom prst="rect">
            <a:avLst/>
          </a:prstGeom>
          <a:solidFill>
            <a:srgbClr val="FFFFFF"/>
          </a:solidFill>
          <a:ln w="12700">
            <a:solidFill>
              <a:srgbClr val="E2EAF4"/>
            </a:solidFill>
            <a:prstDash val="solid"/>
          </a:ln>
          <a:effectLst>
            <a:outerShdw blurRad="63500" dist="25400" dir="8100000" algn="bl" rotWithShape="0">
              <a:srgbClr val="000000">
                <a:alpha val="8000"/>
              </a:srgbClr>
            </a:outerShdw>
          </a:effectLst>
        </p:spPr>
        <p:txBody>
          <a:bodyPr/>
          <a:lstStyle/>
          <a:p>
            <a:endParaRPr lang="en-IN"/>
          </a:p>
        </p:txBody>
      </p:sp>
      <p:sp>
        <p:nvSpPr>
          <p:cNvPr id="10" name="Shape 8"/>
          <p:cNvSpPr/>
          <p:nvPr/>
        </p:nvSpPr>
        <p:spPr>
          <a:xfrm>
            <a:off x="4663440" y="1954530"/>
            <a:ext cx="4160520" cy="64008"/>
          </a:xfrm>
          <a:prstGeom prst="rect">
            <a:avLst/>
          </a:prstGeom>
          <a:solidFill>
            <a:srgbClr val="8B5CF6"/>
          </a:solidFill>
          <a:ln w="12700">
            <a:solidFill>
              <a:srgbClr val="8B5CF6"/>
            </a:solidFill>
            <a:prstDash val="solid"/>
          </a:ln>
        </p:spPr>
        <p:txBody>
          <a:bodyPr/>
          <a:lstStyle/>
          <a:p>
            <a:endParaRPr lang="en-IN"/>
          </a:p>
        </p:txBody>
      </p:sp>
      <p:sp>
        <p:nvSpPr>
          <p:cNvPr id="11" name="Text 9"/>
          <p:cNvSpPr/>
          <p:nvPr/>
        </p:nvSpPr>
        <p:spPr>
          <a:xfrm>
            <a:off x="4800600" y="2064258"/>
            <a:ext cx="3886200" cy="384048"/>
          </a:xfrm>
          <a:prstGeom prst="rect">
            <a:avLst/>
          </a:prstGeom>
          <a:noFill/>
          <a:ln/>
        </p:spPr>
        <p:txBody>
          <a:bodyPr wrap="square" rtlCol="0" anchor="ctr"/>
          <a:lstStyle/>
          <a:p>
            <a:r>
              <a:rPr lang="en-US" b="1" dirty="0">
                <a:solidFill>
                  <a:srgbClr val="8B5CF6"/>
                </a:solidFill>
                <a:latin typeface="Georgia" pitchFamily="34" charset="0"/>
                <a:ea typeface="Georgia" pitchFamily="34" charset="-122"/>
                <a:cs typeface="Georgia" pitchFamily="34" charset="-120"/>
              </a:rPr>
              <a:t>⬇️  Top-Down Integration</a:t>
            </a:r>
            <a:endParaRPr lang="en-US" dirty="0"/>
          </a:p>
        </p:txBody>
      </p:sp>
      <p:sp>
        <p:nvSpPr>
          <p:cNvPr id="12" name="Text 10"/>
          <p:cNvSpPr/>
          <p:nvPr/>
        </p:nvSpPr>
        <p:spPr>
          <a:xfrm>
            <a:off x="4800600" y="2484882"/>
            <a:ext cx="3886200" cy="685800"/>
          </a:xfrm>
          <a:prstGeom prst="rect">
            <a:avLst/>
          </a:prstGeom>
          <a:noFill/>
          <a:ln/>
        </p:spPr>
        <p:txBody>
          <a:bodyPr wrap="square" rtlCol="0" anchor="ctr"/>
          <a:lstStyle/>
          <a:p>
            <a:r>
              <a:rPr lang="en-US" sz="1150" dirty="0">
                <a:solidFill>
                  <a:srgbClr val="334155"/>
                </a:solidFill>
                <a:latin typeface="Calibri" pitchFamily="34" charset="0"/>
                <a:ea typeface="Calibri" pitchFamily="34" charset="-122"/>
                <a:cs typeface="Calibri" pitchFamily="34" charset="-120"/>
              </a:rPr>
              <a:t>High-level modules tested first, low-level later. No drivers needed. Early interface error detection.</a:t>
            </a:r>
            <a:endParaRPr lang="en-US" sz="1150" dirty="0"/>
          </a:p>
        </p:txBody>
      </p:sp>
      <p:sp>
        <p:nvSpPr>
          <p:cNvPr id="13" name="Text 11"/>
          <p:cNvSpPr/>
          <p:nvPr/>
        </p:nvSpPr>
        <p:spPr>
          <a:xfrm>
            <a:off x="4800600" y="3326130"/>
            <a:ext cx="3886200" cy="320040"/>
          </a:xfrm>
          <a:prstGeom prst="rect">
            <a:avLst/>
          </a:prstGeom>
          <a:noFill/>
          <a:ln/>
        </p:spPr>
        <p:txBody>
          <a:bodyPr wrap="square" rtlCol="0" anchor="ctr"/>
          <a:lstStyle/>
          <a:p>
            <a:r>
              <a:rPr lang="en-US" sz="1050" i="1" dirty="0">
                <a:solidFill>
                  <a:srgbClr val="8B5CF6"/>
                </a:solidFill>
                <a:latin typeface="Calibri" pitchFamily="34" charset="0"/>
                <a:ea typeface="Calibri" pitchFamily="34" charset="-122"/>
                <a:cs typeface="Calibri" pitchFamily="34" charset="-120"/>
              </a:rPr>
              <a:t>✓ Early error catch • Easier test cases</a:t>
            </a:r>
            <a:endParaRPr lang="en-US" sz="1050" dirty="0"/>
          </a:p>
        </p:txBody>
      </p:sp>
      <p:sp>
        <p:nvSpPr>
          <p:cNvPr id="14" name="Shape 12"/>
          <p:cNvSpPr/>
          <p:nvPr/>
        </p:nvSpPr>
        <p:spPr>
          <a:xfrm>
            <a:off x="228600" y="3966210"/>
            <a:ext cx="4160520" cy="1783080"/>
          </a:xfrm>
          <a:prstGeom prst="rect">
            <a:avLst/>
          </a:prstGeom>
          <a:solidFill>
            <a:srgbClr val="FFFFFF"/>
          </a:solidFill>
          <a:ln w="12700">
            <a:solidFill>
              <a:srgbClr val="E2EAF4"/>
            </a:solidFill>
            <a:prstDash val="solid"/>
          </a:ln>
          <a:effectLst>
            <a:outerShdw blurRad="63500" dist="25400" dir="8100000" algn="bl" rotWithShape="0">
              <a:srgbClr val="000000">
                <a:alpha val="8000"/>
              </a:srgbClr>
            </a:outerShdw>
          </a:effectLst>
        </p:spPr>
        <p:txBody>
          <a:bodyPr/>
          <a:lstStyle/>
          <a:p>
            <a:endParaRPr lang="en-IN"/>
          </a:p>
        </p:txBody>
      </p:sp>
      <p:sp>
        <p:nvSpPr>
          <p:cNvPr id="15" name="Shape 13"/>
          <p:cNvSpPr/>
          <p:nvPr/>
        </p:nvSpPr>
        <p:spPr>
          <a:xfrm>
            <a:off x="228600" y="3966210"/>
            <a:ext cx="4160520" cy="64008"/>
          </a:xfrm>
          <a:prstGeom prst="rect">
            <a:avLst/>
          </a:prstGeom>
          <a:solidFill>
            <a:srgbClr val="059669"/>
          </a:solidFill>
          <a:ln w="12700">
            <a:solidFill>
              <a:srgbClr val="059669"/>
            </a:solidFill>
            <a:prstDash val="solid"/>
          </a:ln>
        </p:spPr>
        <p:txBody>
          <a:bodyPr/>
          <a:lstStyle/>
          <a:p>
            <a:endParaRPr lang="en-IN"/>
          </a:p>
        </p:txBody>
      </p:sp>
      <p:sp>
        <p:nvSpPr>
          <p:cNvPr id="16" name="Text 14"/>
          <p:cNvSpPr/>
          <p:nvPr/>
        </p:nvSpPr>
        <p:spPr>
          <a:xfrm>
            <a:off x="365760" y="4075938"/>
            <a:ext cx="3886200" cy="384048"/>
          </a:xfrm>
          <a:prstGeom prst="rect">
            <a:avLst/>
          </a:prstGeom>
          <a:noFill/>
          <a:ln/>
        </p:spPr>
        <p:txBody>
          <a:bodyPr wrap="square" rtlCol="0" anchor="ctr"/>
          <a:lstStyle/>
          <a:p>
            <a:r>
              <a:rPr lang="en-US" b="1" dirty="0">
                <a:solidFill>
                  <a:srgbClr val="059669"/>
                </a:solidFill>
                <a:latin typeface="Georgia" pitchFamily="34" charset="0"/>
                <a:ea typeface="Georgia" pitchFamily="34" charset="-122"/>
                <a:cs typeface="Georgia" pitchFamily="34" charset="-120"/>
              </a:rPr>
              <a:t>⬆️  Bottom-Up Integration</a:t>
            </a:r>
            <a:endParaRPr lang="en-US" dirty="0"/>
          </a:p>
        </p:txBody>
      </p:sp>
      <p:sp>
        <p:nvSpPr>
          <p:cNvPr id="17" name="Text 15"/>
          <p:cNvSpPr/>
          <p:nvPr/>
        </p:nvSpPr>
        <p:spPr>
          <a:xfrm>
            <a:off x="365760" y="4496562"/>
            <a:ext cx="3886200" cy="685800"/>
          </a:xfrm>
          <a:prstGeom prst="rect">
            <a:avLst/>
          </a:prstGeom>
          <a:noFill/>
          <a:ln/>
        </p:spPr>
        <p:txBody>
          <a:bodyPr wrap="square" rtlCol="0" anchor="ctr"/>
          <a:lstStyle/>
          <a:p>
            <a:r>
              <a:rPr lang="en-US" sz="1150" dirty="0">
                <a:solidFill>
                  <a:srgbClr val="334155"/>
                </a:solidFill>
                <a:latin typeface="Calibri" pitchFamily="34" charset="0"/>
                <a:ea typeface="Calibri" pitchFamily="34" charset="-122"/>
                <a:cs typeface="Calibri" pitchFamily="34" charset="-120"/>
              </a:rPr>
              <a:t>Low-level modules tested first, then integrated upward. OOP-friendly with high success rates.</a:t>
            </a:r>
            <a:endParaRPr lang="en-US" sz="1150" dirty="0"/>
          </a:p>
        </p:txBody>
      </p:sp>
      <p:sp>
        <p:nvSpPr>
          <p:cNvPr id="18" name="Text 16"/>
          <p:cNvSpPr/>
          <p:nvPr/>
        </p:nvSpPr>
        <p:spPr>
          <a:xfrm>
            <a:off x="365760" y="5337810"/>
            <a:ext cx="3886200" cy="320040"/>
          </a:xfrm>
          <a:prstGeom prst="rect">
            <a:avLst/>
          </a:prstGeom>
          <a:noFill/>
          <a:ln/>
        </p:spPr>
        <p:txBody>
          <a:bodyPr wrap="square" rtlCol="0" anchor="ctr"/>
          <a:lstStyle/>
          <a:p>
            <a:r>
              <a:rPr lang="en-US" sz="1050" i="1" dirty="0">
                <a:solidFill>
                  <a:srgbClr val="059669"/>
                </a:solidFill>
                <a:latin typeface="Calibri" pitchFamily="34" charset="0"/>
                <a:ea typeface="Calibri" pitchFamily="34" charset="-122"/>
                <a:cs typeface="Calibri" pitchFamily="34" charset="-120"/>
              </a:rPr>
              <a:t>✓ Easy to observe • No structural design info needed</a:t>
            </a:r>
            <a:endParaRPr lang="en-US" sz="1050" dirty="0"/>
          </a:p>
        </p:txBody>
      </p:sp>
      <p:sp>
        <p:nvSpPr>
          <p:cNvPr id="19" name="Shape 17"/>
          <p:cNvSpPr/>
          <p:nvPr/>
        </p:nvSpPr>
        <p:spPr>
          <a:xfrm>
            <a:off x="4663440" y="3966210"/>
            <a:ext cx="4160520" cy="1783080"/>
          </a:xfrm>
          <a:prstGeom prst="rect">
            <a:avLst/>
          </a:prstGeom>
          <a:solidFill>
            <a:srgbClr val="FFFFFF"/>
          </a:solidFill>
          <a:ln w="12700">
            <a:solidFill>
              <a:srgbClr val="E2EAF4"/>
            </a:solidFill>
            <a:prstDash val="solid"/>
          </a:ln>
          <a:effectLst>
            <a:outerShdw blurRad="63500" dist="25400" dir="8100000" algn="bl" rotWithShape="0">
              <a:srgbClr val="000000">
                <a:alpha val="8000"/>
              </a:srgbClr>
            </a:outerShdw>
          </a:effectLst>
        </p:spPr>
        <p:txBody>
          <a:bodyPr/>
          <a:lstStyle/>
          <a:p>
            <a:endParaRPr lang="en-IN"/>
          </a:p>
        </p:txBody>
      </p:sp>
      <p:sp>
        <p:nvSpPr>
          <p:cNvPr id="20" name="Shape 18"/>
          <p:cNvSpPr/>
          <p:nvPr/>
        </p:nvSpPr>
        <p:spPr>
          <a:xfrm>
            <a:off x="4663440" y="3966210"/>
            <a:ext cx="4160520" cy="64008"/>
          </a:xfrm>
          <a:prstGeom prst="rect">
            <a:avLst/>
          </a:prstGeom>
          <a:solidFill>
            <a:srgbClr val="F5A623"/>
          </a:solidFill>
          <a:ln w="12700">
            <a:solidFill>
              <a:srgbClr val="F5A623"/>
            </a:solidFill>
            <a:prstDash val="solid"/>
          </a:ln>
        </p:spPr>
        <p:txBody>
          <a:bodyPr/>
          <a:lstStyle/>
          <a:p>
            <a:endParaRPr lang="en-IN"/>
          </a:p>
        </p:txBody>
      </p:sp>
      <p:sp>
        <p:nvSpPr>
          <p:cNvPr id="21" name="Text 19"/>
          <p:cNvSpPr/>
          <p:nvPr/>
        </p:nvSpPr>
        <p:spPr>
          <a:xfrm>
            <a:off x="4800600" y="4075938"/>
            <a:ext cx="3886200" cy="384048"/>
          </a:xfrm>
          <a:prstGeom prst="rect">
            <a:avLst/>
          </a:prstGeom>
          <a:noFill/>
          <a:ln/>
        </p:spPr>
        <p:txBody>
          <a:bodyPr wrap="square" rtlCol="0" anchor="ctr"/>
          <a:lstStyle/>
          <a:p>
            <a:r>
              <a:rPr lang="en-US" b="1" dirty="0">
                <a:solidFill>
                  <a:srgbClr val="F5A623"/>
                </a:solidFill>
                <a:latin typeface="Georgia" pitchFamily="34" charset="0"/>
                <a:ea typeface="Georgia" pitchFamily="34" charset="-122"/>
                <a:cs typeface="Georgia" pitchFamily="34" charset="-120"/>
              </a:rPr>
              <a:t>🥪  Mixed / Sandwich Integration</a:t>
            </a:r>
            <a:endParaRPr lang="en-US" dirty="0"/>
          </a:p>
        </p:txBody>
      </p:sp>
      <p:sp>
        <p:nvSpPr>
          <p:cNvPr id="22" name="Text 20"/>
          <p:cNvSpPr/>
          <p:nvPr/>
        </p:nvSpPr>
        <p:spPr>
          <a:xfrm>
            <a:off x="4800600" y="4496562"/>
            <a:ext cx="3886200" cy="685800"/>
          </a:xfrm>
          <a:prstGeom prst="rect">
            <a:avLst/>
          </a:prstGeom>
          <a:noFill/>
          <a:ln/>
        </p:spPr>
        <p:txBody>
          <a:bodyPr wrap="square" rtlCol="0" anchor="ctr"/>
          <a:lstStyle/>
          <a:p>
            <a:r>
              <a:rPr lang="en-US" sz="1150" dirty="0">
                <a:solidFill>
                  <a:srgbClr val="334155"/>
                </a:solidFill>
                <a:latin typeface="Calibri" pitchFamily="34" charset="0"/>
                <a:ea typeface="Calibri" pitchFamily="34" charset="-122"/>
                <a:cs typeface="Calibri" pitchFamily="34" charset="-120"/>
              </a:rPr>
              <a:t>Combines top-down and bottom-up. Ideal for very large projects with multiple sub-projects.</a:t>
            </a:r>
            <a:endParaRPr lang="en-US" sz="1150" dirty="0"/>
          </a:p>
        </p:txBody>
      </p:sp>
      <p:sp>
        <p:nvSpPr>
          <p:cNvPr id="23" name="Text 21"/>
          <p:cNvSpPr/>
          <p:nvPr/>
        </p:nvSpPr>
        <p:spPr>
          <a:xfrm>
            <a:off x="4800600" y="5337810"/>
            <a:ext cx="3886200" cy="320040"/>
          </a:xfrm>
          <a:prstGeom prst="rect">
            <a:avLst/>
          </a:prstGeom>
          <a:noFill/>
          <a:ln/>
        </p:spPr>
        <p:txBody>
          <a:bodyPr wrap="square" rtlCol="0" anchor="ctr"/>
          <a:lstStyle/>
          <a:p>
            <a:r>
              <a:rPr lang="en-US" sz="1050" i="1" dirty="0">
                <a:solidFill>
                  <a:srgbClr val="F5A623"/>
                </a:solidFill>
                <a:latin typeface="Calibri" pitchFamily="34" charset="0"/>
                <a:ea typeface="Calibri" pitchFamily="34" charset="-122"/>
                <a:cs typeface="Calibri" pitchFamily="34" charset="-120"/>
              </a:rPr>
              <a:t>✓ Parallel testing • Overcomes both approach limits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1005840"/>
          </a:xfrm>
          <a:prstGeom prst="rect">
            <a:avLst/>
          </a:prstGeom>
          <a:solidFill>
            <a:srgbClr val="DC2626"/>
          </a:solidFill>
          <a:ln w="12700">
            <a:solidFill>
              <a:srgbClr val="DC2626"/>
            </a:solidFill>
            <a:prstDash val="solid"/>
          </a:ln>
        </p:spPr>
        <p:txBody>
          <a:bodyPr/>
          <a:lstStyle/>
          <a:p>
            <a:endParaRPr lang="en-IN"/>
          </a:p>
        </p:txBody>
      </p:sp>
      <p:sp>
        <p:nvSpPr>
          <p:cNvPr id="3" name="Text 1"/>
          <p:cNvSpPr/>
          <p:nvPr/>
        </p:nvSpPr>
        <p:spPr>
          <a:xfrm>
            <a:off x="365760" y="994410"/>
            <a:ext cx="8229600" cy="685800"/>
          </a:xfrm>
          <a:prstGeom prst="rect">
            <a:avLst/>
          </a:prstGeom>
          <a:noFill/>
          <a:ln/>
        </p:spPr>
        <p:txBody>
          <a:bodyPr wrap="square" rtlCol="0" anchor="ctr"/>
          <a:lstStyle/>
          <a:p>
            <a:r>
              <a:rPr lang="en-US" sz="2800" b="1" dirty="0">
                <a:solidFill>
                  <a:srgbClr val="FFFFFF"/>
                </a:solidFill>
                <a:latin typeface="Georgia" pitchFamily="34" charset="0"/>
                <a:ea typeface="Georgia" pitchFamily="34" charset="-122"/>
                <a:cs typeface="Georgia" pitchFamily="34" charset="-120"/>
              </a:rPr>
              <a:t>Other Important Testing Types</a:t>
            </a:r>
            <a:endParaRPr lang="en-US" sz="2800" dirty="0"/>
          </a:p>
        </p:txBody>
      </p:sp>
      <p:sp>
        <p:nvSpPr>
          <p:cNvPr id="4" name="Shape 2"/>
          <p:cNvSpPr/>
          <p:nvPr/>
        </p:nvSpPr>
        <p:spPr>
          <a:xfrm>
            <a:off x="228600" y="1954530"/>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5" name="Shape 3"/>
          <p:cNvSpPr/>
          <p:nvPr/>
        </p:nvSpPr>
        <p:spPr>
          <a:xfrm>
            <a:off x="228600" y="1954530"/>
            <a:ext cx="1682496" cy="45720"/>
          </a:xfrm>
          <a:prstGeom prst="rect">
            <a:avLst/>
          </a:prstGeom>
          <a:solidFill>
            <a:srgbClr val="DC2626"/>
          </a:solidFill>
          <a:ln w="12700">
            <a:solidFill>
              <a:srgbClr val="DC2626"/>
            </a:solidFill>
            <a:prstDash val="solid"/>
          </a:ln>
        </p:spPr>
        <p:txBody>
          <a:bodyPr/>
          <a:lstStyle/>
          <a:p>
            <a:endParaRPr lang="en-IN"/>
          </a:p>
        </p:txBody>
      </p:sp>
      <p:sp>
        <p:nvSpPr>
          <p:cNvPr id="6" name="Text 4"/>
          <p:cNvSpPr/>
          <p:nvPr/>
        </p:nvSpPr>
        <p:spPr>
          <a:xfrm>
            <a:off x="320040" y="2045970"/>
            <a:ext cx="365760" cy="320040"/>
          </a:xfrm>
          <a:prstGeom prst="rect">
            <a:avLst/>
          </a:prstGeom>
          <a:noFill/>
          <a:ln/>
        </p:spPr>
        <p:txBody>
          <a:bodyPr wrap="square" rtlCol="0" anchor="ctr"/>
          <a:lstStyle/>
          <a:p>
            <a:r>
              <a:rPr lang="en-US" sz="1600" dirty="0"/>
              <a:t>🅰️</a:t>
            </a:r>
          </a:p>
        </p:txBody>
      </p:sp>
      <p:sp>
        <p:nvSpPr>
          <p:cNvPr id="7" name="Text 5"/>
          <p:cNvSpPr/>
          <p:nvPr/>
        </p:nvSpPr>
        <p:spPr>
          <a:xfrm>
            <a:off x="301752" y="2338578"/>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Alpha Testing</a:t>
            </a:r>
            <a:endParaRPr lang="en-US" sz="1100" dirty="0"/>
          </a:p>
        </p:txBody>
      </p:sp>
      <p:sp>
        <p:nvSpPr>
          <p:cNvPr id="8" name="Text 6"/>
          <p:cNvSpPr/>
          <p:nvPr/>
        </p:nvSpPr>
        <p:spPr>
          <a:xfrm>
            <a:off x="301752" y="2667762"/>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Internal QA testing before product release. Identifies early bugs cost-effectively.</a:t>
            </a:r>
            <a:endParaRPr lang="en-US" sz="950" dirty="0"/>
          </a:p>
        </p:txBody>
      </p:sp>
      <p:sp>
        <p:nvSpPr>
          <p:cNvPr id="9" name="Shape 7"/>
          <p:cNvSpPr/>
          <p:nvPr/>
        </p:nvSpPr>
        <p:spPr>
          <a:xfrm>
            <a:off x="2029968" y="1954530"/>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10" name="Shape 8"/>
          <p:cNvSpPr/>
          <p:nvPr/>
        </p:nvSpPr>
        <p:spPr>
          <a:xfrm>
            <a:off x="2029968" y="1954530"/>
            <a:ext cx="1682496" cy="45720"/>
          </a:xfrm>
          <a:prstGeom prst="rect">
            <a:avLst/>
          </a:prstGeom>
          <a:solidFill>
            <a:srgbClr val="DC2626"/>
          </a:solidFill>
          <a:ln w="12700">
            <a:solidFill>
              <a:srgbClr val="DC2626"/>
            </a:solidFill>
            <a:prstDash val="solid"/>
          </a:ln>
        </p:spPr>
        <p:txBody>
          <a:bodyPr/>
          <a:lstStyle/>
          <a:p>
            <a:endParaRPr lang="en-IN"/>
          </a:p>
        </p:txBody>
      </p:sp>
      <p:sp>
        <p:nvSpPr>
          <p:cNvPr id="11" name="Text 9"/>
          <p:cNvSpPr/>
          <p:nvPr/>
        </p:nvSpPr>
        <p:spPr>
          <a:xfrm>
            <a:off x="2121408" y="2045970"/>
            <a:ext cx="365760" cy="320040"/>
          </a:xfrm>
          <a:prstGeom prst="rect">
            <a:avLst/>
          </a:prstGeom>
          <a:noFill/>
          <a:ln/>
        </p:spPr>
        <p:txBody>
          <a:bodyPr wrap="square" rtlCol="0" anchor="ctr"/>
          <a:lstStyle/>
          <a:p>
            <a:r>
              <a:rPr lang="en-US" sz="1600" dirty="0"/>
              <a:t>🅱️</a:t>
            </a:r>
          </a:p>
        </p:txBody>
      </p:sp>
      <p:sp>
        <p:nvSpPr>
          <p:cNvPr id="12" name="Text 10"/>
          <p:cNvSpPr/>
          <p:nvPr/>
        </p:nvSpPr>
        <p:spPr>
          <a:xfrm>
            <a:off x="2103120" y="2338578"/>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Beta Testing</a:t>
            </a:r>
            <a:endParaRPr lang="en-US" sz="1100" dirty="0"/>
          </a:p>
        </p:txBody>
      </p:sp>
      <p:sp>
        <p:nvSpPr>
          <p:cNvPr id="13" name="Text 11"/>
          <p:cNvSpPr/>
          <p:nvPr/>
        </p:nvSpPr>
        <p:spPr>
          <a:xfrm>
            <a:off x="2103120" y="2667762"/>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Limited real users in real environments. Gathers feedback, reduces failure risk post-launch.</a:t>
            </a:r>
            <a:endParaRPr lang="en-US" sz="950" dirty="0"/>
          </a:p>
        </p:txBody>
      </p:sp>
      <p:sp>
        <p:nvSpPr>
          <p:cNvPr id="14" name="Shape 12"/>
          <p:cNvSpPr/>
          <p:nvPr/>
        </p:nvSpPr>
        <p:spPr>
          <a:xfrm>
            <a:off x="3831336" y="1954530"/>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15" name="Shape 13"/>
          <p:cNvSpPr/>
          <p:nvPr/>
        </p:nvSpPr>
        <p:spPr>
          <a:xfrm>
            <a:off x="3831336" y="1954530"/>
            <a:ext cx="1682496" cy="45720"/>
          </a:xfrm>
          <a:prstGeom prst="rect">
            <a:avLst/>
          </a:prstGeom>
          <a:solidFill>
            <a:srgbClr val="DC2626"/>
          </a:solidFill>
          <a:ln w="12700">
            <a:solidFill>
              <a:srgbClr val="DC2626"/>
            </a:solidFill>
            <a:prstDash val="solid"/>
          </a:ln>
        </p:spPr>
        <p:txBody>
          <a:bodyPr/>
          <a:lstStyle/>
          <a:p>
            <a:endParaRPr lang="en-IN"/>
          </a:p>
        </p:txBody>
      </p:sp>
      <p:sp>
        <p:nvSpPr>
          <p:cNvPr id="16" name="Text 14"/>
          <p:cNvSpPr/>
          <p:nvPr/>
        </p:nvSpPr>
        <p:spPr>
          <a:xfrm>
            <a:off x="3922776" y="2045970"/>
            <a:ext cx="365760" cy="320040"/>
          </a:xfrm>
          <a:prstGeom prst="rect">
            <a:avLst/>
          </a:prstGeom>
          <a:noFill/>
          <a:ln/>
        </p:spPr>
        <p:txBody>
          <a:bodyPr wrap="square" rtlCol="0" anchor="ctr"/>
          <a:lstStyle/>
          <a:p>
            <a:r>
              <a:rPr lang="en-US" sz="1600" dirty="0"/>
              <a:t>📋</a:t>
            </a:r>
          </a:p>
        </p:txBody>
      </p:sp>
      <p:sp>
        <p:nvSpPr>
          <p:cNvPr id="17" name="Text 15"/>
          <p:cNvSpPr/>
          <p:nvPr/>
        </p:nvSpPr>
        <p:spPr>
          <a:xfrm>
            <a:off x="3904488" y="2338578"/>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Acceptance Testing</a:t>
            </a:r>
            <a:endParaRPr lang="en-US" sz="1100" dirty="0"/>
          </a:p>
        </p:txBody>
      </p:sp>
      <p:sp>
        <p:nvSpPr>
          <p:cNvPr id="18" name="Text 16"/>
          <p:cNvSpPr/>
          <p:nvPr/>
        </p:nvSpPr>
        <p:spPr>
          <a:xfrm>
            <a:off x="3904488" y="2667762"/>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Customer validates product meets requirements. Involves users directly in testing.</a:t>
            </a:r>
            <a:endParaRPr lang="en-US" sz="950" dirty="0"/>
          </a:p>
        </p:txBody>
      </p:sp>
      <p:sp>
        <p:nvSpPr>
          <p:cNvPr id="19" name="Shape 17"/>
          <p:cNvSpPr/>
          <p:nvPr/>
        </p:nvSpPr>
        <p:spPr>
          <a:xfrm>
            <a:off x="5632704" y="1954530"/>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20" name="Shape 18"/>
          <p:cNvSpPr/>
          <p:nvPr/>
        </p:nvSpPr>
        <p:spPr>
          <a:xfrm>
            <a:off x="5632704" y="1954530"/>
            <a:ext cx="1682496" cy="45720"/>
          </a:xfrm>
          <a:prstGeom prst="rect">
            <a:avLst/>
          </a:prstGeom>
          <a:solidFill>
            <a:srgbClr val="DC2626"/>
          </a:solidFill>
          <a:ln w="12700">
            <a:solidFill>
              <a:srgbClr val="DC2626"/>
            </a:solidFill>
            <a:prstDash val="solid"/>
          </a:ln>
        </p:spPr>
        <p:txBody>
          <a:bodyPr/>
          <a:lstStyle/>
          <a:p>
            <a:endParaRPr lang="en-IN"/>
          </a:p>
        </p:txBody>
      </p:sp>
      <p:sp>
        <p:nvSpPr>
          <p:cNvPr id="21" name="Text 19"/>
          <p:cNvSpPr/>
          <p:nvPr/>
        </p:nvSpPr>
        <p:spPr>
          <a:xfrm>
            <a:off x="5724144" y="2045970"/>
            <a:ext cx="365760" cy="320040"/>
          </a:xfrm>
          <a:prstGeom prst="rect">
            <a:avLst/>
          </a:prstGeom>
          <a:noFill/>
          <a:ln/>
        </p:spPr>
        <p:txBody>
          <a:bodyPr wrap="square" rtlCol="0" anchor="ctr"/>
          <a:lstStyle/>
          <a:p>
            <a:r>
              <a:rPr lang="en-US" sz="1600" dirty="0"/>
              <a:t>🧭</a:t>
            </a:r>
          </a:p>
        </p:txBody>
      </p:sp>
      <p:sp>
        <p:nvSpPr>
          <p:cNvPr id="22" name="Text 20"/>
          <p:cNvSpPr/>
          <p:nvPr/>
        </p:nvSpPr>
        <p:spPr>
          <a:xfrm>
            <a:off x="5705856" y="2338578"/>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Exploratory Testing</a:t>
            </a:r>
            <a:endParaRPr lang="en-US" sz="1100" dirty="0"/>
          </a:p>
        </p:txBody>
      </p:sp>
      <p:sp>
        <p:nvSpPr>
          <p:cNvPr id="23" name="Text 21"/>
          <p:cNvSpPr/>
          <p:nvPr/>
        </p:nvSpPr>
        <p:spPr>
          <a:xfrm>
            <a:off x="5705856" y="2667762"/>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Unscripted testing using tester's knowledge. Quickly finds critical defects.</a:t>
            </a:r>
            <a:endParaRPr lang="en-US" sz="950" dirty="0"/>
          </a:p>
        </p:txBody>
      </p:sp>
      <p:sp>
        <p:nvSpPr>
          <p:cNvPr id="24" name="Shape 22"/>
          <p:cNvSpPr/>
          <p:nvPr/>
        </p:nvSpPr>
        <p:spPr>
          <a:xfrm>
            <a:off x="7434072" y="1954530"/>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25" name="Shape 23"/>
          <p:cNvSpPr/>
          <p:nvPr/>
        </p:nvSpPr>
        <p:spPr>
          <a:xfrm>
            <a:off x="7434072" y="1954530"/>
            <a:ext cx="1682496" cy="45720"/>
          </a:xfrm>
          <a:prstGeom prst="rect">
            <a:avLst/>
          </a:prstGeom>
          <a:solidFill>
            <a:srgbClr val="DC2626"/>
          </a:solidFill>
          <a:ln w="12700">
            <a:solidFill>
              <a:srgbClr val="DC2626"/>
            </a:solidFill>
            <a:prstDash val="solid"/>
          </a:ln>
        </p:spPr>
        <p:txBody>
          <a:bodyPr/>
          <a:lstStyle/>
          <a:p>
            <a:endParaRPr lang="en-IN"/>
          </a:p>
        </p:txBody>
      </p:sp>
      <p:sp>
        <p:nvSpPr>
          <p:cNvPr id="26" name="Text 24"/>
          <p:cNvSpPr/>
          <p:nvPr/>
        </p:nvSpPr>
        <p:spPr>
          <a:xfrm>
            <a:off x="7525512" y="2045970"/>
            <a:ext cx="365760" cy="320040"/>
          </a:xfrm>
          <a:prstGeom prst="rect">
            <a:avLst/>
          </a:prstGeom>
          <a:noFill/>
          <a:ln/>
        </p:spPr>
        <p:txBody>
          <a:bodyPr wrap="square" rtlCol="0" anchor="ctr"/>
          <a:lstStyle/>
          <a:p>
            <a:r>
              <a:rPr lang="en-US" sz="1600" dirty="0"/>
              <a:t>🐒</a:t>
            </a:r>
          </a:p>
        </p:txBody>
      </p:sp>
      <p:sp>
        <p:nvSpPr>
          <p:cNvPr id="27" name="Text 25"/>
          <p:cNvSpPr/>
          <p:nvPr/>
        </p:nvSpPr>
        <p:spPr>
          <a:xfrm>
            <a:off x="7507224" y="2338578"/>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Adhoc / Monkey Testing</a:t>
            </a:r>
            <a:endParaRPr lang="en-US" sz="1100" dirty="0"/>
          </a:p>
        </p:txBody>
      </p:sp>
      <p:sp>
        <p:nvSpPr>
          <p:cNvPr id="28" name="Text 26"/>
          <p:cNvSpPr/>
          <p:nvPr/>
        </p:nvSpPr>
        <p:spPr>
          <a:xfrm>
            <a:off x="7507224" y="2667762"/>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Random informal testing after formal testing. Finds bugs not covered by test cases.</a:t>
            </a:r>
            <a:endParaRPr lang="en-US" sz="950" dirty="0"/>
          </a:p>
        </p:txBody>
      </p:sp>
      <p:sp>
        <p:nvSpPr>
          <p:cNvPr id="29" name="Shape 27"/>
          <p:cNvSpPr/>
          <p:nvPr/>
        </p:nvSpPr>
        <p:spPr>
          <a:xfrm>
            <a:off x="228600" y="3307842"/>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30" name="Shape 28"/>
          <p:cNvSpPr/>
          <p:nvPr/>
        </p:nvSpPr>
        <p:spPr>
          <a:xfrm>
            <a:off x="228600" y="3307842"/>
            <a:ext cx="1682496" cy="45720"/>
          </a:xfrm>
          <a:prstGeom prst="rect">
            <a:avLst/>
          </a:prstGeom>
          <a:solidFill>
            <a:srgbClr val="DC2626"/>
          </a:solidFill>
          <a:ln w="12700">
            <a:solidFill>
              <a:srgbClr val="DC2626"/>
            </a:solidFill>
            <a:prstDash val="solid"/>
          </a:ln>
        </p:spPr>
        <p:txBody>
          <a:bodyPr/>
          <a:lstStyle/>
          <a:p>
            <a:endParaRPr lang="en-IN"/>
          </a:p>
        </p:txBody>
      </p:sp>
      <p:sp>
        <p:nvSpPr>
          <p:cNvPr id="31" name="Text 29"/>
          <p:cNvSpPr/>
          <p:nvPr/>
        </p:nvSpPr>
        <p:spPr>
          <a:xfrm>
            <a:off x="320040" y="3399282"/>
            <a:ext cx="365760" cy="320040"/>
          </a:xfrm>
          <a:prstGeom prst="rect">
            <a:avLst/>
          </a:prstGeom>
          <a:noFill/>
          <a:ln/>
        </p:spPr>
        <p:txBody>
          <a:bodyPr wrap="square" rtlCol="0" anchor="ctr"/>
          <a:lstStyle/>
          <a:p>
            <a:r>
              <a:rPr lang="en-US" sz="1600" dirty="0"/>
              <a:t>⚖️</a:t>
            </a:r>
          </a:p>
        </p:txBody>
      </p:sp>
      <p:sp>
        <p:nvSpPr>
          <p:cNvPr id="32" name="Text 30"/>
          <p:cNvSpPr/>
          <p:nvPr/>
        </p:nvSpPr>
        <p:spPr>
          <a:xfrm>
            <a:off x="301752" y="3691890"/>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A/B Testing</a:t>
            </a:r>
            <a:endParaRPr lang="en-US" sz="1100" dirty="0"/>
          </a:p>
        </p:txBody>
      </p:sp>
      <p:sp>
        <p:nvSpPr>
          <p:cNvPr id="33" name="Text 31"/>
          <p:cNvSpPr/>
          <p:nvPr/>
        </p:nvSpPr>
        <p:spPr>
          <a:xfrm>
            <a:off x="301752" y="4021074"/>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Compares two versions of an asset. Reduces risk, informs data-driven decisions.</a:t>
            </a:r>
            <a:endParaRPr lang="en-US" sz="950" dirty="0"/>
          </a:p>
        </p:txBody>
      </p:sp>
      <p:sp>
        <p:nvSpPr>
          <p:cNvPr id="34" name="Shape 32"/>
          <p:cNvSpPr/>
          <p:nvPr/>
        </p:nvSpPr>
        <p:spPr>
          <a:xfrm>
            <a:off x="2029968" y="3307842"/>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35" name="Shape 33"/>
          <p:cNvSpPr/>
          <p:nvPr/>
        </p:nvSpPr>
        <p:spPr>
          <a:xfrm>
            <a:off x="2029968" y="3307842"/>
            <a:ext cx="1682496" cy="45720"/>
          </a:xfrm>
          <a:prstGeom prst="rect">
            <a:avLst/>
          </a:prstGeom>
          <a:solidFill>
            <a:srgbClr val="DC2626"/>
          </a:solidFill>
          <a:ln w="12700">
            <a:solidFill>
              <a:srgbClr val="DC2626"/>
            </a:solidFill>
            <a:prstDash val="solid"/>
          </a:ln>
        </p:spPr>
        <p:txBody>
          <a:bodyPr/>
          <a:lstStyle/>
          <a:p>
            <a:endParaRPr lang="en-IN"/>
          </a:p>
        </p:txBody>
      </p:sp>
      <p:sp>
        <p:nvSpPr>
          <p:cNvPr id="36" name="Text 34"/>
          <p:cNvSpPr/>
          <p:nvPr/>
        </p:nvSpPr>
        <p:spPr>
          <a:xfrm>
            <a:off x="2121408" y="3399282"/>
            <a:ext cx="365760" cy="320040"/>
          </a:xfrm>
          <a:prstGeom prst="rect">
            <a:avLst/>
          </a:prstGeom>
          <a:noFill/>
          <a:ln/>
        </p:spPr>
        <p:txBody>
          <a:bodyPr wrap="square" rtlCol="0" anchor="ctr"/>
          <a:lstStyle/>
          <a:p>
            <a:r>
              <a:rPr lang="en-US" sz="1600" dirty="0"/>
              <a:t>🖼️</a:t>
            </a:r>
          </a:p>
        </p:txBody>
      </p:sp>
      <p:sp>
        <p:nvSpPr>
          <p:cNvPr id="37" name="Text 35"/>
          <p:cNvSpPr/>
          <p:nvPr/>
        </p:nvSpPr>
        <p:spPr>
          <a:xfrm>
            <a:off x="2103120" y="3691890"/>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GUI Testing</a:t>
            </a:r>
            <a:endParaRPr lang="en-US" sz="1100" dirty="0"/>
          </a:p>
        </p:txBody>
      </p:sp>
      <p:sp>
        <p:nvSpPr>
          <p:cNvPr id="38" name="Text 36"/>
          <p:cNvSpPr/>
          <p:nvPr/>
        </p:nvSpPr>
        <p:spPr>
          <a:xfrm>
            <a:off x="2103120" y="4021074"/>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Tests UI elements — layout, fonts, buttons, links. Validates user experience.</a:t>
            </a:r>
            <a:endParaRPr lang="en-US" sz="950" dirty="0"/>
          </a:p>
        </p:txBody>
      </p:sp>
      <p:sp>
        <p:nvSpPr>
          <p:cNvPr id="39" name="Shape 37"/>
          <p:cNvSpPr/>
          <p:nvPr/>
        </p:nvSpPr>
        <p:spPr>
          <a:xfrm>
            <a:off x="3831336" y="3307842"/>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40" name="Shape 38"/>
          <p:cNvSpPr/>
          <p:nvPr/>
        </p:nvSpPr>
        <p:spPr>
          <a:xfrm>
            <a:off x="3831336" y="3307842"/>
            <a:ext cx="1682496" cy="45720"/>
          </a:xfrm>
          <a:prstGeom prst="rect">
            <a:avLst/>
          </a:prstGeom>
          <a:solidFill>
            <a:srgbClr val="DC2626"/>
          </a:solidFill>
          <a:ln w="12700">
            <a:solidFill>
              <a:srgbClr val="DC2626"/>
            </a:solidFill>
            <a:prstDash val="solid"/>
          </a:ln>
        </p:spPr>
        <p:txBody>
          <a:bodyPr/>
          <a:lstStyle/>
          <a:p>
            <a:endParaRPr lang="en-IN"/>
          </a:p>
        </p:txBody>
      </p:sp>
      <p:sp>
        <p:nvSpPr>
          <p:cNvPr id="41" name="Text 39"/>
          <p:cNvSpPr/>
          <p:nvPr/>
        </p:nvSpPr>
        <p:spPr>
          <a:xfrm>
            <a:off x="3922776" y="3399282"/>
            <a:ext cx="365760" cy="320040"/>
          </a:xfrm>
          <a:prstGeom prst="rect">
            <a:avLst/>
          </a:prstGeom>
          <a:noFill/>
          <a:ln/>
        </p:spPr>
        <p:txBody>
          <a:bodyPr wrap="square" rtlCol="0" anchor="ctr"/>
          <a:lstStyle/>
          <a:p>
            <a:r>
              <a:rPr lang="en-US" sz="1600" dirty="0"/>
              <a:t>♻️</a:t>
            </a:r>
          </a:p>
        </p:txBody>
      </p:sp>
      <p:sp>
        <p:nvSpPr>
          <p:cNvPr id="42" name="Text 40"/>
          <p:cNvSpPr/>
          <p:nvPr/>
        </p:nvSpPr>
        <p:spPr>
          <a:xfrm>
            <a:off x="3904488" y="3691890"/>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Recovery Testing</a:t>
            </a:r>
            <a:endParaRPr lang="en-US" sz="1100" dirty="0"/>
          </a:p>
        </p:txBody>
      </p:sp>
      <p:sp>
        <p:nvSpPr>
          <p:cNvPr id="43" name="Text 41"/>
          <p:cNvSpPr/>
          <p:nvPr/>
        </p:nvSpPr>
        <p:spPr>
          <a:xfrm>
            <a:off x="3904488" y="4021074"/>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Tests crash recovery. Ensures app returns to normal state after unexpected failures.</a:t>
            </a:r>
            <a:endParaRPr lang="en-US" sz="950" dirty="0"/>
          </a:p>
        </p:txBody>
      </p:sp>
      <p:sp>
        <p:nvSpPr>
          <p:cNvPr id="44" name="Shape 42"/>
          <p:cNvSpPr/>
          <p:nvPr/>
        </p:nvSpPr>
        <p:spPr>
          <a:xfrm>
            <a:off x="5632704" y="3307842"/>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45" name="Shape 43"/>
          <p:cNvSpPr/>
          <p:nvPr/>
        </p:nvSpPr>
        <p:spPr>
          <a:xfrm>
            <a:off x="5632704" y="3307842"/>
            <a:ext cx="1682496" cy="45720"/>
          </a:xfrm>
          <a:prstGeom prst="rect">
            <a:avLst/>
          </a:prstGeom>
          <a:solidFill>
            <a:srgbClr val="DC2626"/>
          </a:solidFill>
          <a:ln w="12700">
            <a:solidFill>
              <a:srgbClr val="DC2626"/>
            </a:solidFill>
            <a:prstDash val="solid"/>
          </a:ln>
        </p:spPr>
        <p:txBody>
          <a:bodyPr/>
          <a:lstStyle/>
          <a:p>
            <a:endParaRPr lang="en-IN"/>
          </a:p>
        </p:txBody>
      </p:sp>
      <p:sp>
        <p:nvSpPr>
          <p:cNvPr id="46" name="Text 44"/>
          <p:cNvSpPr/>
          <p:nvPr/>
        </p:nvSpPr>
        <p:spPr>
          <a:xfrm>
            <a:off x="5724144" y="3399282"/>
            <a:ext cx="365760" cy="320040"/>
          </a:xfrm>
          <a:prstGeom prst="rect">
            <a:avLst/>
          </a:prstGeom>
          <a:noFill/>
          <a:ln/>
        </p:spPr>
        <p:txBody>
          <a:bodyPr wrap="square" rtlCol="0" anchor="ctr"/>
          <a:lstStyle/>
          <a:p>
            <a:r>
              <a:rPr lang="en-US" sz="1600" dirty="0"/>
              <a:t>🌍</a:t>
            </a:r>
          </a:p>
        </p:txBody>
      </p:sp>
      <p:sp>
        <p:nvSpPr>
          <p:cNvPr id="47" name="Text 45"/>
          <p:cNvSpPr/>
          <p:nvPr/>
        </p:nvSpPr>
        <p:spPr>
          <a:xfrm>
            <a:off x="5705856" y="3691890"/>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Globalization Testing</a:t>
            </a:r>
            <a:endParaRPr lang="en-US" sz="1100" dirty="0"/>
          </a:p>
        </p:txBody>
      </p:sp>
      <p:sp>
        <p:nvSpPr>
          <p:cNvPr id="48" name="Text 46"/>
          <p:cNvSpPr/>
          <p:nvPr/>
        </p:nvSpPr>
        <p:spPr>
          <a:xfrm>
            <a:off x="5705856" y="4021074"/>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Verifies app works across languages, cultures, and geographies.</a:t>
            </a:r>
            <a:endParaRPr lang="en-US" sz="950" dirty="0"/>
          </a:p>
        </p:txBody>
      </p:sp>
      <p:sp>
        <p:nvSpPr>
          <p:cNvPr id="49" name="Shape 47"/>
          <p:cNvSpPr/>
          <p:nvPr/>
        </p:nvSpPr>
        <p:spPr>
          <a:xfrm>
            <a:off x="7434072" y="3307842"/>
            <a:ext cx="1682496" cy="1188720"/>
          </a:xfrm>
          <a:prstGeom prst="rect">
            <a:avLst/>
          </a:prstGeom>
          <a:solidFill>
            <a:srgbClr val="FFFFFF"/>
          </a:solidFill>
          <a:ln w="12700">
            <a:solidFill>
              <a:srgbClr val="E2EAF4"/>
            </a:solidFill>
            <a:prstDash val="solid"/>
          </a:ln>
          <a:effectLst>
            <a:outerShdw blurRad="50800" dist="25400" dir="8100000" algn="bl" rotWithShape="0">
              <a:srgbClr val="000000">
                <a:alpha val="7000"/>
              </a:srgbClr>
            </a:outerShdw>
          </a:effectLst>
        </p:spPr>
        <p:txBody>
          <a:bodyPr/>
          <a:lstStyle/>
          <a:p>
            <a:endParaRPr lang="en-IN"/>
          </a:p>
        </p:txBody>
      </p:sp>
      <p:sp>
        <p:nvSpPr>
          <p:cNvPr id="50" name="Shape 48"/>
          <p:cNvSpPr/>
          <p:nvPr/>
        </p:nvSpPr>
        <p:spPr>
          <a:xfrm>
            <a:off x="7434072" y="3307842"/>
            <a:ext cx="1682496" cy="45720"/>
          </a:xfrm>
          <a:prstGeom prst="rect">
            <a:avLst/>
          </a:prstGeom>
          <a:solidFill>
            <a:srgbClr val="DC2626"/>
          </a:solidFill>
          <a:ln w="12700">
            <a:solidFill>
              <a:srgbClr val="DC2626"/>
            </a:solidFill>
            <a:prstDash val="solid"/>
          </a:ln>
        </p:spPr>
        <p:txBody>
          <a:bodyPr/>
          <a:lstStyle/>
          <a:p>
            <a:endParaRPr lang="en-IN"/>
          </a:p>
        </p:txBody>
      </p:sp>
      <p:sp>
        <p:nvSpPr>
          <p:cNvPr id="51" name="Text 49"/>
          <p:cNvSpPr/>
          <p:nvPr/>
        </p:nvSpPr>
        <p:spPr>
          <a:xfrm>
            <a:off x="7525512" y="3399282"/>
            <a:ext cx="365760" cy="320040"/>
          </a:xfrm>
          <a:prstGeom prst="rect">
            <a:avLst/>
          </a:prstGeom>
          <a:noFill/>
          <a:ln/>
        </p:spPr>
        <p:txBody>
          <a:bodyPr wrap="square" rtlCol="0" anchor="ctr"/>
          <a:lstStyle/>
          <a:p>
            <a:r>
              <a:rPr lang="en-US" sz="1600" dirty="0"/>
              <a:t>📍</a:t>
            </a:r>
          </a:p>
        </p:txBody>
      </p:sp>
      <p:sp>
        <p:nvSpPr>
          <p:cNvPr id="52" name="Text 50"/>
          <p:cNvSpPr/>
          <p:nvPr/>
        </p:nvSpPr>
        <p:spPr>
          <a:xfrm>
            <a:off x="7507224" y="3691890"/>
            <a:ext cx="1545336" cy="347472"/>
          </a:xfrm>
          <a:prstGeom prst="rect">
            <a:avLst/>
          </a:prstGeom>
          <a:noFill/>
          <a:ln/>
        </p:spPr>
        <p:txBody>
          <a:bodyPr wrap="square" rtlCol="0" anchor="ctr"/>
          <a:lstStyle/>
          <a:p>
            <a:r>
              <a:rPr lang="en-US" sz="1100" b="1" dirty="0">
                <a:solidFill>
                  <a:srgbClr val="1A2B4A"/>
                </a:solidFill>
                <a:latin typeface="Calibri" pitchFamily="34" charset="0"/>
                <a:ea typeface="Calibri" pitchFamily="34" charset="-122"/>
                <a:cs typeface="Calibri" pitchFamily="34" charset="-120"/>
              </a:rPr>
              <a:t>Localization Testing</a:t>
            </a:r>
            <a:endParaRPr lang="en-US" sz="1100" dirty="0"/>
          </a:p>
        </p:txBody>
      </p:sp>
      <p:sp>
        <p:nvSpPr>
          <p:cNvPr id="53" name="Text 51"/>
          <p:cNvSpPr/>
          <p:nvPr/>
        </p:nvSpPr>
        <p:spPr>
          <a:xfrm>
            <a:off x="7507224" y="4021074"/>
            <a:ext cx="1545336" cy="438912"/>
          </a:xfrm>
          <a:prstGeom prst="rect">
            <a:avLst/>
          </a:prstGeom>
          <a:noFill/>
          <a:ln/>
        </p:spPr>
        <p:txBody>
          <a:bodyPr wrap="square" rtlCol="0" anchor="ctr"/>
          <a:lstStyle/>
          <a:p>
            <a:r>
              <a:rPr lang="en-US" sz="950" dirty="0">
                <a:solidFill>
                  <a:srgbClr val="64748B"/>
                </a:solidFill>
                <a:latin typeface="Calibri" pitchFamily="34" charset="0"/>
                <a:ea typeface="Calibri" pitchFamily="34" charset="-122"/>
                <a:cs typeface="Calibri" pitchFamily="34" charset="-120"/>
              </a:rPr>
              <a:t>Tests specific locale/culture version of the product for correctness.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1005840"/>
          </a:xfrm>
          <a:prstGeom prst="rect">
            <a:avLst/>
          </a:prstGeom>
          <a:solidFill>
            <a:srgbClr val="334155"/>
          </a:solidFill>
          <a:ln w="12700">
            <a:solidFill>
              <a:srgbClr val="334155"/>
            </a:solidFill>
            <a:prstDash val="solid"/>
          </a:ln>
        </p:spPr>
        <p:txBody>
          <a:bodyPr/>
          <a:lstStyle/>
          <a:p>
            <a:endParaRPr lang="en-IN"/>
          </a:p>
        </p:txBody>
      </p:sp>
      <p:sp>
        <p:nvSpPr>
          <p:cNvPr id="3" name="Text 1"/>
          <p:cNvSpPr/>
          <p:nvPr/>
        </p:nvSpPr>
        <p:spPr>
          <a:xfrm>
            <a:off x="365760" y="994410"/>
            <a:ext cx="8229600" cy="685800"/>
          </a:xfrm>
          <a:prstGeom prst="rect">
            <a:avLst/>
          </a:prstGeom>
          <a:noFill/>
          <a:ln/>
        </p:spPr>
        <p:txBody>
          <a:bodyPr wrap="square" rtlCol="0" anchor="ctr"/>
          <a:lstStyle/>
          <a:p>
            <a:r>
              <a:rPr lang="en-US" sz="2800" b="1" dirty="0">
                <a:solidFill>
                  <a:srgbClr val="FFFFFF"/>
                </a:solidFill>
                <a:latin typeface="Georgia" pitchFamily="34" charset="0"/>
                <a:ea typeface="Georgia" pitchFamily="34" charset="-122"/>
                <a:cs typeface="Georgia" pitchFamily="34" charset="-120"/>
              </a:rPr>
              <a:t>Software Testing — Pros &amp; Cons</a:t>
            </a:r>
            <a:endParaRPr lang="en-US" sz="2800" dirty="0"/>
          </a:p>
        </p:txBody>
      </p:sp>
      <p:sp>
        <p:nvSpPr>
          <p:cNvPr id="4" name="Shape 2"/>
          <p:cNvSpPr/>
          <p:nvPr/>
        </p:nvSpPr>
        <p:spPr>
          <a:xfrm>
            <a:off x="274320" y="1908810"/>
            <a:ext cx="5120640" cy="365760"/>
          </a:xfrm>
          <a:prstGeom prst="rect">
            <a:avLst/>
          </a:prstGeom>
          <a:solidFill>
            <a:srgbClr val="059669"/>
          </a:solidFill>
          <a:ln w="12700">
            <a:solidFill>
              <a:srgbClr val="059669"/>
            </a:solidFill>
            <a:prstDash val="solid"/>
          </a:ln>
        </p:spPr>
        <p:txBody>
          <a:bodyPr/>
          <a:lstStyle/>
          <a:p>
            <a:endParaRPr lang="en-IN"/>
          </a:p>
        </p:txBody>
      </p:sp>
      <p:sp>
        <p:nvSpPr>
          <p:cNvPr id="5" name="Text 3"/>
          <p:cNvSpPr/>
          <p:nvPr/>
        </p:nvSpPr>
        <p:spPr>
          <a:xfrm>
            <a:off x="274320" y="1908810"/>
            <a:ext cx="5120640" cy="365760"/>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  ADVANTAGES</a:t>
            </a:r>
            <a:endParaRPr lang="en-US" sz="1300" dirty="0"/>
          </a:p>
        </p:txBody>
      </p:sp>
      <p:sp>
        <p:nvSpPr>
          <p:cNvPr id="6" name="Shape 4"/>
          <p:cNvSpPr/>
          <p:nvPr/>
        </p:nvSpPr>
        <p:spPr>
          <a:xfrm>
            <a:off x="274320" y="2320290"/>
            <a:ext cx="5120640" cy="420624"/>
          </a:xfrm>
          <a:prstGeom prst="rect">
            <a:avLst/>
          </a:prstGeom>
          <a:solidFill>
            <a:srgbClr val="FFFFFF"/>
          </a:solidFill>
          <a:ln w="12700">
            <a:solidFill>
              <a:srgbClr val="E2EAF4"/>
            </a:solidFill>
            <a:prstDash val="solid"/>
          </a:ln>
        </p:spPr>
        <p:txBody>
          <a:bodyPr/>
          <a:lstStyle/>
          <a:p>
            <a:endParaRPr lang="en-IN"/>
          </a:p>
        </p:txBody>
      </p:sp>
      <p:sp>
        <p:nvSpPr>
          <p:cNvPr id="7" name="Text 5"/>
          <p:cNvSpPr/>
          <p:nvPr/>
        </p:nvSpPr>
        <p:spPr>
          <a:xfrm>
            <a:off x="320040" y="2393442"/>
            <a:ext cx="320040" cy="274320"/>
          </a:xfrm>
          <a:prstGeom prst="rect">
            <a:avLst/>
          </a:prstGeom>
          <a:noFill/>
          <a:ln/>
        </p:spPr>
        <p:txBody>
          <a:bodyPr wrap="square" rtlCol="0" anchor="ctr"/>
          <a:lstStyle/>
          <a:p>
            <a:r>
              <a:rPr lang="en-US" dirty="0"/>
              <a:t>✅</a:t>
            </a:r>
          </a:p>
        </p:txBody>
      </p:sp>
      <p:sp>
        <p:nvSpPr>
          <p:cNvPr id="8" name="Text 6"/>
          <p:cNvSpPr/>
          <p:nvPr/>
        </p:nvSpPr>
        <p:spPr>
          <a:xfrm>
            <a:off x="685800" y="23568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Customer Satisfaction</a:t>
            </a:r>
            <a:endParaRPr lang="en-US" sz="1100" dirty="0"/>
          </a:p>
        </p:txBody>
      </p:sp>
      <p:sp>
        <p:nvSpPr>
          <p:cNvPr id="9" name="Text 7"/>
          <p:cNvSpPr/>
          <p:nvPr/>
        </p:nvSpPr>
        <p:spPr>
          <a:xfrm>
            <a:off x="685800" y="25397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App works as expected, builds trust</a:t>
            </a:r>
            <a:endParaRPr lang="en-US" sz="1000" dirty="0"/>
          </a:p>
        </p:txBody>
      </p:sp>
      <p:sp>
        <p:nvSpPr>
          <p:cNvPr id="10" name="Shape 8"/>
          <p:cNvSpPr/>
          <p:nvPr/>
        </p:nvSpPr>
        <p:spPr>
          <a:xfrm>
            <a:off x="274320" y="2777490"/>
            <a:ext cx="5120640" cy="420624"/>
          </a:xfrm>
          <a:prstGeom prst="rect">
            <a:avLst/>
          </a:prstGeom>
          <a:solidFill>
            <a:srgbClr val="FFFFFF"/>
          </a:solidFill>
          <a:ln w="12700">
            <a:solidFill>
              <a:srgbClr val="E2EAF4"/>
            </a:solidFill>
            <a:prstDash val="solid"/>
          </a:ln>
        </p:spPr>
        <p:txBody>
          <a:bodyPr/>
          <a:lstStyle/>
          <a:p>
            <a:endParaRPr lang="en-IN"/>
          </a:p>
        </p:txBody>
      </p:sp>
      <p:sp>
        <p:nvSpPr>
          <p:cNvPr id="11" name="Text 9"/>
          <p:cNvSpPr/>
          <p:nvPr/>
        </p:nvSpPr>
        <p:spPr>
          <a:xfrm>
            <a:off x="320040" y="2850642"/>
            <a:ext cx="320040" cy="274320"/>
          </a:xfrm>
          <a:prstGeom prst="rect">
            <a:avLst/>
          </a:prstGeom>
          <a:noFill/>
          <a:ln/>
        </p:spPr>
        <p:txBody>
          <a:bodyPr wrap="square" rtlCol="0" anchor="ctr"/>
          <a:lstStyle/>
          <a:p>
            <a:r>
              <a:rPr lang="en-US" dirty="0"/>
              <a:t>💰</a:t>
            </a:r>
          </a:p>
        </p:txBody>
      </p:sp>
      <p:sp>
        <p:nvSpPr>
          <p:cNvPr id="12" name="Text 10"/>
          <p:cNvSpPr/>
          <p:nvPr/>
        </p:nvSpPr>
        <p:spPr>
          <a:xfrm>
            <a:off x="685800" y="28140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Cost-Effective</a:t>
            </a:r>
            <a:endParaRPr lang="en-US" sz="1100" dirty="0"/>
          </a:p>
        </p:txBody>
      </p:sp>
      <p:sp>
        <p:nvSpPr>
          <p:cNvPr id="13" name="Text 11"/>
          <p:cNvSpPr/>
          <p:nvPr/>
        </p:nvSpPr>
        <p:spPr>
          <a:xfrm>
            <a:off x="685800" y="29969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Early bug detection saves future expenses</a:t>
            </a:r>
            <a:endParaRPr lang="en-US" sz="1000" dirty="0"/>
          </a:p>
        </p:txBody>
      </p:sp>
      <p:sp>
        <p:nvSpPr>
          <p:cNvPr id="14" name="Shape 12"/>
          <p:cNvSpPr/>
          <p:nvPr/>
        </p:nvSpPr>
        <p:spPr>
          <a:xfrm>
            <a:off x="274320" y="3234690"/>
            <a:ext cx="5120640" cy="420624"/>
          </a:xfrm>
          <a:prstGeom prst="rect">
            <a:avLst/>
          </a:prstGeom>
          <a:solidFill>
            <a:srgbClr val="FFFFFF"/>
          </a:solidFill>
          <a:ln w="12700">
            <a:solidFill>
              <a:srgbClr val="E2EAF4"/>
            </a:solidFill>
            <a:prstDash val="solid"/>
          </a:ln>
        </p:spPr>
        <p:txBody>
          <a:bodyPr/>
          <a:lstStyle/>
          <a:p>
            <a:endParaRPr lang="en-IN"/>
          </a:p>
        </p:txBody>
      </p:sp>
      <p:sp>
        <p:nvSpPr>
          <p:cNvPr id="15" name="Text 13"/>
          <p:cNvSpPr/>
          <p:nvPr/>
        </p:nvSpPr>
        <p:spPr>
          <a:xfrm>
            <a:off x="320040" y="3307842"/>
            <a:ext cx="320040" cy="274320"/>
          </a:xfrm>
          <a:prstGeom prst="rect">
            <a:avLst/>
          </a:prstGeom>
          <a:noFill/>
          <a:ln/>
        </p:spPr>
        <p:txBody>
          <a:bodyPr wrap="square" rtlCol="0" anchor="ctr"/>
          <a:lstStyle/>
          <a:p>
            <a:r>
              <a:rPr lang="en-US" dirty="0"/>
              <a:t>🏆</a:t>
            </a:r>
          </a:p>
        </p:txBody>
      </p:sp>
      <p:sp>
        <p:nvSpPr>
          <p:cNvPr id="16" name="Text 14"/>
          <p:cNvSpPr/>
          <p:nvPr/>
        </p:nvSpPr>
        <p:spPr>
          <a:xfrm>
            <a:off x="685800" y="32712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Quality Product</a:t>
            </a:r>
            <a:endParaRPr lang="en-US" sz="1100" dirty="0"/>
          </a:p>
        </p:txBody>
      </p:sp>
      <p:sp>
        <p:nvSpPr>
          <p:cNvPr id="17" name="Text 15"/>
          <p:cNvSpPr/>
          <p:nvPr/>
        </p:nvSpPr>
        <p:spPr>
          <a:xfrm>
            <a:off x="685800" y="34541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High quality, compatibility &amp; user expectations met</a:t>
            </a:r>
            <a:endParaRPr lang="en-US" sz="1000" dirty="0"/>
          </a:p>
        </p:txBody>
      </p:sp>
      <p:sp>
        <p:nvSpPr>
          <p:cNvPr id="18" name="Shape 16"/>
          <p:cNvSpPr/>
          <p:nvPr/>
        </p:nvSpPr>
        <p:spPr>
          <a:xfrm>
            <a:off x="274320" y="3691890"/>
            <a:ext cx="5120640" cy="420624"/>
          </a:xfrm>
          <a:prstGeom prst="rect">
            <a:avLst/>
          </a:prstGeom>
          <a:solidFill>
            <a:srgbClr val="FFFFFF"/>
          </a:solidFill>
          <a:ln w="12700">
            <a:solidFill>
              <a:srgbClr val="E2EAF4"/>
            </a:solidFill>
            <a:prstDash val="solid"/>
          </a:ln>
        </p:spPr>
        <p:txBody>
          <a:bodyPr/>
          <a:lstStyle/>
          <a:p>
            <a:endParaRPr lang="en-IN"/>
          </a:p>
        </p:txBody>
      </p:sp>
      <p:sp>
        <p:nvSpPr>
          <p:cNvPr id="19" name="Text 17"/>
          <p:cNvSpPr/>
          <p:nvPr/>
        </p:nvSpPr>
        <p:spPr>
          <a:xfrm>
            <a:off x="320040" y="3765042"/>
            <a:ext cx="320040" cy="274320"/>
          </a:xfrm>
          <a:prstGeom prst="rect">
            <a:avLst/>
          </a:prstGeom>
          <a:noFill/>
          <a:ln/>
        </p:spPr>
        <p:txBody>
          <a:bodyPr wrap="square" rtlCol="0" anchor="ctr"/>
          <a:lstStyle/>
          <a:p>
            <a:r>
              <a:rPr lang="en-US" dirty="0"/>
              <a:t>🐛</a:t>
            </a:r>
          </a:p>
        </p:txBody>
      </p:sp>
      <p:sp>
        <p:nvSpPr>
          <p:cNvPr id="20" name="Text 18"/>
          <p:cNvSpPr/>
          <p:nvPr/>
        </p:nvSpPr>
        <p:spPr>
          <a:xfrm>
            <a:off x="685800" y="37284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Bug-Free App</a:t>
            </a:r>
            <a:endParaRPr lang="en-US" sz="1100" dirty="0"/>
          </a:p>
        </p:txBody>
      </p:sp>
      <p:sp>
        <p:nvSpPr>
          <p:cNvPr id="21" name="Text 19"/>
          <p:cNvSpPr/>
          <p:nvPr/>
        </p:nvSpPr>
        <p:spPr>
          <a:xfrm>
            <a:off x="685800" y="39113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Finds &amp; fixes bugs for smoother operation</a:t>
            </a:r>
            <a:endParaRPr lang="en-US" sz="1000" dirty="0"/>
          </a:p>
        </p:txBody>
      </p:sp>
      <p:sp>
        <p:nvSpPr>
          <p:cNvPr id="22" name="Shape 20"/>
          <p:cNvSpPr/>
          <p:nvPr/>
        </p:nvSpPr>
        <p:spPr>
          <a:xfrm>
            <a:off x="274320" y="4149090"/>
            <a:ext cx="5120640" cy="420624"/>
          </a:xfrm>
          <a:prstGeom prst="rect">
            <a:avLst/>
          </a:prstGeom>
          <a:solidFill>
            <a:srgbClr val="FFFFFF"/>
          </a:solidFill>
          <a:ln w="12700">
            <a:solidFill>
              <a:srgbClr val="E2EAF4"/>
            </a:solidFill>
            <a:prstDash val="solid"/>
          </a:ln>
        </p:spPr>
        <p:txBody>
          <a:bodyPr/>
          <a:lstStyle/>
          <a:p>
            <a:endParaRPr lang="en-IN"/>
          </a:p>
        </p:txBody>
      </p:sp>
      <p:sp>
        <p:nvSpPr>
          <p:cNvPr id="23" name="Text 21"/>
          <p:cNvSpPr/>
          <p:nvPr/>
        </p:nvSpPr>
        <p:spPr>
          <a:xfrm>
            <a:off x="320040" y="4222242"/>
            <a:ext cx="320040" cy="274320"/>
          </a:xfrm>
          <a:prstGeom prst="rect">
            <a:avLst/>
          </a:prstGeom>
          <a:noFill/>
          <a:ln/>
        </p:spPr>
        <p:txBody>
          <a:bodyPr wrap="square" rtlCol="0" anchor="ctr"/>
          <a:lstStyle/>
          <a:p>
            <a:r>
              <a:rPr lang="en-US" dirty="0"/>
              <a:t>🔒</a:t>
            </a:r>
          </a:p>
        </p:txBody>
      </p:sp>
      <p:sp>
        <p:nvSpPr>
          <p:cNvPr id="24" name="Text 22"/>
          <p:cNvSpPr/>
          <p:nvPr/>
        </p:nvSpPr>
        <p:spPr>
          <a:xfrm>
            <a:off x="685800" y="41856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Security</a:t>
            </a:r>
            <a:endParaRPr lang="en-US" sz="1100" dirty="0"/>
          </a:p>
        </p:txBody>
      </p:sp>
      <p:sp>
        <p:nvSpPr>
          <p:cNvPr id="25" name="Text 23"/>
          <p:cNvSpPr/>
          <p:nvPr/>
        </p:nvSpPr>
        <p:spPr>
          <a:xfrm>
            <a:off x="685800" y="43685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Checks for vulnerabilities, protects sensitive data</a:t>
            </a:r>
            <a:endParaRPr lang="en-US" sz="1000" dirty="0"/>
          </a:p>
        </p:txBody>
      </p:sp>
      <p:sp>
        <p:nvSpPr>
          <p:cNvPr id="26" name="Shape 24"/>
          <p:cNvSpPr/>
          <p:nvPr/>
        </p:nvSpPr>
        <p:spPr>
          <a:xfrm>
            <a:off x="274320" y="4606290"/>
            <a:ext cx="5120640" cy="420624"/>
          </a:xfrm>
          <a:prstGeom prst="rect">
            <a:avLst/>
          </a:prstGeom>
          <a:solidFill>
            <a:srgbClr val="FFFFFF"/>
          </a:solidFill>
          <a:ln w="12700">
            <a:solidFill>
              <a:srgbClr val="E2EAF4"/>
            </a:solidFill>
            <a:prstDash val="solid"/>
          </a:ln>
        </p:spPr>
        <p:txBody>
          <a:bodyPr/>
          <a:lstStyle/>
          <a:p>
            <a:endParaRPr lang="en-IN"/>
          </a:p>
        </p:txBody>
      </p:sp>
      <p:sp>
        <p:nvSpPr>
          <p:cNvPr id="27" name="Text 25"/>
          <p:cNvSpPr/>
          <p:nvPr/>
        </p:nvSpPr>
        <p:spPr>
          <a:xfrm>
            <a:off x="320040" y="4679442"/>
            <a:ext cx="320040" cy="274320"/>
          </a:xfrm>
          <a:prstGeom prst="rect">
            <a:avLst/>
          </a:prstGeom>
          <a:noFill/>
          <a:ln/>
        </p:spPr>
        <p:txBody>
          <a:bodyPr wrap="square" rtlCol="0" anchor="ctr"/>
          <a:lstStyle/>
          <a:p>
            <a:r>
              <a:rPr lang="en-US" dirty="0"/>
              <a:t>⚡</a:t>
            </a:r>
          </a:p>
        </p:txBody>
      </p:sp>
      <p:sp>
        <p:nvSpPr>
          <p:cNvPr id="28" name="Text 26"/>
          <p:cNvSpPr/>
          <p:nvPr/>
        </p:nvSpPr>
        <p:spPr>
          <a:xfrm>
            <a:off x="685800" y="46428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Speed Up Dev</a:t>
            </a:r>
            <a:endParaRPr lang="en-US" sz="1100" dirty="0"/>
          </a:p>
        </p:txBody>
      </p:sp>
      <p:sp>
        <p:nvSpPr>
          <p:cNvPr id="29" name="Text 27"/>
          <p:cNvSpPr/>
          <p:nvPr/>
        </p:nvSpPr>
        <p:spPr>
          <a:xfrm>
            <a:off x="685800" y="48257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Issues caught early = faster delivery</a:t>
            </a:r>
            <a:endParaRPr lang="en-US" sz="1000" dirty="0"/>
          </a:p>
        </p:txBody>
      </p:sp>
      <p:sp>
        <p:nvSpPr>
          <p:cNvPr id="30" name="Shape 28"/>
          <p:cNvSpPr/>
          <p:nvPr/>
        </p:nvSpPr>
        <p:spPr>
          <a:xfrm>
            <a:off x="274320" y="5063490"/>
            <a:ext cx="5120640" cy="420624"/>
          </a:xfrm>
          <a:prstGeom prst="rect">
            <a:avLst/>
          </a:prstGeom>
          <a:solidFill>
            <a:srgbClr val="FFFFFF"/>
          </a:solidFill>
          <a:ln w="12700">
            <a:solidFill>
              <a:srgbClr val="E2EAF4"/>
            </a:solidFill>
            <a:prstDash val="solid"/>
          </a:ln>
        </p:spPr>
        <p:txBody>
          <a:bodyPr/>
          <a:lstStyle/>
          <a:p>
            <a:endParaRPr lang="en-IN"/>
          </a:p>
        </p:txBody>
      </p:sp>
      <p:sp>
        <p:nvSpPr>
          <p:cNvPr id="31" name="Text 29"/>
          <p:cNvSpPr/>
          <p:nvPr/>
        </p:nvSpPr>
        <p:spPr>
          <a:xfrm>
            <a:off x="320040" y="5136642"/>
            <a:ext cx="320040" cy="274320"/>
          </a:xfrm>
          <a:prstGeom prst="rect">
            <a:avLst/>
          </a:prstGeom>
          <a:noFill/>
          <a:ln/>
        </p:spPr>
        <p:txBody>
          <a:bodyPr wrap="square" rtlCol="0" anchor="ctr"/>
          <a:lstStyle/>
          <a:p>
            <a:r>
              <a:rPr lang="en-US" dirty="0"/>
              <a:t>🔍</a:t>
            </a:r>
          </a:p>
        </p:txBody>
      </p:sp>
      <p:sp>
        <p:nvSpPr>
          <p:cNvPr id="32" name="Text 30"/>
          <p:cNvSpPr/>
          <p:nvPr/>
        </p:nvSpPr>
        <p:spPr>
          <a:xfrm>
            <a:off x="685800" y="51000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Early Detection</a:t>
            </a:r>
            <a:endParaRPr lang="en-US" sz="1100" dirty="0"/>
          </a:p>
        </p:txBody>
      </p:sp>
      <p:sp>
        <p:nvSpPr>
          <p:cNvPr id="33" name="Text 31"/>
          <p:cNvSpPr/>
          <p:nvPr/>
        </p:nvSpPr>
        <p:spPr>
          <a:xfrm>
            <a:off x="685800" y="52829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Issues found and fixed sooner in development</a:t>
            </a:r>
            <a:endParaRPr lang="en-US" sz="1000" dirty="0"/>
          </a:p>
        </p:txBody>
      </p:sp>
      <p:sp>
        <p:nvSpPr>
          <p:cNvPr id="34" name="Shape 32"/>
          <p:cNvSpPr/>
          <p:nvPr/>
        </p:nvSpPr>
        <p:spPr>
          <a:xfrm>
            <a:off x="274320" y="5520690"/>
            <a:ext cx="5120640" cy="420624"/>
          </a:xfrm>
          <a:prstGeom prst="rect">
            <a:avLst/>
          </a:prstGeom>
          <a:solidFill>
            <a:srgbClr val="FFFFFF"/>
          </a:solidFill>
          <a:ln w="12700">
            <a:solidFill>
              <a:srgbClr val="E2EAF4"/>
            </a:solidFill>
            <a:prstDash val="solid"/>
          </a:ln>
        </p:spPr>
        <p:txBody>
          <a:bodyPr/>
          <a:lstStyle/>
          <a:p>
            <a:endParaRPr lang="en-IN"/>
          </a:p>
        </p:txBody>
      </p:sp>
      <p:sp>
        <p:nvSpPr>
          <p:cNvPr id="35" name="Text 33"/>
          <p:cNvSpPr/>
          <p:nvPr/>
        </p:nvSpPr>
        <p:spPr>
          <a:xfrm>
            <a:off x="320040" y="5593842"/>
            <a:ext cx="320040" cy="274320"/>
          </a:xfrm>
          <a:prstGeom prst="rect">
            <a:avLst/>
          </a:prstGeom>
          <a:noFill/>
          <a:ln/>
        </p:spPr>
        <p:txBody>
          <a:bodyPr wrap="square" rtlCol="0" anchor="ctr"/>
          <a:lstStyle/>
          <a:p>
            <a:r>
              <a:rPr lang="en-US" dirty="0"/>
              <a:t>📈</a:t>
            </a:r>
          </a:p>
        </p:txBody>
      </p:sp>
      <p:sp>
        <p:nvSpPr>
          <p:cNvPr id="36" name="Text 34"/>
          <p:cNvSpPr/>
          <p:nvPr/>
        </p:nvSpPr>
        <p:spPr>
          <a:xfrm>
            <a:off x="685800" y="5557266"/>
            <a:ext cx="1463040" cy="201168"/>
          </a:xfrm>
          <a:prstGeom prst="rect">
            <a:avLst/>
          </a:prstGeom>
          <a:noFill/>
          <a:ln/>
        </p:spPr>
        <p:txBody>
          <a:bodyPr wrap="square" rtlCol="0" anchor="ctr"/>
          <a:lstStyle/>
          <a:p>
            <a:r>
              <a:rPr lang="en-US" sz="1100" b="1" dirty="0">
                <a:solidFill>
                  <a:srgbClr val="059669"/>
                </a:solidFill>
                <a:latin typeface="Calibri" pitchFamily="34" charset="0"/>
                <a:ea typeface="Calibri" pitchFamily="34" charset="-122"/>
                <a:cs typeface="Calibri" pitchFamily="34" charset="-120"/>
              </a:rPr>
              <a:t>Reliable Product</a:t>
            </a:r>
            <a:endParaRPr lang="en-US" sz="1100" dirty="0"/>
          </a:p>
        </p:txBody>
      </p:sp>
      <p:sp>
        <p:nvSpPr>
          <p:cNvPr id="37" name="Text 35"/>
          <p:cNvSpPr/>
          <p:nvPr/>
        </p:nvSpPr>
        <p:spPr>
          <a:xfrm>
            <a:off x="685800" y="5740146"/>
            <a:ext cx="4572000" cy="18288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Ensures product meets user needs consistently</a:t>
            </a:r>
            <a:endParaRPr lang="en-US" sz="1000" dirty="0"/>
          </a:p>
        </p:txBody>
      </p:sp>
      <p:sp>
        <p:nvSpPr>
          <p:cNvPr id="38" name="Shape 36"/>
          <p:cNvSpPr/>
          <p:nvPr/>
        </p:nvSpPr>
        <p:spPr>
          <a:xfrm>
            <a:off x="5577840" y="1908810"/>
            <a:ext cx="3246120" cy="365760"/>
          </a:xfrm>
          <a:prstGeom prst="rect">
            <a:avLst/>
          </a:prstGeom>
          <a:solidFill>
            <a:srgbClr val="DC2626"/>
          </a:solidFill>
          <a:ln w="12700">
            <a:solidFill>
              <a:srgbClr val="DC2626"/>
            </a:solidFill>
            <a:prstDash val="solid"/>
          </a:ln>
        </p:spPr>
        <p:txBody>
          <a:bodyPr/>
          <a:lstStyle/>
          <a:p>
            <a:endParaRPr lang="en-IN"/>
          </a:p>
        </p:txBody>
      </p:sp>
      <p:sp>
        <p:nvSpPr>
          <p:cNvPr id="39" name="Text 37"/>
          <p:cNvSpPr/>
          <p:nvPr/>
        </p:nvSpPr>
        <p:spPr>
          <a:xfrm>
            <a:off x="5577840" y="1908810"/>
            <a:ext cx="3246120" cy="365760"/>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  DISADVANTAGES</a:t>
            </a:r>
            <a:endParaRPr lang="en-US" sz="1300" dirty="0"/>
          </a:p>
        </p:txBody>
      </p:sp>
      <p:sp>
        <p:nvSpPr>
          <p:cNvPr id="40" name="Shape 38"/>
          <p:cNvSpPr/>
          <p:nvPr/>
        </p:nvSpPr>
        <p:spPr>
          <a:xfrm>
            <a:off x="5577840" y="2320290"/>
            <a:ext cx="3246120" cy="548640"/>
          </a:xfrm>
          <a:prstGeom prst="rect">
            <a:avLst/>
          </a:prstGeom>
          <a:solidFill>
            <a:srgbClr val="FFFFFF"/>
          </a:solidFill>
          <a:ln w="12700">
            <a:solidFill>
              <a:srgbClr val="E2EAF4"/>
            </a:solidFill>
            <a:prstDash val="solid"/>
          </a:ln>
        </p:spPr>
        <p:txBody>
          <a:bodyPr/>
          <a:lstStyle/>
          <a:p>
            <a:endParaRPr lang="en-IN"/>
          </a:p>
        </p:txBody>
      </p:sp>
      <p:sp>
        <p:nvSpPr>
          <p:cNvPr id="41" name="Text 39"/>
          <p:cNvSpPr/>
          <p:nvPr/>
        </p:nvSpPr>
        <p:spPr>
          <a:xfrm>
            <a:off x="5623560" y="2411730"/>
            <a:ext cx="320040" cy="320040"/>
          </a:xfrm>
          <a:prstGeom prst="rect">
            <a:avLst/>
          </a:prstGeom>
          <a:noFill/>
          <a:ln/>
        </p:spPr>
        <p:txBody>
          <a:bodyPr wrap="square" rtlCol="0" anchor="ctr"/>
          <a:lstStyle/>
          <a:p>
            <a:r>
              <a:rPr lang="en-US" dirty="0"/>
              <a:t>⏱️</a:t>
            </a:r>
          </a:p>
        </p:txBody>
      </p:sp>
      <p:sp>
        <p:nvSpPr>
          <p:cNvPr id="42" name="Text 40"/>
          <p:cNvSpPr/>
          <p:nvPr/>
        </p:nvSpPr>
        <p:spPr>
          <a:xfrm>
            <a:off x="5989320" y="2356866"/>
            <a:ext cx="2651760" cy="228600"/>
          </a:xfrm>
          <a:prstGeom prst="rect">
            <a:avLst/>
          </a:prstGeom>
          <a:noFill/>
          <a:ln/>
        </p:spPr>
        <p:txBody>
          <a:bodyPr wrap="square" rtlCol="0" anchor="ctr"/>
          <a:lstStyle/>
          <a:p>
            <a:r>
              <a:rPr lang="en-US" sz="1100" b="1" dirty="0">
                <a:solidFill>
                  <a:srgbClr val="DC2626"/>
                </a:solidFill>
                <a:latin typeface="Calibri" pitchFamily="34" charset="0"/>
                <a:ea typeface="Calibri" pitchFamily="34" charset="-122"/>
                <a:cs typeface="Calibri" pitchFamily="34" charset="-120"/>
              </a:rPr>
              <a:t>Time-Consuming</a:t>
            </a:r>
            <a:endParaRPr lang="en-US" sz="1100" dirty="0"/>
          </a:p>
        </p:txBody>
      </p:sp>
      <p:sp>
        <p:nvSpPr>
          <p:cNvPr id="43" name="Text 41"/>
          <p:cNvSpPr/>
          <p:nvPr/>
        </p:nvSpPr>
        <p:spPr>
          <a:xfrm>
            <a:off x="5989320" y="2594610"/>
            <a:ext cx="2651760" cy="22860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Adds time and cost to the project</a:t>
            </a:r>
            <a:endParaRPr lang="en-US" sz="1000" dirty="0"/>
          </a:p>
        </p:txBody>
      </p:sp>
      <p:sp>
        <p:nvSpPr>
          <p:cNvPr id="44" name="Shape 42"/>
          <p:cNvSpPr/>
          <p:nvPr/>
        </p:nvSpPr>
        <p:spPr>
          <a:xfrm>
            <a:off x="5577840" y="2942082"/>
            <a:ext cx="3246120" cy="548640"/>
          </a:xfrm>
          <a:prstGeom prst="rect">
            <a:avLst/>
          </a:prstGeom>
          <a:solidFill>
            <a:srgbClr val="FFFFFF"/>
          </a:solidFill>
          <a:ln w="12700">
            <a:solidFill>
              <a:srgbClr val="E2EAF4"/>
            </a:solidFill>
            <a:prstDash val="solid"/>
          </a:ln>
        </p:spPr>
        <p:txBody>
          <a:bodyPr/>
          <a:lstStyle/>
          <a:p>
            <a:endParaRPr lang="en-IN"/>
          </a:p>
        </p:txBody>
      </p:sp>
      <p:sp>
        <p:nvSpPr>
          <p:cNvPr id="45" name="Text 43"/>
          <p:cNvSpPr/>
          <p:nvPr/>
        </p:nvSpPr>
        <p:spPr>
          <a:xfrm>
            <a:off x="5623560" y="3033522"/>
            <a:ext cx="320040" cy="320040"/>
          </a:xfrm>
          <a:prstGeom prst="rect">
            <a:avLst/>
          </a:prstGeom>
          <a:noFill/>
          <a:ln/>
        </p:spPr>
        <p:txBody>
          <a:bodyPr wrap="square" rtlCol="0" anchor="ctr"/>
          <a:lstStyle/>
          <a:p>
            <a:r>
              <a:rPr lang="en-US" dirty="0"/>
              <a:t>🐌</a:t>
            </a:r>
          </a:p>
        </p:txBody>
      </p:sp>
      <p:sp>
        <p:nvSpPr>
          <p:cNvPr id="46" name="Text 44"/>
          <p:cNvSpPr/>
          <p:nvPr/>
        </p:nvSpPr>
        <p:spPr>
          <a:xfrm>
            <a:off x="5989320" y="2978658"/>
            <a:ext cx="2651760" cy="228600"/>
          </a:xfrm>
          <a:prstGeom prst="rect">
            <a:avLst/>
          </a:prstGeom>
          <a:noFill/>
          <a:ln/>
        </p:spPr>
        <p:txBody>
          <a:bodyPr wrap="square" rtlCol="0" anchor="ctr"/>
          <a:lstStyle/>
          <a:p>
            <a:r>
              <a:rPr lang="en-US" sz="1100" b="1" dirty="0">
                <a:solidFill>
                  <a:srgbClr val="DC2626"/>
                </a:solidFill>
                <a:latin typeface="Calibri" pitchFamily="34" charset="0"/>
                <a:ea typeface="Calibri" pitchFamily="34" charset="-122"/>
                <a:cs typeface="Calibri" pitchFamily="34" charset="-120"/>
              </a:rPr>
              <a:t>Slows Dev</a:t>
            </a:r>
            <a:endParaRPr lang="en-US" sz="1100" dirty="0"/>
          </a:p>
        </p:txBody>
      </p:sp>
      <p:sp>
        <p:nvSpPr>
          <p:cNvPr id="47" name="Text 45"/>
          <p:cNvSpPr/>
          <p:nvPr/>
        </p:nvSpPr>
        <p:spPr>
          <a:xfrm>
            <a:off x="5989320" y="3216402"/>
            <a:ext cx="2651760" cy="22860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Can slow down the development process</a:t>
            </a:r>
            <a:endParaRPr lang="en-US" sz="1000" dirty="0"/>
          </a:p>
        </p:txBody>
      </p:sp>
      <p:sp>
        <p:nvSpPr>
          <p:cNvPr id="48" name="Shape 46"/>
          <p:cNvSpPr/>
          <p:nvPr/>
        </p:nvSpPr>
        <p:spPr>
          <a:xfrm>
            <a:off x="5577840" y="3563874"/>
            <a:ext cx="3246120" cy="548640"/>
          </a:xfrm>
          <a:prstGeom prst="rect">
            <a:avLst/>
          </a:prstGeom>
          <a:solidFill>
            <a:srgbClr val="FFFFFF"/>
          </a:solidFill>
          <a:ln w="12700">
            <a:solidFill>
              <a:srgbClr val="E2EAF4"/>
            </a:solidFill>
            <a:prstDash val="solid"/>
          </a:ln>
        </p:spPr>
        <p:txBody>
          <a:bodyPr/>
          <a:lstStyle/>
          <a:p>
            <a:endParaRPr lang="en-IN"/>
          </a:p>
        </p:txBody>
      </p:sp>
      <p:sp>
        <p:nvSpPr>
          <p:cNvPr id="49" name="Text 47"/>
          <p:cNvSpPr/>
          <p:nvPr/>
        </p:nvSpPr>
        <p:spPr>
          <a:xfrm>
            <a:off x="5623560" y="3655314"/>
            <a:ext cx="320040" cy="320040"/>
          </a:xfrm>
          <a:prstGeom prst="rect">
            <a:avLst/>
          </a:prstGeom>
          <a:noFill/>
          <a:ln/>
        </p:spPr>
        <p:txBody>
          <a:bodyPr wrap="square" rtlCol="0" anchor="ctr"/>
          <a:lstStyle/>
          <a:p>
            <a:r>
              <a:rPr lang="en-US" dirty="0"/>
              <a:t>🚫</a:t>
            </a:r>
          </a:p>
        </p:txBody>
      </p:sp>
      <p:sp>
        <p:nvSpPr>
          <p:cNvPr id="50" name="Text 48"/>
          <p:cNvSpPr/>
          <p:nvPr/>
        </p:nvSpPr>
        <p:spPr>
          <a:xfrm>
            <a:off x="5989320" y="3600450"/>
            <a:ext cx="2651760" cy="228600"/>
          </a:xfrm>
          <a:prstGeom prst="rect">
            <a:avLst/>
          </a:prstGeom>
          <a:noFill/>
          <a:ln/>
        </p:spPr>
        <p:txBody>
          <a:bodyPr wrap="square" rtlCol="0" anchor="ctr"/>
          <a:lstStyle/>
          <a:p>
            <a:r>
              <a:rPr lang="en-US" sz="1100" b="1" dirty="0">
                <a:solidFill>
                  <a:srgbClr val="DC2626"/>
                </a:solidFill>
                <a:latin typeface="Calibri" pitchFamily="34" charset="0"/>
                <a:ea typeface="Calibri" pitchFamily="34" charset="-122"/>
                <a:cs typeface="Calibri" pitchFamily="34" charset="-120"/>
              </a:rPr>
              <a:t>Not Exhaustive</a:t>
            </a:r>
            <a:endParaRPr lang="en-US" sz="1100" dirty="0"/>
          </a:p>
        </p:txBody>
      </p:sp>
      <p:sp>
        <p:nvSpPr>
          <p:cNvPr id="51" name="Text 49"/>
          <p:cNvSpPr/>
          <p:nvPr/>
        </p:nvSpPr>
        <p:spPr>
          <a:xfrm>
            <a:off x="5989320" y="3838194"/>
            <a:ext cx="2651760" cy="22860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Not all defects can be found</a:t>
            </a:r>
            <a:endParaRPr lang="en-US" sz="1000" dirty="0"/>
          </a:p>
        </p:txBody>
      </p:sp>
      <p:sp>
        <p:nvSpPr>
          <p:cNvPr id="52" name="Shape 50"/>
          <p:cNvSpPr/>
          <p:nvPr/>
        </p:nvSpPr>
        <p:spPr>
          <a:xfrm>
            <a:off x="5577840" y="4185666"/>
            <a:ext cx="3246120" cy="548640"/>
          </a:xfrm>
          <a:prstGeom prst="rect">
            <a:avLst/>
          </a:prstGeom>
          <a:solidFill>
            <a:srgbClr val="FFFFFF"/>
          </a:solidFill>
          <a:ln w="12700">
            <a:solidFill>
              <a:srgbClr val="E2EAF4"/>
            </a:solidFill>
            <a:prstDash val="solid"/>
          </a:ln>
        </p:spPr>
        <p:txBody>
          <a:bodyPr/>
          <a:lstStyle/>
          <a:p>
            <a:endParaRPr lang="en-IN"/>
          </a:p>
        </p:txBody>
      </p:sp>
      <p:sp>
        <p:nvSpPr>
          <p:cNvPr id="53" name="Text 51"/>
          <p:cNvSpPr/>
          <p:nvPr/>
        </p:nvSpPr>
        <p:spPr>
          <a:xfrm>
            <a:off x="5623560" y="4277106"/>
            <a:ext cx="320040" cy="320040"/>
          </a:xfrm>
          <a:prstGeom prst="rect">
            <a:avLst/>
          </a:prstGeom>
          <a:noFill/>
          <a:ln/>
        </p:spPr>
        <p:txBody>
          <a:bodyPr wrap="square" rtlCol="0" anchor="ctr"/>
          <a:lstStyle/>
          <a:p>
            <a:r>
              <a:rPr lang="en-US" dirty="0"/>
              <a:t>🧩</a:t>
            </a:r>
          </a:p>
        </p:txBody>
      </p:sp>
      <p:sp>
        <p:nvSpPr>
          <p:cNvPr id="54" name="Text 52"/>
          <p:cNvSpPr/>
          <p:nvPr/>
        </p:nvSpPr>
        <p:spPr>
          <a:xfrm>
            <a:off x="5989320" y="4222242"/>
            <a:ext cx="2651760" cy="228600"/>
          </a:xfrm>
          <a:prstGeom prst="rect">
            <a:avLst/>
          </a:prstGeom>
          <a:noFill/>
          <a:ln/>
        </p:spPr>
        <p:txBody>
          <a:bodyPr wrap="square" rtlCol="0" anchor="ctr"/>
          <a:lstStyle/>
          <a:p>
            <a:r>
              <a:rPr lang="en-US" sz="1100" b="1" dirty="0">
                <a:solidFill>
                  <a:srgbClr val="DC2626"/>
                </a:solidFill>
                <a:latin typeface="Calibri" pitchFamily="34" charset="0"/>
                <a:ea typeface="Calibri" pitchFamily="34" charset="-122"/>
                <a:cs typeface="Calibri" pitchFamily="34" charset="-120"/>
              </a:rPr>
              <a:t>Complex Systems</a:t>
            </a:r>
            <a:endParaRPr lang="en-US" sz="1100" dirty="0"/>
          </a:p>
        </p:txBody>
      </p:sp>
      <p:sp>
        <p:nvSpPr>
          <p:cNvPr id="55" name="Text 53"/>
          <p:cNvSpPr/>
          <p:nvPr/>
        </p:nvSpPr>
        <p:spPr>
          <a:xfrm>
            <a:off x="5989320" y="4459986"/>
            <a:ext cx="2651760" cy="22860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Hard to fully test complex architectures</a:t>
            </a:r>
            <a:endParaRPr lang="en-US" sz="1000" dirty="0"/>
          </a:p>
        </p:txBody>
      </p:sp>
      <p:sp>
        <p:nvSpPr>
          <p:cNvPr id="56" name="Shape 54"/>
          <p:cNvSpPr/>
          <p:nvPr/>
        </p:nvSpPr>
        <p:spPr>
          <a:xfrm>
            <a:off x="5577840" y="4807458"/>
            <a:ext cx="3246120" cy="548640"/>
          </a:xfrm>
          <a:prstGeom prst="rect">
            <a:avLst/>
          </a:prstGeom>
          <a:solidFill>
            <a:srgbClr val="FFFFFF"/>
          </a:solidFill>
          <a:ln w="12700">
            <a:solidFill>
              <a:srgbClr val="E2EAF4"/>
            </a:solidFill>
            <a:prstDash val="solid"/>
          </a:ln>
        </p:spPr>
        <p:txBody>
          <a:bodyPr/>
          <a:lstStyle/>
          <a:p>
            <a:endParaRPr lang="en-IN"/>
          </a:p>
        </p:txBody>
      </p:sp>
      <p:sp>
        <p:nvSpPr>
          <p:cNvPr id="57" name="Text 55"/>
          <p:cNvSpPr/>
          <p:nvPr/>
        </p:nvSpPr>
        <p:spPr>
          <a:xfrm>
            <a:off x="5623560" y="4898898"/>
            <a:ext cx="320040" cy="320040"/>
          </a:xfrm>
          <a:prstGeom prst="rect">
            <a:avLst/>
          </a:prstGeom>
          <a:noFill/>
          <a:ln/>
        </p:spPr>
        <p:txBody>
          <a:bodyPr wrap="square" rtlCol="0" anchor="ctr"/>
          <a:lstStyle/>
          <a:p>
            <a:r>
              <a:rPr lang="en-US" dirty="0"/>
              <a:t>👤</a:t>
            </a:r>
          </a:p>
        </p:txBody>
      </p:sp>
      <p:sp>
        <p:nvSpPr>
          <p:cNvPr id="58" name="Text 56"/>
          <p:cNvSpPr/>
          <p:nvPr/>
        </p:nvSpPr>
        <p:spPr>
          <a:xfrm>
            <a:off x="5989320" y="4844034"/>
            <a:ext cx="2651760" cy="228600"/>
          </a:xfrm>
          <a:prstGeom prst="rect">
            <a:avLst/>
          </a:prstGeom>
          <a:noFill/>
          <a:ln/>
        </p:spPr>
        <p:txBody>
          <a:bodyPr wrap="square" rtlCol="0" anchor="ctr"/>
          <a:lstStyle/>
          <a:p>
            <a:r>
              <a:rPr lang="en-US" sz="1100" b="1" dirty="0">
                <a:solidFill>
                  <a:srgbClr val="DC2626"/>
                </a:solidFill>
                <a:latin typeface="Calibri" pitchFamily="34" charset="0"/>
                <a:ea typeface="Calibri" pitchFamily="34" charset="-122"/>
                <a:cs typeface="Calibri" pitchFamily="34" charset="-120"/>
              </a:rPr>
              <a:t>Human Error</a:t>
            </a:r>
            <a:endParaRPr lang="en-US" sz="1100" dirty="0"/>
          </a:p>
        </p:txBody>
      </p:sp>
      <p:sp>
        <p:nvSpPr>
          <p:cNvPr id="59" name="Text 57"/>
          <p:cNvSpPr/>
          <p:nvPr/>
        </p:nvSpPr>
        <p:spPr>
          <a:xfrm>
            <a:off x="5989320" y="5081778"/>
            <a:ext cx="2651760" cy="228600"/>
          </a:xfrm>
          <a:prstGeom prst="rect">
            <a:avLst/>
          </a:prstGeom>
          <a:noFill/>
          <a:ln/>
        </p:spPr>
        <p:txBody>
          <a:bodyPr wrap="square" rtlCol="0" anchor="ctr"/>
          <a:lstStyle/>
          <a:p>
            <a:r>
              <a:rPr lang="en-US" sz="1000" dirty="0">
                <a:solidFill>
                  <a:srgbClr val="64748B"/>
                </a:solidFill>
                <a:latin typeface="Calibri" pitchFamily="34" charset="0"/>
                <a:ea typeface="Calibri" pitchFamily="34" charset="-122"/>
                <a:cs typeface="Calibri" pitchFamily="34" charset="-120"/>
              </a:rPr>
              <a:t>Testers can introduce errors during testing</a:t>
            </a:r>
            <a:endParaRPr lang="en-US" sz="1000" dirty="0"/>
          </a:p>
        </p:txBody>
      </p:sp>
    </p:spTree>
  </p:cSld>
  <p:clrMapOvr>
    <a:masterClrMapping/>
  </p:clrMapOvr>
</p:sld>
</file>

<file path=ppt/theme/theme1.xml><?xml version="1.0" encoding="utf-8"?>
<a:theme xmlns:a="http://schemas.openxmlformats.org/drawingml/2006/main"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TotalTime>
  <Words>1389</Words>
  <Application>Microsoft Office PowerPoint</Application>
  <PresentationFormat>On-screen Show (4:3)</PresentationFormat>
  <Paragraphs>220</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Georgia</vt:lpstr>
      <vt:lpstr>Noto Sans Symbols</vt:lpstr>
      <vt:lpstr>SE9</vt:lpstr>
      <vt:lpstr>Chapter 8 – Software Testing</vt:lpstr>
      <vt:lpstr>Program testing</vt:lpstr>
      <vt:lpstr>Program testing goals</vt:lpstr>
      <vt:lpstr>Bug vs Defect vs Error vs Fault vs Failure</vt:lpstr>
      <vt:lpstr>Software Testing Strategies</vt:lpstr>
      <vt:lpstr>Software Testing Strategies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Tirthankar Ghosh</cp:lastModifiedBy>
  <cp:revision>4</cp:revision>
  <dcterms:modified xsi:type="dcterms:W3CDTF">2026-05-12T18:04:28Z</dcterms:modified>
</cp:coreProperties>
</file>