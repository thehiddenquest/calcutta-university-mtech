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2" r:id="rId5"/>
    <p:sldId id="259" r:id="rId6"/>
    <p:sldId id="261" r:id="rId7"/>
    <p:sldId id="277" r:id="rId8"/>
    <p:sldId id="274" r:id="rId9"/>
    <p:sldId id="276" r:id="rId10"/>
    <p:sldId id="26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10"/>
  </p:normalViewPr>
  <p:slideViewPr>
    <p:cSldViewPr snapToGrid="0" snapToObjects="1">
      <p:cViewPr>
        <p:scale>
          <a:sx n="10" d="100"/>
          <a:sy n="10" d="100"/>
        </p:scale>
        <p:origin x="3677" y="16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84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2994-DCAE-F5EB-C3EC-8EB469D1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65A65-A7EA-8962-3076-BBB8EC8F4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36FEB-429E-956F-0199-02C72B1CE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20492-9B2E-9165-4692-17C433A73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5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BEC0-C4EA-95FD-BD91-BB46FAD6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473E0-24FE-CB56-A7C3-A502BC40E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B37F0-F5DC-8AE0-6635-3ED3399AB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23FD8-79E4-7413-ED0E-3DFC99BFA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07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Software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2004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all 14 UML diagram types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Online Food Ordering System as the running example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Modeling Language  •  Structural &amp; Behavioral Diagrams  •  Software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UML?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Modeling Language (UML)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standardized visual language for specifying, constructing, visualizing, and documenting software systems.
</a:t>
            </a: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by: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Management Group (OMG)
</a:t>
            </a: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2.5
</a:t>
            </a: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system architecture, design, and behavior before coding begins.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UML?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Blueprint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6733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blueprint before writing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0848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Communication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340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language between developers, clients, and stakeholders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752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Fewer Bugs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008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design flaws early in the development 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419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Documentation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or maintain system documentation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087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Reusability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and reuse designs across projects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 Types —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STRUCTURAL DIAGRAMS (7)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 Diagram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40233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 Diagram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76856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Component Diagram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752344"/>
            <a:ext cx="40233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Deployment Diagram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27832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2735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Package Diagram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40233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Composite Structure Diagram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17880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42245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Profile Diagram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BEHAVIORAL DIAGRAMS (7)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325880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92040" y="13716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Case Diagram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801368"/>
            <a:ext cx="4023360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92040" y="18470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Activity Diagram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276856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23225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Sequence Diagram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752344"/>
            <a:ext cx="4023360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92040" y="279806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Machine Diagram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227832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92040" y="32735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Communication Diagram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023360" cy="402336"/>
          </a:xfrm>
          <a:prstGeom prst="rect">
            <a:avLst/>
          </a:prstGeom>
          <a:solidFill>
            <a:srgbClr val="E8F5E9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37490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Interaction Overview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4178808"/>
            <a:ext cx="40233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92040" y="42245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Timing Diagram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Diagram?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8288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905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data model and class relationships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18288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system scope and user interactions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182880" cy="7315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step-by-step workflows and API calls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182880" cy="7315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3741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business process or algorithm 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4160520"/>
            <a:ext cx="182880" cy="7315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41970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07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lifecycle of an object (Order, Payment)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86868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9160" y="868680"/>
            <a:ext cx="182880" cy="73152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83480" y="9052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216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architecture of software modules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69164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4E34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1691640"/>
            <a:ext cx="182880" cy="73152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834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3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20391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infrastructure and server setup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51460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2514600"/>
            <a:ext cx="182880" cy="7315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25511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Diagram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28620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design with real data examples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33756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3337560"/>
            <a:ext cx="18288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83480" y="33741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Diagram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83480" y="3685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object collaboration in a network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160520"/>
            <a:ext cx="42976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747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09160" y="4160520"/>
            <a:ext cx="182880" cy="73152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83480" y="41970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Diagram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83480" y="4507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time-based state changes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Online Food Ordering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UML diagrams will model this single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menu, places orders, tracks delivery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19456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🍳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&amp; prepares food orders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🛵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and delivers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194560"/>
            <a:ext cx="1920240" cy="2560320"/>
          </a:xfrm>
          <a:prstGeom prst="rect">
            <a:avLst/>
          </a:prstGeom>
          <a:solidFill>
            <a:srgbClr val="16213E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7512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675120" y="2834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32004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restaurants, and system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Case Diagram  |  Behavioral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actors and their interactions with the system. Captures system functionality from user perspective.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19"/>
            <a:ext cx="2286000" cy="379475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figure — external user or 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30552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— a system function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615184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— scope of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99816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0098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actor uses case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84448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78561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sub-function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2702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553712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— inheritance</a:t>
            </a:r>
            <a:endParaRPr lang="en-US" sz="1000" dirty="0"/>
          </a:p>
        </p:txBody>
      </p:sp>
      <p:pic>
        <p:nvPicPr>
          <p:cNvPr id="48" name="Picture 47" descr="Use Case diagram bank security system">
            <a:extLst>
              <a:ext uri="{FF2B5EF4-FFF2-40B4-BE49-F238E27FC236}">
                <a16:creationId xmlns:a16="http://schemas.microsoft.com/office/drawing/2014/main" id="{03F97BA9-F969-A75C-002D-D1C6F927F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153" y="1349440"/>
            <a:ext cx="5755527" cy="33094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C0C15-C528-8984-6387-C7DA7855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F0D8C4-4AE4-6C1D-76F5-B832953982A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FF989E-CE7E-A3A4-2654-9BC5767851E9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Case Diagram  |  Behavioral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2AE715-0D92-3853-1217-96EED100A1E7}"/>
              </a:ext>
            </a:extLst>
          </p:cNvPr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actors and their interactions with the system. Captures system functionality from user perspective.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687D1FF-E48B-54FC-5B33-C008A3FD6A46}"/>
              </a:ext>
            </a:extLst>
          </p:cNvPr>
          <p:cNvSpPr/>
          <p:nvPr/>
        </p:nvSpPr>
        <p:spPr>
          <a:xfrm>
            <a:off x="274320" y="1188719"/>
            <a:ext cx="2286000" cy="379475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D7EE3A-5D8E-C1FA-2500-D0148AE1EF7F}"/>
              </a:ext>
            </a:extLst>
          </p:cNvPr>
          <p:cNvSpPr/>
          <p:nvPr/>
        </p:nvSpPr>
        <p:spPr>
          <a:xfrm>
            <a:off x="36576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D6D4430-5E45-E0C1-F6F9-138EA7078AB4}"/>
              </a:ext>
            </a:extLst>
          </p:cNvPr>
          <p:cNvSpPr/>
          <p:nvPr/>
        </p:nvSpPr>
        <p:spPr>
          <a:xfrm>
            <a:off x="365760" y="1645920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87DAF5-DAA2-25DD-02F7-4056113130DC}"/>
              </a:ext>
            </a:extLst>
          </p:cNvPr>
          <p:cNvSpPr/>
          <p:nvPr/>
        </p:nvSpPr>
        <p:spPr>
          <a:xfrm>
            <a:off x="365760" y="184708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figure — external user or system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9CCFA64-A833-869D-91E7-A804303CB71F}"/>
              </a:ext>
            </a:extLst>
          </p:cNvPr>
          <p:cNvSpPr/>
          <p:nvPr/>
        </p:nvSpPr>
        <p:spPr>
          <a:xfrm>
            <a:off x="365760" y="2130552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AA85121-02FE-B8C4-4F81-EBC979039F46}"/>
              </a:ext>
            </a:extLst>
          </p:cNvPr>
          <p:cNvSpPr/>
          <p:nvPr/>
        </p:nvSpPr>
        <p:spPr>
          <a:xfrm>
            <a:off x="365760" y="2331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— a system function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096AC70-DA44-9BA6-6C0D-41DD0AF64063}"/>
              </a:ext>
            </a:extLst>
          </p:cNvPr>
          <p:cNvSpPr/>
          <p:nvPr/>
        </p:nvSpPr>
        <p:spPr>
          <a:xfrm>
            <a:off x="365760" y="2615184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CD2BF8-30C7-B147-B03B-CAE88753799A}"/>
              </a:ext>
            </a:extLst>
          </p:cNvPr>
          <p:cNvSpPr/>
          <p:nvPr/>
        </p:nvSpPr>
        <p:spPr>
          <a:xfrm>
            <a:off x="365760" y="28163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— scope of system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14767E4-E286-E6DC-2916-FC1850FE02FF}"/>
              </a:ext>
            </a:extLst>
          </p:cNvPr>
          <p:cNvSpPr/>
          <p:nvPr/>
        </p:nvSpPr>
        <p:spPr>
          <a:xfrm>
            <a:off x="365760" y="3099816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904C19-2F37-68D6-95CE-74A77809D4C1}"/>
              </a:ext>
            </a:extLst>
          </p:cNvPr>
          <p:cNvSpPr/>
          <p:nvPr/>
        </p:nvSpPr>
        <p:spPr>
          <a:xfrm>
            <a:off x="365760" y="330098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actor uses case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1544EA-3CF7-21A4-5910-BF81CB725977}"/>
              </a:ext>
            </a:extLst>
          </p:cNvPr>
          <p:cNvSpPr/>
          <p:nvPr/>
        </p:nvSpPr>
        <p:spPr>
          <a:xfrm>
            <a:off x="365760" y="3584448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&lt;&lt;include&gt;&gt;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5B62D49-B4AD-B114-38D8-B37158DD0DCB}"/>
              </a:ext>
            </a:extLst>
          </p:cNvPr>
          <p:cNvSpPr/>
          <p:nvPr/>
        </p:nvSpPr>
        <p:spPr>
          <a:xfrm>
            <a:off x="365760" y="378561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sub-function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9202053-BA9C-93CB-621F-3C1A56140638}"/>
              </a:ext>
            </a:extLst>
          </p:cNvPr>
          <p:cNvSpPr/>
          <p:nvPr/>
        </p:nvSpPr>
        <p:spPr>
          <a:xfrm>
            <a:off x="365760" y="4069080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&lt;&lt;extend&gt;&gt;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D9AC8C-201B-8AE0-662E-BB4DB6A2D28F}"/>
              </a:ext>
            </a:extLst>
          </p:cNvPr>
          <p:cNvSpPr/>
          <p:nvPr/>
        </p:nvSpPr>
        <p:spPr>
          <a:xfrm>
            <a:off x="365760" y="427024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extension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74E849B-D741-0148-FBA4-9B4C13DFFA3E}"/>
              </a:ext>
            </a:extLst>
          </p:cNvPr>
          <p:cNvSpPr/>
          <p:nvPr/>
        </p:nvSpPr>
        <p:spPr>
          <a:xfrm>
            <a:off x="365760" y="4553712"/>
            <a:ext cx="2103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E38B3E-017A-73D1-CAD4-B16608975E95}"/>
              </a:ext>
            </a:extLst>
          </p:cNvPr>
          <p:cNvSpPr/>
          <p:nvPr/>
        </p:nvSpPr>
        <p:spPr>
          <a:xfrm>
            <a:off x="36576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— inheritance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26D65B-456A-5F26-795B-7EB41AB91F35}"/>
              </a:ext>
            </a:extLst>
          </p:cNvPr>
          <p:cNvSpPr/>
          <p:nvPr/>
        </p:nvSpPr>
        <p:spPr>
          <a:xfrm>
            <a:off x="2743200" y="1097280"/>
            <a:ext cx="5212080" cy="3749040"/>
          </a:xfrm>
          <a:prstGeom prst="rect">
            <a:avLst/>
          </a:prstGeom>
          <a:solidFill>
            <a:srgbClr val="F3F8FF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9F60DC9-8223-FF38-57C2-D3DB17CDFE80}"/>
              </a:ext>
            </a:extLst>
          </p:cNvPr>
          <p:cNvSpPr/>
          <p:nvPr/>
        </p:nvSpPr>
        <p:spPr>
          <a:xfrm>
            <a:off x="2743200" y="11155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 System</a:t>
            </a:r>
            <a:endParaRPr lang="en-US" sz="12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208235E-4981-ADC5-D62E-778AC727CA4E}"/>
              </a:ext>
            </a:extLst>
          </p:cNvPr>
          <p:cNvSpPr/>
          <p:nvPr/>
        </p:nvSpPr>
        <p:spPr>
          <a:xfrm>
            <a:off x="3657600" y="1600200"/>
            <a:ext cx="1737360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82C42B2-8958-5571-E249-E00A6DD800D5}"/>
              </a:ext>
            </a:extLst>
          </p:cNvPr>
          <p:cNvSpPr/>
          <p:nvPr/>
        </p:nvSpPr>
        <p:spPr>
          <a:xfrm>
            <a:off x="365760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Menu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9D15FD4-6C1E-B550-6BA3-1E290474CDB0}"/>
              </a:ext>
            </a:extLst>
          </p:cNvPr>
          <p:cNvSpPr/>
          <p:nvPr/>
        </p:nvSpPr>
        <p:spPr>
          <a:xfrm>
            <a:off x="5669280" y="160020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4056F91-0402-1C2A-AE03-BA48487704F5}"/>
              </a:ext>
            </a:extLst>
          </p:cNvPr>
          <p:cNvSpPr/>
          <p:nvPr/>
        </p:nvSpPr>
        <p:spPr>
          <a:xfrm>
            <a:off x="566928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11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85D7B55-AF2E-A2DB-BC2E-0977F0ADB932}"/>
              </a:ext>
            </a:extLst>
          </p:cNvPr>
          <p:cNvSpPr/>
          <p:nvPr/>
        </p:nvSpPr>
        <p:spPr>
          <a:xfrm>
            <a:off x="3657600" y="246888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8C780DD-924F-4430-DE30-91219A17857E}"/>
              </a:ext>
            </a:extLst>
          </p:cNvPr>
          <p:cNvSpPr/>
          <p:nvPr/>
        </p:nvSpPr>
        <p:spPr>
          <a:xfrm>
            <a:off x="365760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34F60D6-1265-C643-4D9A-91C1605DB154}"/>
              </a:ext>
            </a:extLst>
          </p:cNvPr>
          <p:cNvSpPr/>
          <p:nvPr/>
        </p:nvSpPr>
        <p:spPr>
          <a:xfrm>
            <a:off x="5669280" y="246888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A961842-21D0-B905-15F9-6F3F7B5108B9}"/>
              </a:ext>
            </a:extLst>
          </p:cNvPr>
          <p:cNvSpPr/>
          <p:nvPr/>
        </p:nvSpPr>
        <p:spPr>
          <a:xfrm>
            <a:off x="5669280" y="246888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</a:t>
            </a:r>
            <a:endParaRPr lang="en-US" sz="11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A0A73EA-C20D-AF01-1518-3442705E4D32}"/>
              </a:ext>
            </a:extLst>
          </p:cNvPr>
          <p:cNvSpPr/>
          <p:nvPr/>
        </p:nvSpPr>
        <p:spPr>
          <a:xfrm>
            <a:off x="3657600" y="333756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4FC58C7-BFFF-6429-E8E5-CC6C209D7EF2}"/>
              </a:ext>
            </a:extLst>
          </p:cNvPr>
          <p:cNvSpPr/>
          <p:nvPr/>
        </p:nvSpPr>
        <p:spPr>
          <a:xfrm>
            <a:off x="36576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Review</a:t>
            </a:r>
            <a:endParaRPr lang="en-US" sz="11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C75E3EB-DAFB-C9FF-5360-9B7431E5F090}"/>
              </a:ext>
            </a:extLst>
          </p:cNvPr>
          <p:cNvSpPr/>
          <p:nvPr/>
        </p:nvSpPr>
        <p:spPr>
          <a:xfrm>
            <a:off x="5669280" y="333756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A402E73-20DC-833A-AE05-F83E6FD69D29}"/>
              </a:ext>
            </a:extLst>
          </p:cNvPr>
          <p:cNvSpPr/>
          <p:nvPr/>
        </p:nvSpPr>
        <p:spPr>
          <a:xfrm>
            <a:off x="56692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Menu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C997900-13BD-01F4-436A-8F11A3156573}"/>
              </a:ext>
            </a:extLst>
          </p:cNvPr>
          <p:cNvSpPr/>
          <p:nvPr/>
        </p:nvSpPr>
        <p:spPr>
          <a:xfrm>
            <a:off x="4663440" y="4206240"/>
            <a:ext cx="173736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BE4F876-F057-5E7F-1945-2F32C41DA501}"/>
              </a:ext>
            </a:extLst>
          </p:cNvPr>
          <p:cNvSpPr/>
          <p:nvPr/>
        </p:nvSpPr>
        <p:spPr>
          <a:xfrm>
            <a:off x="4663440" y="42062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Order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E680256-E342-9C42-998C-62D881D3520C}"/>
              </a:ext>
            </a:extLst>
          </p:cNvPr>
          <p:cNvSpPr/>
          <p:nvPr/>
        </p:nvSpPr>
        <p:spPr>
          <a:xfrm>
            <a:off x="23774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3533C05-0DA1-AB13-0023-149E03C5DE78}"/>
              </a:ext>
            </a:extLst>
          </p:cNvPr>
          <p:cNvSpPr/>
          <p:nvPr/>
        </p:nvSpPr>
        <p:spPr>
          <a:xfrm>
            <a:off x="228600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1465DD3-D65A-4580-255C-D6A9A56DF18F}"/>
              </a:ext>
            </a:extLst>
          </p:cNvPr>
          <p:cNvSpPr/>
          <p:nvPr/>
        </p:nvSpPr>
        <p:spPr>
          <a:xfrm>
            <a:off x="79552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🍳</a:t>
            </a:r>
            <a:endParaRPr lang="en-US" sz="2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1844C85-F7DB-5C9B-6FA0-B90719143C1A}"/>
              </a:ext>
            </a:extLst>
          </p:cNvPr>
          <p:cNvSpPr/>
          <p:nvPr/>
        </p:nvSpPr>
        <p:spPr>
          <a:xfrm>
            <a:off x="786384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9BBAD8C-CF0E-E888-24FD-AD41D3E8321F}"/>
              </a:ext>
            </a:extLst>
          </p:cNvPr>
          <p:cNvSpPr/>
          <p:nvPr/>
        </p:nvSpPr>
        <p:spPr>
          <a:xfrm flipV="1">
            <a:off x="2651760" y="1865376"/>
            <a:ext cx="1005840" cy="192024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7BB1CA7-B428-AB18-2339-DEF192F520A0}"/>
              </a:ext>
            </a:extLst>
          </p:cNvPr>
          <p:cNvSpPr/>
          <p:nvPr/>
        </p:nvSpPr>
        <p:spPr>
          <a:xfrm>
            <a:off x="2651760" y="2057400"/>
            <a:ext cx="1005840" cy="73152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425FF12-7834-9F89-7C2B-AA59E09A1ECF}"/>
              </a:ext>
            </a:extLst>
          </p:cNvPr>
          <p:cNvSpPr/>
          <p:nvPr/>
        </p:nvSpPr>
        <p:spPr>
          <a:xfrm>
            <a:off x="2651760" y="2057400"/>
            <a:ext cx="1005840" cy="1536192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B72F3AA-C71E-F21E-11D2-9C41A3169D90}"/>
              </a:ext>
            </a:extLst>
          </p:cNvPr>
          <p:cNvSpPr/>
          <p:nvPr/>
        </p:nvSpPr>
        <p:spPr>
          <a:xfrm>
            <a:off x="2651760" y="2057399"/>
            <a:ext cx="1920240" cy="2391383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32AC434-9329-17E3-E5B0-7829C03AF845}"/>
              </a:ext>
            </a:extLst>
          </p:cNvPr>
          <p:cNvSpPr/>
          <p:nvPr/>
        </p:nvSpPr>
        <p:spPr>
          <a:xfrm flipV="1">
            <a:off x="7406640" y="2770632"/>
            <a:ext cx="548640" cy="82296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8C7142F-3F8C-0437-7C31-B4B268379D35}"/>
              </a:ext>
            </a:extLst>
          </p:cNvPr>
          <p:cNvSpPr/>
          <p:nvPr/>
        </p:nvSpPr>
        <p:spPr>
          <a:xfrm>
            <a:off x="7406640" y="2724912"/>
            <a:ext cx="548640" cy="0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B7B41659-0FFA-9E82-FE96-C1B810D50FE0}"/>
              </a:ext>
            </a:extLst>
          </p:cNvPr>
          <p:cNvSpPr/>
          <p:nvPr/>
        </p:nvSpPr>
        <p:spPr>
          <a:xfrm>
            <a:off x="7376160" y="1892808"/>
            <a:ext cx="640080" cy="576072"/>
          </a:xfrm>
          <a:prstGeom prst="line">
            <a:avLst/>
          </a:prstGeom>
          <a:noFill/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83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79687-7A82-0888-5812-F863361B8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101829"/>
            <a:ext cx="5315438" cy="461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1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BAA75-B0E1-CE21-07AA-4EFA8ABD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915320-00BA-03C0-090F-959048F0FB2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CBF4A4-76B5-C8E2-81B9-0950DAB64A1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 Diagram  |  Structural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CFD1CD-F7FC-BD57-5594-90D4B84B8EB7}"/>
              </a:ext>
            </a:extLst>
          </p:cNvPr>
          <p:cNvSpPr/>
          <p:nvPr/>
        </p:nvSpPr>
        <p:spPr>
          <a:xfrm>
            <a:off x="443132" y="7498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classes, attributes, methods, and relationships. Most widely used UML diagram.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5EE5ED-4BA4-2967-9D5A-B4F374755658}"/>
              </a:ext>
            </a:extLst>
          </p:cNvPr>
          <p:cNvSpPr/>
          <p:nvPr/>
        </p:nvSpPr>
        <p:spPr>
          <a:xfrm>
            <a:off x="256032" y="1221076"/>
            <a:ext cx="25603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41902AF-C9E7-66C1-59B6-99F25FD96627}"/>
              </a:ext>
            </a:extLst>
          </p:cNvPr>
          <p:cNvSpPr/>
          <p:nvPr/>
        </p:nvSpPr>
        <p:spPr>
          <a:xfrm>
            <a:off x="3657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0ECB52-3A3B-63B6-24C4-A53F63B9D3D6}"/>
              </a:ext>
            </a:extLst>
          </p:cNvPr>
          <p:cNvSpPr/>
          <p:nvPr/>
        </p:nvSpPr>
        <p:spPr>
          <a:xfrm>
            <a:off x="36576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Name:</a:t>
            </a:r>
            <a:endParaRPr lang="en-US" sz="1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603E77-D493-9CE5-DE57-99BFB397B4FD}"/>
              </a:ext>
            </a:extLst>
          </p:cNvPr>
          <p:cNvSpPr/>
          <p:nvPr/>
        </p:nvSpPr>
        <p:spPr>
          <a:xfrm>
            <a:off x="155448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compartment, bold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CC51FB-626C-E67D-D3C6-915F36756005}"/>
              </a:ext>
            </a:extLst>
          </p:cNvPr>
          <p:cNvSpPr/>
          <p:nvPr/>
        </p:nvSpPr>
        <p:spPr>
          <a:xfrm>
            <a:off x="36576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639F8A-29FF-82DC-114D-6B1157CD8A5B}"/>
              </a:ext>
            </a:extLst>
          </p:cNvPr>
          <p:cNvSpPr/>
          <p:nvPr/>
        </p:nvSpPr>
        <p:spPr>
          <a:xfrm>
            <a:off x="155448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name: type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10480C-C9EF-9F86-B43D-9265B29B00F2}"/>
              </a:ext>
            </a:extLst>
          </p:cNvPr>
          <p:cNvSpPr/>
          <p:nvPr/>
        </p:nvSpPr>
        <p:spPr>
          <a:xfrm>
            <a:off x="365760" y="2386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CFB7284-B842-6802-2303-2B433C9A30F5}"/>
              </a:ext>
            </a:extLst>
          </p:cNvPr>
          <p:cNvSpPr/>
          <p:nvPr/>
        </p:nvSpPr>
        <p:spPr>
          <a:xfrm>
            <a:off x="1554480" y="2386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name(): type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3B2C9D5-683D-EE31-F183-3AAC1A87F49A}"/>
              </a:ext>
            </a:extLst>
          </p:cNvPr>
          <p:cNvSpPr/>
          <p:nvPr/>
        </p:nvSpPr>
        <p:spPr>
          <a:xfrm>
            <a:off x="365760" y="27797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Public: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57AEAE-58EB-5C32-F07F-8110E79FD205}"/>
              </a:ext>
            </a:extLst>
          </p:cNvPr>
          <p:cNvSpPr/>
          <p:nvPr/>
        </p:nvSpPr>
        <p:spPr>
          <a:xfrm>
            <a:off x="1554480" y="27797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everywhere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DC3C13C-609B-0A09-F7B8-EFBAC9C39664}"/>
              </a:ext>
            </a:extLst>
          </p:cNvPr>
          <p:cNvSpPr/>
          <p:nvPr/>
        </p:nvSpPr>
        <p:spPr>
          <a:xfrm>
            <a:off x="365760" y="3172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Private: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0534411-BB44-34E3-16E7-A8CE0634E38A}"/>
              </a:ext>
            </a:extLst>
          </p:cNvPr>
          <p:cNvSpPr/>
          <p:nvPr/>
        </p:nvSpPr>
        <p:spPr>
          <a:xfrm>
            <a:off x="1554480" y="3172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within class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E621B51-5244-7BFF-F2CF-B75093AAE711}"/>
              </a:ext>
            </a:extLst>
          </p:cNvPr>
          <p:cNvSpPr/>
          <p:nvPr/>
        </p:nvSpPr>
        <p:spPr>
          <a:xfrm>
            <a:off x="36576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Protected: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AB618F3-B191-1921-834D-F9509A37D5E1}"/>
              </a:ext>
            </a:extLst>
          </p:cNvPr>
          <p:cNvSpPr/>
          <p:nvPr/>
        </p:nvSpPr>
        <p:spPr>
          <a:xfrm>
            <a:off x="155448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subclasses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FFBA74E-24AD-992C-7977-3EF43F5F8255}"/>
              </a:ext>
            </a:extLst>
          </p:cNvPr>
          <p:cNvSpPr/>
          <p:nvPr/>
        </p:nvSpPr>
        <p:spPr>
          <a:xfrm>
            <a:off x="365760" y="39593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D9A2133-CC8B-54CF-AFF4-248D614BD51C}"/>
              </a:ext>
            </a:extLst>
          </p:cNvPr>
          <p:cNvSpPr/>
          <p:nvPr/>
        </p:nvSpPr>
        <p:spPr>
          <a:xfrm>
            <a:off x="1554480" y="39593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simple line</a:t>
            </a:r>
            <a:endParaRPr lang="en-US" sz="1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BFA2A6A-FA70-63BF-09C6-AD8AEEBFA348}"/>
              </a:ext>
            </a:extLst>
          </p:cNvPr>
          <p:cNvSpPr/>
          <p:nvPr/>
        </p:nvSpPr>
        <p:spPr>
          <a:xfrm>
            <a:off x="365760" y="43525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B8D9966-A560-80DD-6A6C-B8B2D40CCBD4}"/>
              </a:ext>
            </a:extLst>
          </p:cNvPr>
          <p:cNvSpPr/>
          <p:nvPr/>
        </p:nvSpPr>
        <p:spPr>
          <a:xfrm>
            <a:off x="1554480" y="43525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—▷ hollow arrow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5BEA40B-21BB-32B6-1647-9AF8AE6FFA3C}"/>
              </a:ext>
            </a:extLst>
          </p:cNvPr>
          <p:cNvSpPr/>
          <p:nvPr/>
        </p:nvSpPr>
        <p:spPr>
          <a:xfrm>
            <a:off x="365760" y="46040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B516307-82F5-F374-CE65-EA62ABB1E191}"/>
              </a:ext>
            </a:extLst>
          </p:cNvPr>
          <p:cNvSpPr/>
          <p:nvPr/>
        </p:nvSpPr>
        <p:spPr>
          <a:xfrm>
            <a:off x="1554480" y="458343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—◇ hollow diamond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C7CDA19-49F1-1B34-D69A-9D8F6FC78B06}"/>
              </a:ext>
            </a:extLst>
          </p:cNvPr>
          <p:cNvSpPr/>
          <p:nvPr/>
        </p:nvSpPr>
        <p:spPr>
          <a:xfrm>
            <a:off x="365760" y="48234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D410EAA-D147-8510-1A50-09530ED5D7DB}"/>
              </a:ext>
            </a:extLst>
          </p:cNvPr>
          <p:cNvSpPr/>
          <p:nvPr/>
        </p:nvSpPr>
        <p:spPr>
          <a:xfrm>
            <a:off x="1440180" y="4845265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—◆ filled diamond</a:t>
            </a:r>
            <a:endParaRPr lang="en-US" sz="10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F8D89AF6-4804-C7FF-5E94-89C6EEA89185}"/>
              </a:ext>
            </a:extLst>
          </p:cNvPr>
          <p:cNvSpPr/>
          <p:nvPr/>
        </p:nvSpPr>
        <p:spPr>
          <a:xfrm>
            <a:off x="3090672" y="51663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isAvailable(): bool</a:t>
            </a:r>
            <a:endParaRPr lang="en-US" sz="95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8FABF97-3647-55AB-154D-682C378D7BAE}"/>
              </a:ext>
            </a:extLst>
          </p:cNvPr>
          <p:cNvSpPr/>
          <p:nvPr/>
        </p:nvSpPr>
        <p:spPr>
          <a:xfrm>
            <a:off x="5559552" y="51663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acceptOrder(): void</a:t>
            </a:r>
            <a:endParaRPr lang="en-US" sz="950" dirty="0"/>
          </a:p>
        </p:txBody>
      </p:sp>
      <p:pic>
        <p:nvPicPr>
          <p:cNvPr id="71" name="Picture 70" descr="OOAD - UML Structured Diagrams">
            <a:extLst>
              <a:ext uri="{FF2B5EF4-FFF2-40B4-BE49-F238E27FC236}">
                <a16:creationId xmlns:a16="http://schemas.microsoft.com/office/drawing/2014/main" id="{B994DA86-36EC-B5A4-F764-469DCBDF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994487"/>
            <a:ext cx="3017520" cy="41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0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Class Diagram  |  Structural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classes, attributes, methods, and relationships. Most widely used UML diagram.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21076"/>
            <a:ext cx="25603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Name: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compartment, bold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9933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name: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86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3865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name(): 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7797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Public: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77977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everywhere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172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Private: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3172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within class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Protected: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subclasses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9593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9593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simple 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3525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435254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—▷ hollow arrow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040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458343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—◇ hollow diamond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234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40180" y="4845265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—◆ filled diamond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30652" y="1028700"/>
            <a:ext cx="2103120" cy="219913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017520" y="1138428"/>
            <a:ext cx="21031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017520" y="1188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90672" y="155448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customerId: int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90672" y="181051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90672" y="20665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email: String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090672" y="232257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phone: String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017520" y="2670048"/>
            <a:ext cx="2103120" cy="0"/>
          </a:xfrm>
          <a:prstGeom prst="line">
            <a:avLst/>
          </a:prstGeom>
          <a:noFill/>
          <a:ln w="63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090672" y="271576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register(): void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90672" y="297180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login(): bool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090672" y="322783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placeOrder(): Order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1188720"/>
            <a:ext cx="2103120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486400" y="1188720"/>
            <a:ext cx="2103120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0" y="1188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59552" y="155448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orderId: int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59552" y="181051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status: String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59552" y="206654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totalAmount: double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59552" y="232257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createdAt: Date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0" y="2670048"/>
            <a:ext cx="2103120" cy="0"/>
          </a:xfrm>
          <a:prstGeom prst="line">
            <a:avLst/>
          </a:prstGeom>
          <a:noFill/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559552" y="271576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calculateTotal(): double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59552" y="297180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updateStatus(): void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971800" y="3538728"/>
            <a:ext cx="2103120" cy="1975104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971800" y="3520440"/>
            <a:ext cx="2103120" cy="3200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971800" y="346363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MenuItem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090672" y="37490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itemId: int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090672" y="400507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090672" y="42611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price: double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90672" y="451713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category: String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017520" y="4864608"/>
            <a:ext cx="2103120" cy="0"/>
          </a:xfrm>
          <a:prstGeom prst="line">
            <a:avLst/>
          </a:prstGeom>
          <a:noFill/>
          <a:ln w="635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090672" y="491032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getPrice(): double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090672" y="51663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isAvailable(): bool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486400" y="3383280"/>
            <a:ext cx="2103120" cy="2130552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486400" y="3383280"/>
            <a:ext cx="2103120" cy="3200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486400" y="3383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559552" y="37490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restaurantId: int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59552" y="4005072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559552" y="4261104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rating: float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559552" y="4517136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address: String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0" y="4864608"/>
            <a:ext cx="2103120" cy="0"/>
          </a:xfrm>
          <a:prstGeom prst="line">
            <a:avLst/>
          </a:prstGeom>
          <a:noFill/>
          <a:ln w="635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559552" y="491032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getMenu(): List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59552" y="51663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acceptOrder(): void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120640" y="1645920"/>
            <a:ext cx="36576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537960" y="2423160"/>
            <a:ext cx="0" cy="960120"/>
          </a:xfrm>
          <a:prstGeom prst="line">
            <a:avLst/>
          </a:prstGeom>
          <a:noFill/>
          <a:ln w="19050">
            <a:solidFill>
              <a:srgbClr val="1A237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069080" y="2651760"/>
            <a:ext cx="0" cy="731520"/>
          </a:xfrm>
          <a:prstGeom prst="line">
            <a:avLst/>
          </a:prstGeom>
          <a:noFill/>
          <a:ln w="1905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805</Words>
  <Application>Microsoft Office PowerPoint</Application>
  <PresentationFormat>On-screen Show (16:9)</PresentationFormat>
  <Paragraphs>205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Diagrams in Software Engineering</dc:title>
  <dc:subject>PptxGenJS Presentation</dc:subject>
  <dc:creator>PptxGenJS</dc:creator>
  <cp:lastModifiedBy>Tirthankar Ghosh</cp:lastModifiedBy>
  <cp:revision>6</cp:revision>
  <dcterms:created xsi:type="dcterms:W3CDTF">2026-05-08T10:12:24Z</dcterms:created>
  <dcterms:modified xsi:type="dcterms:W3CDTF">2026-05-17T06:56:36Z</dcterms:modified>
</cp:coreProperties>
</file>